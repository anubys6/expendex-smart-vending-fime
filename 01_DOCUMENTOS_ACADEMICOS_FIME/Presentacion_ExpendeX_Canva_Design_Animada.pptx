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1707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1 - PORTADA):</a:t>
            </a:r>
          </a:p>
          <a:p>
            <a:r>
              <a:t>- Buenos días miembros del sínodo de FIME UANL. Presentamos el Proyecto Integrador de Aprendizaje (PIA): 'ExpendeX: Micro-Restaurante Automatizado Híbrido'.</a:t>
            </a:r>
          </a:p>
          <a:p>
            <a:r>
              <a:t>- El equipo está integrado por Samuel Tovar Mújica como Jefe de Proyecto y responsable del modelado mecánico CAD, firmware ESP32, memorias analíticas y documentación; Emiliano Sánchez Martínez como responsable del desarrollo de la plataforma web dual (quiosco táctil 10.1" y panel admin FIFO); y Francisco Reyes Santiago como responsable del diseño y simulación de la electrónica de potencia y PCB en EasyEDA.</a:t>
            </a:r>
          </a:p>
          <a:p>
            <a:r>
              <a:t>- El modelo mostrado en pantalla es el gemelo digital exacto desarrollado en Autodesk Fusion 360, con acabado gris industrial, chapa metálica calibre 18 y el copete superior ergonómico inclinado que aloja la pantalla táctil de 10.1 pulgadas.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2 - CONTEXTO Y PROBLEMA):</a:t>
            </a:r>
          </a:p>
          <a:p>
            <a:r>
              <a:t>- Planteamos la problemática real vivida en Ciudad Universitaria: un estudiante en FIME tiene recesos cortos de 15 a 20 minutos entre bloques de clase.</a:t>
            </a:r>
          </a:p>
          <a:p>
            <a:r>
              <a:t>- Las cafeterías tienen filas de 35 a 50 minutos; si compran por plataformas de delivery pagan más de $160 pesos por el envío y la comida llega fría.</a:t>
            </a:r>
          </a:p>
          <a:p>
            <a:r>
              <a:t>- Las máquinas vending convencionales solo ofrecen papas y refrescos ultraprocesados.</a:t>
            </a:r>
          </a:p>
          <a:p>
            <a:r>
              <a:t>- El gráfico central demuestra que ExpendeX rompe este compromiso: reduce el tiempo de espera a solo 10 segundos con un costo accesible de $85 pesos por un combo completo caliente y nutritivo.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3 - RETO CAD Y CHASIS):</a:t>
            </a:r>
          </a:p>
          <a:p>
            <a:r>
              <a:t>- Diseñar una máquina expendedora no es comprar un gabinete genérico; requirió modelar 127 sólidos en Autodesk Fusion 360.</a:t>
            </a:r>
          </a:p>
          <a:p>
            <a:r>
              <a:t>- La gran innovación ergonómica fue el copete superior inclinado a 15 grados: ubica la pantalla táctil de 10.1 pulgadas a 1.45 metros de altura (ergonomía universal para usuarios de 1.50 m a 1.95 m) y separa térmicamente la electrónica de cómputo del compartimento refrigerado.</a:t>
            </a:r>
          </a:p>
          <a:p>
            <a:r>
              <a:t>- El chasis usa chapa de acero al carbón Calibre 18 con refuerzos Calibre 16 en la base, resistente a vandalismo y con sellado magnético perimetral.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4 - RIGIDEZ DE BANDEJAS):</a:t>
            </a:r>
          </a:p>
          <a:p>
            <a:r>
              <a:t>- Las bandejas de vending convencionales están hechas para bolsas ligeras de 45 gramos. Si se colocan recipientes de guisado de 850 gramos, la bandeja se deforma en el centro más de 4 mm, trabando los engranes plásticos.</a:t>
            </a:r>
          </a:p>
          <a:p>
            <a:r>
              <a:t>- Aplicamos la teoría elástica de vigas de Euler-Bernoulli resolviendo el momento flector M_max = 35.16 N·m.</a:t>
            </a:r>
          </a:p>
          <a:p>
            <a:r>
              <a:t>- La solución ingenieril fue la configuración asimétrica 1+4+1: colocar los recipientes pesados en los canales 1 y 6 directamente sobre los apoyos rígidos de las guías telescópicas, y las latas en los canales centrales.</a:t>
            </a:r>
          </a:p>
          <a:p>
            <a:r>
              <a:t>- Esto redujo la flecha a 1.34 mm, perfectamente por debajo del límite de servicio de 1.50 mm.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5 - CINEMÁTICA Y PAR TORSOR):</a:t>
            </a:r>
          </a:p>
          <a:p>
            <a:r>
              <a:t>- Demostramos que las charolas de comida corrida cuadrada no pueden empujarse con espirales comerciales comunes.</a:t>
            </a:r>
          </a:p>
          <a:p>
            <a:r>
              <a:t>- Desarrollamos el resorte helicoidal sobredimensionado de 144 mm de diámetro exterior con paso de 80 mm.</a:t>
            </a:r>
          </a:p>
          <a:p>
            <a:r>
              <a:t>- Al calcular el par de empuje axial requerimos 0.385 N·m. Seleccionamos motorreductores planetarios de 24V DC con 1.80 N·m de torque de bloqueo, lo que arroja un factor de seguridad de 4.67x.</a:t>
            </a:r>
          </a:p>
          <a:p>
            <a:r>
              <a:t>- Esto asegura que jamás se atascará una vianda, incluso si el empaque tiene condensación o ligeras deformaciones.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6 - BALANCE TÉRMICO NOM-251):</a:t>
            </a:r>
          </a:p>
          <a:p>
            <a:r>
              <a:t>- En Monterrey las temperaturas en verano superan los 40 grados centígrados a la sombra.</a:t>
            </a:r>
          </a:p>
          <a:p>
            <a:r>
              <a:t>- Para garantizar la inocuidad alimentaria según la NOM-251-SSA1, la cámara debe mantenerse estrictamente entre 4°C y 6°C.</a:t>
            </a:r>
          </a:p>
          <a:p>
            <a:r>
              <a:t>- Calculamos las ganancias de calor por conducción en paredes de ciclopentano de 50 mm (212.4 W), radiación por cristal doble Low-E (98.2 W) e infiltraciones por retiro (72.3 W), totalizando 382.88 Watts.</a:t>
            </a:r>
          </a:p>
          <a:p>
            <a:r>
              <a:t>- Seleccionamos la unidad frigorífica Embraco de 1/5 HP con refrigerante ecológico R134a, con capacidad de 485 Watts, logrando abatir la temperatura en 54 minutos con FS de 1.27x.</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7 - ELECTRÓNICA DE POTENCIA - FRANCISCO REYES):</a:t>
            </a:r>
          </a:p>
          <a:p>
            <a:r>
              <a:t>- Cedemos la palabra a Francisco Reyes Santiago, responsable del subsistema de potencia.</a:t>
            </a:r>
          </a:p>
          <a:p>
            <a:r>
              <a:t>- Si cableáramos cada motor por separado necesitaríamos 72 cables gruesos atravesando las charolas móviles, con alto riesgo de fractura por fatiga.</a:t>
            </a:r>
          </a:p>
          <a:p>
            <a:r>
              <a:t>- Diseñé en EasyEDA una matriz de conmutación 6x6 con 6 líneas High-Side y 6 líneas Low-Side, reduciendo el arnés a solo 12 conductores.</a:t>
            </a:r>
          </a:p>
          <a:p>
            <a:r>
              <a:t>- Al cortar la corriente de un motorreductor inductivo se generaban picos de fuerza contraelectromotriz (Back-EMF) de hasta 48V que reseteaban la lógica.</a:t>
            </a:r>
          </a:p>
          <a:p>
            <a:r>
              <a:t>- La solución implementada integra optoacopladores PC817C para aislar galvánicamente el microcontrolador y diodos Flyback 1N4007 que recortan el transitorio a 24.51 V, cumpliendo con la norma industrial IPC-2221B.</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8 - CONTROL Y FIRMWARE - SAMUEL TOVAR):</a:t>
            </a:r>
          </a:p>
          <a:p>
            <a:r>
              <a:t>- En el subsistema de control embebido empleamos un ESP32 programado en C++ sobre FreeRTOS.</a:t>
            </a:r>
          </a:p>
          <a:p>
            <a:r>
              <a:t>- Al contar con doble núcleo, asignamos el Core 0 al manejo de la comunicación serial con el quiosco web y la máquina de estados transaccional.</a:t>
            </a:r>
          </a:p>
          <a:p>
            <a:r>
              <a:t>- El Core 1 opera de forma determinista atendiendo interrupciones por hardware: la cortina óptica infrarroja detecta la caída en apenas 1.22 milisegundos, cortando la excitación del motor de inmediato.</a:t>
            </a:r>
          </a:p>
          <a:p>
            <a:r>
              <a:t>- Se implementó un algoritmo anti-atasco que ejecuta un reintento de 90 grados y avisa al panel administrativo si existe obstrucción.</a:t>
            </a:r>
          </a:p>
          <a:p>
            <a:r>
              <a:t>- Toda la lógica matricial fue validada en Wokwi y PlatformIO simulando los 36 canales con LEDs de alta velocidad.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9 - PLATAFORMA WEB - EMILIANO SÁNCHEZ):</a:t>
            </a:r>
          </a:p>
          <a:p>
            <a:r>
              <a:t>- Cedemos la palabra a Emiliano Sánchez Martínez, desarrollador de las plataformas web duales.</a:t>
            </a:r>
          </a:p>
          <a:p>
            <a:r>
              <a:t>- Desarrollé dos interfaces web responsivas optimizadas para operar en la Raspberry Pi 4 con pantalla de 10.1 pulgadas.</a:t>
            </a:r>
          </a:p>
          <a:p>
            <a:r>
              <a:t>- El Quiosco del Cliente corre sobre React y Tailwind: muestra fotos reales, desglose de nutrientes bajo NOM-051 y genera códigos QR dinámicos para Mercado Pago.</a:t>
            </a:r>
          </a:p>
          <a:p>
            <a:r>
              <a:t>- El Panel Administrativo permite al dueño consultar en vivo el stock de las 36 tolvas y las temperaturas del refrigerador.</a:t>
            </a:r>
          </a:p>
          <a:p>
            <a:r>
              <a:t>- La característica más importante de inocuidad es el protocolo de 14 horas: mediante el RTC DS3231 el sistema calcula el tiempo de vida útil de la comida; pasadas 14 horas desde su carga a las 6 am, la máquina bloquea automáticamente la venta del platillo para garantizar cero riesgos biológicos.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10 - COMPUERTA ANTIRROBO):</a:t>
            </a:r>
          </a:p>
          <a:p>
            <a:r>
              <a:t>- En áreas comunes de campus universitarios, la seguridad física es crítica.</a:t>
            </a:r>
          </a:p>
          <a:p>
            <a:r>
              <a:t>- Diseñamos un mecanismo de compuerta basculante tipo trampa en chapa calibre 18: cuando el estudiante empuja la tapa exterior para recoger su comida, una aleta deflectora interna gira solidariamente, bloqueando por completo la apertura hacia las bandejas superiores.</a:t>
            </a:r>
          </a:p>
          <a:p>
            <a:r>
              <a:t>- Es imposible meter la mano para alcanzar productos de niveles superiores.</a:t>
            </a:r>
          </a:p>
          <a:p>
            <a:r>
              <a:t>- Además, la rampa de recepción está inclinada a 30 grados y forrada con elastómero amortiguador grado alimenticio, lo cual desacelera el contenedor de 850 gramos sin romper empaques ni derramar caldos.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11 - CICLO INTEGRADO DE OPERACIÓN):</a:t>
            </a:r>
          </a:p>
          <a:p>
            <a:r>
              <a:t>- Mostramos la cronología exacta del ciclo de despacho paso a paso:</a:t>
            </a:r>
          </a:p>
          <a:p>
            <a:r>
              <a:t>- A segundo 0, el estudiante selecciona su combo en la pantalla táctil de 10.1 pulgadas.</a:t>
            </a:r>
          </a:p>
          <a:p>
            <a:r>
              <a:t>- A los 2 segundos, escanea el QR con su aplicación bancaria o Mercado Pago; la confirmación toma 1.5 segundos.</a:t>
            </a:r>
          </a:p>
          <a:p>
            <a:r>
              <a:t>- A los 3.5 segundos, la Raspberry Pi envía la orden serie al ESP32, que activa la columna y fila correspondiente de la matriz de potencia de Francisco.</a:t>
            </a:r>
          </a:p>
          <a:p>
            <a:r>
              <a:t>- A los 5 segundos gira la espiral de comida de 144 mm y cae el guiso; a los 8.5 segundos gira la espiral de bebidas.</a:t>
            </a:r>
          </a:p>
          <a:p>
            <a:r>
              <a:t>- A los 9.8 segundos la cortina IR confirma la entrega y el estudiante recoge sus alimentos calientes y su refresco frío.</a:t>
            </a:r>
          </a:p>
          <a:p>
            <a:r>
              <a:t>- Todo ocurre entre 8 y 12 segundos, resolviendo el cuello de botella del campus.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12 - COSTOS Y BOM INDUSTRIAL):</a:t>
            </a:r>
          </a:p>
          <a:p>
            <a:r>
              <a:t>- No presentamos costos ficticios ni cifras infladas; este desglose corresponde a la lista de materiales (BOM) cotizada con proveedores industriales reales en Monterrey.</a:t>
            </a:r>
          </a:p>
          <a:p>
            <a:r>
              <a:t>- La estructura de chapa y perfiles representa el 30.7%, la refrigeración Embraco el 21.1%, los mecanismos de tracción el 19.3%, la electrónica de control y HMI el 24.3%, y la tornillería el 4.7%.</a:t>
            </a:r>
          </a:p>
          <a:p>
            <a:r>
              <a:t>- El total de $46,463.12 pesos demuestra que es 3.9 veces más económica que las máquinas importadas de Europa o China, garantizando disponibilidad total de refacciones en el mercado local.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13 - UNIT ECONOMICS Y RENTABILIDAD):</a:t>
            </a:r>
          </a:p>
          <a:p>
            <a:r>
              <a:t>- Analizamos la viabilidad del negocio: el estudiante paga $85 pesos por su comida y bebida.</a:t>
            </a:r>
          </a:p>
          <a:p>
            <a:r>
              <a:t>- La lonchería aliada recibe $45 pesos por cada charola, un margen atractivo para el negocio familiar que solo cocina y no tiene que atender mostrador.</a:t>
            </a:r>
          </a:p>
          <a:p>
            <a:r>
              <a:t>- La bebida cuesta $14 pesos a mayoreo y la pasarela bancaria cobra $2.55.</a:t>
            </a:r>
          </a:p>
          <a:p>
            <a:r>
              <a:t>- ExpendeX retiene un margen bruto de $23.45 pesos por combo (27.6%). Con una venta moderada de 85 combos diarios entre desayuno y comida, la máquina genera $52,500 pesos mensuales libres, amortizando la inversión en apenas 4.2 meses.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14 - VALIDACIÓN EXPERIMENTAL APARTADO 19.0):</a:t>
            </a:r>
          </a:p>
          <a:p>
            <a:r>
              <a:t>- Esta es la tabla que fundamenta la validez ingenieril del proyecto ante la academia: no nos quedamos en la teoría.</a:t>
            </a:r>
          </a:p>
          <a:p>
            <a:r>
              <a:t>- Contrastamos el modelo matemático, la simulación de software y la medición física real.</a:t>
            </a:r>
          </a:p>
          <a:p>
            <a:r>
              <a:t>- En par torsor tuvimos un error de 1.83%; en deflexión de bandejas 2.98%; en transitorio de apagado inductivo 0.70%; en latencia de la cortina IR 4.17%; y en tiempo de despacho 4.00%.</a:t>
            </a:r>
          </a:p>
          <a:p>
            <a:r>
              <a:t>- El error máximo absoluto entre lo calculado y lo medido nunca superó el 4.2%, demostrando una convergencia metrológica superior al 95% en todos los subsistemas.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NOTAS DEL ORADOR (SLIDE 15 - CONCLUSIONES Y DEMO EN VIVO):</a:t>
            </a:r>
          </a:p>
          <a:p>
            <a:r>
              <a:t>- Como conclusiones: ExpendeX cumple al 100% con los criterios de titulación de FIME UANL, uniendo diseño mecánico, electrónica de potencia, sistemas embebidos en tiempo real y desarrollo web.</a:t>
            </a:r>
          </a:p>
          <a:p>
            <a:r>
              <a:t>- El proyecto completo, incluyendo planos, código fuente, esquemáticos y documentos, está publicado en el repositorio de GitHub.</a:t>
            </a:r>
          </a:p>
          <a:p>
            <a:r>
              <a:t>- Pasamos a las demostraciones en vivo:</a:t>
            </a:r>
          </a:p>
          <a:p>
            <a:r>
              <a:t>  * Emiliano mostrará el quiosco táctil de 10.1 pulgadas y el panel administrativo.</a:t>
            </a:r>
          </a:p>
          <a:p>
            <a:r>
              <a:t>  * Francisco demostrará la simulación de la matriz de potencia MOSFET en EasyEDA.</a:t>
            </a:r>
          </a:p>
          <a:p>
            <a:r>
              <a:t>  * Samuel presentará la simulación de firmware en Wokwi y el gemelo digital en Fusion 360.</a:t>
            </a:r>
          </a:p>
          <a:p>
            <a:r>
              <a:t>- Quedamos a la orden del jurado para la sesión de preguntas y respuestas.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anl_logo_final.png"/>
          <p:cNvPicPr>
            <a:picLocks noChangeAspect="1"/>
          </p:cNvPicPr>
          <p:nvPr/>
        </p:nvPicPr>
        <p:blipFill>
          <a:blip r:embed="rId3"/>
          <a:stretch>
            <a:fillRect/>
          </a:stretch>
        </p:blipFill>
        <p:spPr>
          <a:xfrm>
            <a:off x="457200" y="91440"/>
            <a:ext cx="1005840" cy="640080"/>
          </a:xfrm>
          <a:prstGeom prst="rect">
            <a:avLst/>
          </a:prstGeom>
        </p:spPr>
      </p:pic>
      <p:pic>
        <p:nvPicPr>
          <p:cNvPr id="4" name="Picture 3" descr="fime_logo_final.png"/>
          <p:cNvPicPr>
            <a:picLocks noChangeAspect="1"/>
          </p:cNvPicPr>
          <p:nvPr/>
        </p:nvPicPr>
        <p:blipFill>
          <a:blip r:embed="rId4"/>
          <a:stretch>
            <a:fillRect/>
          </a:stretch>
        </p:blipFill>
        <p:spPr>
          <a:xfrm>
            <a:off x="1645920" y="91440"/>
            <a:ext cx="1005840" cy="640080"/>
          </a:xfrm>
          <a:prstGeom prst="rect">
            <a:avLst/>
          </a:prstGeom>
        </p:spPr>
      </p:pic>
      <p:sp>
        <p:nvSpPr>
          <p:cNvPr id="5" name="TextBox 4"/>
          <p:cNvSpPr txBox="1"/>
          <p:nvPr/>
        </p:nvSpPr>
        <p:spPr>
          <a:xfrm>
            <a:off x="2926080" y="109728"/>
            <a:ext cx="8686800" cy="640080"/>
          </a:xfrm>
          <a:prstGeom prst="rect">
            <a:avLst/>
          </a:prstGeom>
          <a:noFill/>
        </p:spPr>
        <p:txBody>
          <a:bodyPr wrap="none">
            <a:spAutoFit/>
          </a:bodyPr>
          <a:lstStyle/>
          <a:p>
            <a:r>
              <a:rPr sz="1100" b="1">
                <a:solidFill>
                  <a:srgbClr val="FFFFFF"/>
                </a:solidFill>
                <a:latin typeface="Calibri"/>
              </a:rPr>
              <a:t>UNIVERSIDAD AUTÓNOMA DE NUEVO LEÓN | FACULTAD DE INGENIERÍA MECÁNICA Y ELÉCTRICA</a:t>
            </a:r>
          </a:p>
          <a:p>
            <a:r>
              <a:rPr sz="950">
                <a:solidFill>
                  <a:srgbClr val="06B6D4"/>
                </a:solidFill>
                <a:latin typeface="Calibri"/>
              </a:rPr>
              <a:t>Unidad de Aprendizaje: Proyecto de Ingeniería Aplicada (IEA) | Examen Ordinario Oficial</a:t>
            </a:r>
          </a:p>
        </p:txBody>
      </p:sp>
      <p:sp>
        <p:nvSpPr>
          <p:cNvPr id="6" name="Rounded Rectangle 5"/>
          <p:cNvSpPr/>
          <p:nvPr/>
        </p:nvSpPr>
        <p:spPr>
          <a:xfrm>
            <a:off x="548640" y="1097280"/>
            <a:ext cx="6675120" cy="5166360"/>
          </a:xfrm>
          <a:prstGeom prst="roundRect">
            <a:avLst>
              <a:gd name="adj" fmla="val 40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280160"/>
            <a:ext cx="3931920" cy="32004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80" b="1">
                <a:solidFill>
                  <a:srgbClr val="10B981"/>
                </a:solidFill>
                <a:latin typeface="Calibri"/>
              </a:rPr>
              <a:t>MEMORIA DE DESARROLLO E INGENIERÍA MECATRÓNICA</a:t>
            </a:r>
          </a:p>
        </p:txBody>
      </p:sp>
      <p:sp>
        <p:nvSpPr>
          <p:cNvPr id="8" name="TextBox 7"/>
          <p:cNvSpPr txBox="1"/>
          <p:nvPr/>
        </p:nvSpPr>
        <p:spPr>
          <a:xfrm>
            <a:off x="822960" y="1691640"/>
            <a:ext cx="6217920" cy="1097280"/>
          </a:xfrm>
          <a:prstGeom prst="rect">
            <a:avLst/>
          </a:prstGeom>
          <a:noFill/>
        </p:spPr>
        <p:txBody>
          <a:bodyPr wrap="none">
            <a:spAutoFit/>
          </a:bodyPr>
          <a:lstStyle/>
          <a:p>
            <a:r>
              <a:rPr sz="4000" b="1">
                <a:solidFill>
                  <a:srgbClr val="FFFFFF"/>
                </a:solidFill>
                <a:latin typeface="Calibri"/>
              </a:rPr>
              <a:t>EXPENDEX</a:t>
            </a:r>
          </a:p>
          <a:p>
            <a:r>
              <a:rPr sz="1250" b="1">
                <a:solidFill>
                  <a:srgbClr val="06B6D4"/>
                </a:solidFill>
                <a:latin typeface="Calibri"/>
              </a:rPr>
              <a:t>Micro-Restaurante Automatizado Híbrido: Retos de Diseño, Simulación y Validación</a:t>
            </a:r>
          </a:p>
        </p:txBody>
      </p:sp>
      <p:sp>
        <p:nvSpPr>
          <p:cNvPr id="9" name="TextBox 8"/>
          <p:cNvSpPr txBox="1"/>
          <p:nvPr/>
        </p:nvSpPr>
        <p:spPr>
          <a:xfrm>
            <a:off x="822960" y="2880360"/>
            <a:ext cx="6126480" cy="868680"/>
          </a:xfrm>
          <a:prstGeom prst="rect">
            <a:avLst/>
          </a:prstGeom>
          <a:noFill/>
        </p:spPr>
        <p:txBody>
          <a:bodyPr wrap="square">
            <a:spAutoFit/>
          </a:bodyPr>
          <a:lstStyle/>
          <a:p>
            <a:r>
              <a:rPr sz="980">
                <a:solidFill>
                  <a:srgbClr val="F1F5F9"/>
                </a:solidFill>
                <a:latin typeface="Calibri"/>
              </a:rPr>
              <a:t>Presentación técnica fundamentada en memorias físico-matemáticas, esquemáticos en EasyEDA, gemelo digital en Fusion 360 y firmware sobre ESP32 en Wokwi. Demostración de viabilidad técnica y manufactura nacional.</a:t>
            </a:r>
          </a:p>
        </p:txBody>
      </p:sp>
      <p:sp>
        <p:nvSpPr>
          <p:cNvPr id="10" name="TextBox 9"/>
          <p:cNvSpPr txBox="1"/>
          <p:nvPr/>
        </p:nvSpPr>
        <p:spPr>
          <a:xfrm>
            <a:off x="822960" y="3886200"/>
            <a:ext cx="6126480" cy="2240280"/>
          </a:xfrm>
          <a:prstGeom prst="rect">
            <a:avLst/>
          </a:prstGeom>
          <a:noFill/>
        </p:spPr>
        <p:txBody>
          <a:bodyPr wrap="square">
            <a:spAutoFit/>
          </a:bodyPr>
          <a:lstStyle/>
          <a:p>
            <a:r>
              <a:rPr sz="950" b="1">
                <a:solidFill>
                  <a:srgbClr val="F59E0B"/>
                </a:solidFill>
                <a:latin typeface="Calibri"/>
              </a:rPr>
              <a:t>EQUIPO DE DESARROLLO MECATRÓNICO Y RESPONSABILIDADES:
</a:t>
            </a:r>
          </a:p>
          <a:p>
            <a:pPr>
              <a:spcBef>
                <a:spcPts val="200"/>
              </a:spcBef>
              <a:spcAft>
                <a:spcPts val="200"/>
              </a:spcAft>
            </a:pPr>
            <a:r>
              <a:rPr sz="880" b="1">
                <a:solidFill>
                  <a:srgbClr val="06B6D4"/>
                </a:solidFill>
                <a:latin typeface="Calibri"/>
              </a:rPr>
              <a:t>👑 Samuel Tovar Mújica (Mat. 2077933): </a:t>
            </a:r>
            <a:r>
              <a:rPr sz="850">
                <a:solidFill>
                  <a:srgbClr val="F1F5F9"/>
                </a:solidFill>
                <a:latin typeface="Calibri"/>
              </a:rPr>
              <a:t>Jefe del Proyecto. Arquitectura Mecatrónica, CAD 3D Fusion 360 (127 piezas), Renders Oficiales, Firmware ESP32 (Wokwi), Memorias de Cálculo y Documentación.</a:t>
            </a:r>
          </a:p>
          <a:p>
            <a:pPr>
              <a:spcBef>
                <a:spcPts val="200"/>
              </a:spcBef>
              <a:spcAft>
                <a:spcPts val="200"/>
              </a:spcAft>
            </a:pPr>
            <a:r>
              <a:rPr sz="880" b="1">
                <a:solidFill>
                  <a:srgbClr val="06B6D4"/>
                </a:solidFill>
                <a:latin typeface="Calibri"/>
              </a:rPr>
              <a:t>💻 Emiliano Sánchez Martínez (Mat. 2012856): </a:t>
            </a:r>
            <a:r>
              <a:rPr sz="850">
                <a:solidFill>
                  <a:srgbClr val="F1F5F9"/>
                </a:solidFill>
                <a:latin typeface="Calibri"/>
              </a:rPr>
              <a:t>Plataformas Web Duales. Frontend React Quiosco Táctil 10.1" con cobro QR Mercado Pago y Backend Node.js /admin con rotación FIFO.</a:t>
            </a:r>
          </a:p>
          <a:p>
            <a:pPr>
              <a:spcBef>
                <a:spcPts val="200"/>
              </a:spcBef>
              <a:spcAft>
                <a:spcPts val="200"/>
              </a:spcAft>
            </a:pPr>
            <a:r>
              <a:rPr sz="880" b="1">
                <a:solidFill>
                  <a:srgbClr val="06B6D4"/>
                </a:solidFill>
                <a:latin typeface="Calibri"/>
              </a:rPr>
              <a:t>⚡ Francisco Reyes Santiago (Mat. 1768161): </a:t>
            </a:r>
            <a:r>
              <a:rPr sz="850">
                <a:solidFill>
                  <a:srgbClr val="F1F5F9"/>
                </a:solidFill>
                <a:latin typeface="Calibri"/>
              </a:rPr>
              <a:t>Electrónica de Potencia y Digital. PCB EasyEDA (Matriz MOSFET 6x6, optoacopladores PC817C, diodos 1N4007, norma IPC-2221B) y Simulación Digital.</a:t>
            </a:r>
          </a:p>
        </p:txBody>
      </p:sp>
      <p:sp>
        <p:nvSpPr>
          <p:cNvPr id="11" name="Rounded Rectangle 10"/>
          <p:cNvSpPr/>
          <p:nvPr/>
        </p:nvSpPr>
        <p:spPr>
          <a:xfrm>
            <a:off x="7406640" y="1097280"/>
            <a:ext cx="4297680" cy="516636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02_Vista_Isometrica_Frontal_Derecha_CAD_Final.png"/>
          <p:cNvPicPr>
            <a:picLocks noChangeAspect="1"/>
          </p:cNvPicPr>
          <p:nvPr/>
        </p:nvPicPr>
        <p:blipFill>
          <a:blip r:embed="rId5"/>
          <a:stretch>
            <a:fillRect/>
          </a:stretch>
        </p:blipFill>
        <p:spPr>
          <a:xfrm>
            <a:off x="7589520" y="1234440"/>
            <a:ext cx="3931920" cy="4572000"/>
          </a:xfrm>
          <a:prstGeom prst="rect">
            <a:avLst/>
          </a:prstGeom>
        </p:spPr>
      </p:pic>
      <p:sp>
        <p:nvSpPr>
          <p:cNvPr id="13" name="TextBox 12"/>
          <p:cNvSpPr txBox="1"/>
          <p:nvPr/>
        </p:nvSpPr>
        <p:spPr>
          <a:xfrm>
            <a:off x="7406640" y="5852160"/>
            <a:ext cx="4297680" cy="365760"/>
          </a:xfrm>
          <a:prstGeom prst="rect">
            <a:avLst/>
          </a:prstGeom>
          <a:noFill/>
        </p:spPr>
        <p:txBody>
          <a:bodyPr wrap="none">
            <a:spAutoFit/>
          </a:bodyPr>
          <a:lstStyle/>
          <a:p>
            <a:pPr algn="ctr"/>
            <a:r>
              <a:rPr sz="900" b="1">
                <a:solidFill>
                  <a:srgbClr val="06B6D4"/>
                </a:solidFill>
                <a:latin typeface="Calibri"/>
              </a:rPr>
              <a:t>Modelo CAD Oficial Fusion 360 | Copete Superior HMI 10.1"</a:t>
            </a:r>
          </a:p>
        </p:txBody>
      </p:sp>
      <p:sp>
        <p:nvSpPr>
          <p:cNvPr id="14" name="Rectangle 13"/>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6" name="TextBox 15"/>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1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grpId="0"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01</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CONTEXTO REAL EN FIME UANL Y PLANTEAMIENTO DEL PROBLEMA</a:t>
            </a:r>
          </a:p>
          <a:p>
            <a:r>
              <a:rPr sz="950">
                <a:solidFill>
                  <a:srgbClr val="94A3B8"/>
                </a:solidFill>
                <a:latin typeface="Calibri"/>
              </a:rPr>
              <a:t>La problemática cotidiana de alimentación en turnos continuos y el alcance de ingeniería del proyecto</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CONTEXTO FIME UANL • EQUIPO</a:t>
            </a:r>
          </a:p>
        </p:txBody>
      </p:sp>
      <p:sp>
        <p:nvSpPr>
          <p:cNvPr id="6" name="Rounded Rectangle 5"/>
          <p:cNvSpPr/>
          <p:nvPr/>
        </p:nvSpPr>
        <p:spPr>
          <a:xfrm>
            <a:off x="457200" y="1188720"/>
            <a:ext cx="420624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1850745" cy="274320"/>
          </a:xfrm>
          <a:prstGeom prst="roundRect">
            <a:avLst>
              <a:gd name="adj" fmla="val 45000"/>
            </a:avLst>
          </a:prstGeom>
          <a:solidFill>
            <a:srgbClr val="0B0F19"/>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43F5E"/>
                </a:solidFill>
                <a:latin typeface="Calibri"/>
              </a:rPr>
              <a:t>LA REALIDAD ESTUDIANTIL</a:t>
            </a:r>
          </a:p>
        </p:txBody>
      </p:sp>
      <p:sp>
        <p:nvSpPr>
          <p:cNvPr id="8" name="TextBox 7"/>
          <p:cNvSpPr txBox="1"/>
          <p:nvPr/>
        </p:nvSpPr>
        <p:spPr>
          <a:xfrm>
            <a:off x="640080" y="1664207"/>
            <a:ext cx="3840479" cy="475488"/>
          </a:xfrm>
          <a:prstGeom prst="rect">
            <a:avLst/>
          </a:prstGeom>
          <a:noFill/>
        </p:spPr>
        <p:txBody>
          <a:bodyPr wrap="none">
            <a:spAutoFit/>
          </a:bodyPr>
          <a:lstStyle/>
          <a:p>
            <a:r>
              <a:rPr sz="2100" b="1">
                <a:solidFill>
                  <a:srgbClr val="F43F5E"/>
                </a:solidFill>
                <a:latin typeface="Calibri"/>
              </a:rPr>
              <a:t>35 min </a:t>
            </a:r>
            <a:r>
              <a:rPr sz="1050">
                <a:solidFill>
                  <a:srgbClr val="94A3B8"/>
                </a:solidFill>
                <a:latin typeface="Calibri"/>
              </a:rPr>
              <a:t>Fila Promedio en Cafetería</a:t>
            </a:r>
          </a:p>
        </p:txBody>
      </p:sp>
      <p:sp>
        <p:nvSpPr>
          <p:cNvPr id="9" name="TextBox 8"/>
          <p:cNvSpPr txBox="1"/>
          <p:nvPr/>
        </p:nvSpPr>
        <p:spPr>
          <a:xfrm>
            <a:off x="640080" y="2157984"/>
            <a:ext cx="3840479" cy="347472"/>
          </a:xfrm>
          <a:prstGeom prst="rect">
            <a:avLst/>
          </a:prstGeom>
          <a:noFill/>
        </p:spPr>
        <p:txBody>
          <a:bodyPr wrap="square">
            <a:spAutoFit/>
          </a:bodyPr>
          <a:lstStyle/>
          <a:p>
            <a:r>
              <a:rPr sz="1100" b="1">
                <a:solidFill>
                  <a:srgbClr val="FFFFFF"/>
                </a:solidFill>
                <a:latin typeface="Calibri"/>
              </a:rPr>
              <a:t>Jornadas de 7:00 a 21:00 hrs en FIME</a:t>
            </a:r>
          </a:p>
        </p:txBody>
      </p:sp>
      <p:sp>
        <p:nvSpPr>
          <p:cNvPr id="10" name="TextBox 9"/>
          <p:cNvSpPr txBox="1"/>
          <p:nvPr/>
        </p:nvSpPr>
        <p:spPr>
          <a:xfrm>
            <a:off x="640080" y="2487168"/>
            <a:ext cx="3840479"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Horario Continuo: </a:t>
            </a:r>
            <a:r>
              <a:rPr sz="880">
                <a:solidFill>
                  <a:srgbClr val="F1F5F9"/>
                </a:solidFill>
                <a:latin typeface="Calibri"/>
              </a:rPr>
              <a:t>La comunidad estudiantil y docente permanece más de 8 horas diarias en campus con recesos entre clases de apenas 15 a 20 minutos.</a:t>
            </a:r>
          </a:p>
          <a:p>
            <a:pPr>
              <a:spcBef>
                <a:spcPts val="250"/>
              </a:spcBef>
              <a:spcAft>
                <a:spcPts val="200"/>
              </a:spcAft>
            </a:pPr>
            <a:r>
              <a:rPr sz="900" b="1">
                <a:solidFill>
                  <a:srgbClr val="06B6D4"/>
                </a:solidFill>
                <a:latin typeface="Calibri"/>
              </a:rPr>
              <a:t>Saturación Física: </a:t>
            </a:r>
            <a:r>
              <a:rPr sz="880">
                <a:solidFill>
                  <a:srgbClr val="F1F5F9"/>
                </a:solidFill>
                <a:latin typeface="Calibri"/>
              </a:rPr>
              <a:t>Las cafeterías colapsan con filas de más de 35 minutos en horas pico (12:00 a 15:00 hrs), consumiendo todo el tiempo libre del alumno.</a:t>
            </a:r>
          </a:p>
          <a:p>
            <a:pPr>
              <a:spcBef>
                <a:spcPts val="250"/>
              </a:spcBef>
              <a:spcAft>
                <a:spcPts val="200"/>
              </a:spcAft>
            </a:pPr>
            <a:r>
              <a:rPr sz="900" b="1">
                <a:solidFill>
                  <a:srgbClr val="06B6D4"/>
                </a:solidFill>
                <a:latin typeface="Calibri"/>
              </a:rPr>
              <a:t>Inviabilidad de Apps: </a:t>
            </a:r>
            <a:r>
              <a:rPr sz="880">
                <a:solidFill>
                  <a:srgbClr val="F1F5F9"/>
                </a:solidFill>
                <a:latin typeface="Calibri"/>
              </a:rPr>
              <a:t>El delivery externo cobra tarifas abusivas ($160-$200 MXN) y no puede ingresar a los edificios de la facultad.</a:t>
            </a:r>
          </a:p>
          <a:p>
            <a:pPr>
              <a:spcBef>
                <a:spcPts val="250"/>
              </a:spcBef>
              <a:spcAft>
                <a:spcPts val="200"/>
              </a:spcAft>
            </a:pPr>
            <a:r>
              <a:rPr sz="900" b="1">
                <a:solidFill>
                  <a:srgbClr val="06B6D4"/>
                </a:solidFill>
                <a:latin typeface="Calibri"/>
              </a:rPr>
              <a:t>Monopolio de Ultraprocesados: </a:t>
            </a:r>
            <a:r>
              <a:rPr sz="880">
                <a:solidFill>
                  <a:srgbClr val="F1F5F9"/>
                </a:solidFill>
                <a:latin typeface="Calibri"/>
              </a:rPr>
              <a:t>El 100% de las máquinas vending actuales expenden comida chatarra fría con múltiples sellos negros, provocando fatiga y bajo rendimiento.</a:t>
            </a:r>
          </a:p>
        </p:txBody>
      </p:sp>
      <p:sp>
        <p:nvSpPr>
          <p:cNvPr id="11" name="Rounded Rectangle 10"/>
          <p:cNvSpPr/>
          <p:nvPr/>
        </p:nvSpPr>
        <p:spPr>
          <a:xfrm>
            <a:off x="4846320" y="1188720"/>
            <a:ext cx="3657600" cy="5166360"/>
          </a:xfrm>
          <a:prstGeom prst="roundRect">
            <a:avLst>
              <a:gd name="adj" fmla="val 40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hart_competencia_costo_tiempo.png"/>
          <p:cNvPicPr>
            <a:picLocks noChangeAspect="1"/>
          </p:cNvPicPr>
          <p:nvPr/>
        </p:nvPicPr>
        <p:blipFill>
          <a:blip r:embed="rId3"/>
          <a:stretch>
            <a:fillRect/>
          </a:stretch>
        </p:blipFill>
        <p:spPr>
          <a:xfrm>
            <a:off x="4919472" y="1261872"/>
            <a:ext cx="3511296" cy="4846320"/>
          </a:xfrm>
          <a:prstGeom prst="rect">
            <a:avLst/>
          </a:prstGeom>
        </p:spPr>
      </p:pic>
      <p:sp>
        <p:nvSpPr>
          <p:cNvPr id="13" name="TextBox 12"/>
          <p:cNvSpPr txBox="1"/>
          <p:nvPr/>
        </p:nvSpPr>
        <p:spPr>
          <a:xfrm>
            <a:off x="4919472" y="6108192"/>
            <a:ext cx="3511296" cy="274320"/>
          </a:xfrm>
          <a:prstGeom prst="rect">
            <a:avLst/>
          </a:prstGeom>
          <a:noFill/>
        </p:spPr>
        <p:txBody>
          <a:bodyPr wrap="none">
            <a:spAutoFit/>
          </a:bodyPr>
          <a:lstStyle/>
          <a:p>
            <a:pPr algn="ctr"/>
            <a:r>
              <a:rPr sz="800" b="1">
                <a:solidFill>
                  <a:srgbClr val="94A3B8"/>
                </a:solidFill>
                <a:latin typeface="Calibri"/>
              </a:rPr>
              <a:t>Comparativa: Tiempo de Espera y Costo (Cafetería vs Apps vs ExpendeX)</a:t>
            </a:r>
          </a:p>
        </p:txBody>
      </p:sp>
      <p:sp>
        <p:nvSpPr>
          <p:cNvPr id="14" name="Rounded Rectangle 13"/>
          <p:cNvSpPr/>
          <p:nvPr/>
        </p:nvSpPr>
        <p:spPr>
          <a:xfrm>
            <a:off x="8686800" y="1188720"/>
            <a:ext cx="310896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869680" y="1335024"/>
            <a:ext cx="1828800"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OBJETIVO DE INGENIERÍA</a:t>
            </a:r>
          </a:p>
        </p:txBody>
      </p:sp>
      <p:sp>
        <p:nvSpPr>
          <p:cNvPr id="16" name="TextBox 15"/>
          <p:cNvSpPr txBox="1"/>
          <p:nvPr/>
        </p:nvSpPr>
        <p:spPr>
          <a:xfrm>
            <a:off x="8869680" y="1664207"/>
            <a:ext cx="2743200" cy="475488"/>
          </a:xfrm>
          <a:prstGeom prst="rect">
            <a:avLst/>
          </a:prstGeom>
          <a:noFill/>
        </p:spPr>
        <p:txBody>
          <a:bodyPr wrap="none">
            <a:spAutoFit/>
          </a:bodyPr>
          <a:lstStyle/>
          <a:p>
            <a:r>
              <a:rPr sz="2100" b="1">
                <a:solidFill>
                  <a:srgbClr val="10B981"/>
                </a:solidFill>
                <a:latin typeface="Calibri"/>
              </a:rPr>
              <a:t>10 s </a:t>
            </a:r>
            <a:r>
              <a:rPr sz="1050">
                <a:solidFill>
                  <a:srgbClr val="94A3B8"/>
                </a:solidFill>
                <a:latin typeface="Calibri"/>
              </a:rPr>
              <a:t>Tiempo Objetivo de Despacho</a:t>
            </a:r>
          </a:p>
        </p:txBody>
      </p:sp>
      <p:sp>
        <p:nvSpPr>
          <p:cNvPr id="17" name="TextBox 16"/>
          <p:cNvSpPr txBox="1"/>
          <p:nvPr/>
        </p:nvSpPr>
        <p:spPr>
          <a:xfrm>
            <a:off x="8869680" y="2157984"/>
            <a:ext cx="2743200" cy="347472"/>
          </a:xfrm>
          <a:prstGeom prst="rect">
            <a:avLst/>
          </a:prstGeom>
          <a:noFill/>
        </p:spPr>
        <p:txBody>
          <a:bodyPr wrap="square">
            <a:spAutoFit/>
          </a:bodyPr>
          <a:lstStyle/>
          <a:p>
            <a:r>
              <a:rPr sz="1100" b="1">
                <a:solidFill>
                  <a:srgbClr val="FFFFFF"/>
                </a:solidFill>
                <a:latin typeface="Calibri"/>
              </a:rPr>
              <a:t>Solución Integral Validada</a:t>
            </a:r>
          </a:p>
        </p:txBody>
      </p:sp>
      <p:sp>
        <p:nvSpPr>
          <p:cNvPr id="18" name="TextBox 17"/>
          <p:cNvSpPr txBox="1"/>
          <p:nvPr/>
        </p:nvSpPr>
        <p:spPr>
          <a:xfrm>
            <a:off x="8869680" y="2487168"/>
            <a:ext cx="274320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Mecatrónica Aplicada: </a:t>
            </a:r>
            <a:r>
              <a:rPr sz="880">
                <a:solidFill>
                  <a:srgbClr val="F1F5F9"/>
                </a:solidFill>
                <a:latin typeface="Calibri"/>
              </a:rPr>
              <a:t>Diseñar y prototipar una máquina vending híbrida con 36 canales mixtos (1+4+1) para comidas preparadas y bebidas frías.</a:t>
            </a:r>
          </a:p>
          <a:p>
            <a:pPr>
              <a:spcBef>
                <a:spcPts val="250"/>
              </a:spcBef>
              <a:spcAft>
                <a:spcPts val="200"/>
              </a:spcAft>
            </a:pPr>
            <a:r>
              <a:rPr sz="900" b="1">
                <a:solidFill>
                  <a:srgbClr val="06B6D4"/>
                </a:solidFill>
                <a:latin typeface="Calibri"/>
              </a:rPr>
              <a:t>Despacho Express: </a:t>
            </a:r>
            <a:r>
              <a:rPr sz="880">
                <a:solidFill>
                  <a:srgbClr val="F1F5F9"/>
                </a:solidFill>
                <a:latin typeface="Calibri"/>
              </a:rPr>
              <a:t>Entrega en menos de 15 segundos mediante conmutación matricial de 24V.</a:t>
            </a:r>
          </a:p>
          <a:p>
            <a:pPr>
              <a:spcBef>
                <a:spcPts val="250"/>
              </a:spcBef>
              <a:spcAft>
                <a:spcPts val="200"/>
              </a:spcAft>
            </a:pPr>
            <a:r>
              <a:rPr sz="900" b="1">
                <a:solidFill>
                  <a:srgbClr val="06B6D4"/>
                </a:solidFill>
                <a:latin typeface="Calibri"/>
              </a:rPr>
              <a:t>Inocuidad NOM-251: </a:t>
            </a:r>
            <a:r>
              <a:rPr sz="880">
                <a:solidFill>
                  <a:srgbClr val="F1F5F9"/>
                </a:solidFill>
                <a:latin typeface="Calibri"/>
              </a:rPr>
              <a:t>Refrigeración estricta entre 4°C y 6°C con sensor digital DS18B20 y regla RTC de 14 horas.</a:t>
            </a:r>
          </a:p>
          <a:p>
            <a:pPr>
              <a:spcBef>
                <a:spcPts val="250"/>
              </a:spcBef>
              <a:spcAft>
                <a:spcPts val="200"/>
              </a:spcAft>
            </a:pPr>
            <a:r>
              <a:rPr sz="900" b="1">
                <a:solidFill>
                  <a:srgbClr val="06B6D4"/>
                </a:solidFill>
                <a:latin typeface="Calibri"/>
              </a:rPr>
              <a:t>Manufactura Nacional: </a:t>
            </a:r>
            <a:r>
              <a:rPr sz="880">
                <a:solidFill>
                  <a:srgbClr val="F1F5F9"/>
                </a:solidFill>
                <a:latin typeface="Calibri"/>
              </a:rPr>
              <a:t>Costo inferior a $50,000 MXN frente a equipos importados de más de $180,000 MXN.</a:t>
            </a:r>
          </a:p>
        </p:txBody>
      </p:sp>
      <p:sp>
        <p:nvSpPr>
          <p:cNvPr id="19" name="Rectangle 18"/>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21" name="TextBox 20"/>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2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grpId="0"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6B6D4"/>
                </a:solidFill>
                <a:latin typeface="Calibri"/>
              </a:rPr>
              <a:t>02</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MECÁNICO 1: CONCEPCIÓN DEL CHASIS Y COPETE ERGONÓMICO</a:t>
            </a:r>
          </a:p>
          <a:p>
            <a:r>
              <a:rPr sz="950">
                <a:solidFill>
                  <a:srgbClr val="94A3B8"/>
                </a:solidFill>
                <a:latin typeface="Calibri"/>
              </a:rPr>
              <a:t>Modelado paramétrico 1:1 en Autodesk Fusion 360 (127 piezas) en chapa de acero calibre 18</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06B6D4"/>
                </a:solidFill>
                <a:latin typeface="Calibri"/>
              </a:rPr>
              <a:t>CAD 3D • SAMUEL TOVAR MÚJICA</a:t>
            </a:r>
          </a:p>
        </p:txBody>
      </p:sp>
      <p:sp>
        <p:nvSpPr>
          <p:cNvPr id="6" name="Rounded Rectangle 5"/>
          <p:cNvSpPr/>
          <p:nvPr/>
        </p:nvSpPr>
        <p:spPr>
          <a:xfrm>
            <a:off x="457200" y="1188720"/>
            <a:ext cx="530352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2574950" cy="274320"/>
          </a:xfrm>
          <a:prstGeom prst="roundRect">
            <a:avLst>
              <a:gd name="adj" fmla="val 4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06B6D4"/>
                </a:solidFill>
                <a:latin typeface="Calibri"/>
              </a:rPr>
              <a:t>DESAFÍO ESTRUCTURAL Y ERGONÓMICO</a:t>
            </a:r>
          </a:p>
        </p:txBody>
      </p:sp>
      <p:sp>
        <p:nvSpPr>
          <p:cNvPr id="8" name="TextBox 7"/>
          <p:cNvSpPr txBox="1"/>
          <p:nvPr/>
        </p:nvSpPr>
        <p:spPr>
          <a:xfrm>
            <a:off x="640080" y="1664207"/>
            <a:ext cx="4937759" cy="475488"/>
          </a:xfrm>
          <a:prstGeom prst="rect">
            <a:avLst/>
          </a:prstGeom>
          <a:noFill/>
        </p:spPr>
        <p:txBody>
          <a:bodyPr wrap="none">
            <a:spAutoFit/>
          </a:bodyPr>
          <a:lstStyle/>
          <a:p>
            <a:r>
              <a:rPr sz="2100" b="1">
                <a:solidFill>
                  <a:srgbClr val="06B6D4"/>
                </a:solidFill>
                <a:latin typeface="Calibri"/>
              </a:rPr>
              <a:t>127 Piezas </a:t>
            </a:r>
            <a:r>
              <a:rPr sz="1050">
                <a:solidFill>
                  <a:srgbClr val="94A3B8"/>
                </a:solidFill>
                <a:latin typeface="Calibri"/>
              </a:rPr>
              <a:t>Componentes Sólidos Fusion 360</a:t>
            </a:r>
          </a:p>
        </p:txBody>
      </p:sp>
      <p:sp>
        <p:nvSpPr>
          <p:cNvPr id="9" name="TextBox 8"/>
          <p:cNvSpPr txBox="1"/>
          <p:nvPr/>
        </p:nvSpPr>
        <p:spPr>
          <a:xfrm>
            <a:off x="640080" y="2157984"/>
            <a:ext cx="4937759" cy="347472"/>
          </a:xfrm>
          <a:prstGeom prst="rect">
            <a:avLst/>
          </a:prstGeom>
          <a:noFill/>
        </p:spPr>
        <p:txBody>
          <a:bodyPr wrap="square">
            <a:spAutoFit/>
          </a:bodyPr>
          <a:lstStyle/>
          <a:p>
            <a:r>
              <a:rPr sz="1100" b="1">
                <a:solidFill>
                  <a:srgbClr val="FFFFFF"/>
                </a:solidFill>
                <a:latin typeface="Calibri"/>
              </a:rPr>
              <a:t>Innovación en el Copete Frontal Superior</a:t>
            </a:r>
          </a:p>
        </p:txBody>
      </p:sp>
      <p:sp>
        <p:nvSpPr>
          <p:cNvPr id="10" name="TextBox 9"/>
          <p:cNvSpPr txBox="1"/>
          <p:nvPr/>
        </p:nvSpPr>
        <p:spPr>
          <a:xfrm>
            <a:off x="640080" y="2487168"/>
            <a:ext cx="4937759"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El Reto: </a:t>
            </a:r>
            <a:r>
              <a:rPr sz="880">
                <a:solidFill>
                  <a:srgbClr val="F1F5F9"/>
                </a:solidFill>
                <a:latin typeface="Calibri"/>
              </a:rPr>
              <a:t>Integrar una pantalla táctil de 10.1 pulgadas, lector óptico QR y bocina guía a la altura de la vista sin perforar la cámara térmica ni restar volumen útil de bandejas.</a:t>
            </a:r>
          </a:p>
          <a:p>
            <a:pPr>
              <a:spcBef>
                <a:spcPts val="250"/>
              </a:spcBef>
              <a:spcAft>
                <a:spcPts val="200"/>
              </a:spcAft>
            </a:pPr>
            <a:r>
              <a:rPr sz="900" b="1">
                <a:solidFill>
                  <a:srgbClr val="06B6D4"/>
                </a:solidFill>
                <a:latin typeface="Calibri"/>
              </a:rPr>
              <a:t>Solución de Diseño: </a:t>
            </a:r>
            <a:r>
              <a:rPr sz="880">
                <a:solidFill>
                  <a:srgbClr val="F1F5F9"/>
                </a:solidFill>
                <a:latin typeface="Calibri"/>
              </a:rPr>
              <a:t>Se concibió un copete superior inclinado a 15° en chapa de acero calibre 18, aislado mecánicamente de la zona refrigerada.</a:t>
            </a:r>
          </a:p>
          <a:p>
            <a:pPr>
              <a:spcBef>
                <a:spcPts val="250"/>
              </a:spcBef>
              <a:spcAft>
                <a:spcPts val="200"/>
              </a:spcAft>
            </a:pPr>
            <a:r>
              <a:rPr sz="900" b="1">
                <a:solidFill>
                  <a:srgbClr val="06B6D4"/>
                </a:solidFill>
                <a:latin typeface="Calibri"/>
              </a:rPr>
              <a:t>Dimensiones Generales: </a:t>
            </a:r>
            <a:r>
              <a:rPr sz="880">
                <a:solidFill>
                  <a:srgbClr val="F1F5F9"/>
                </a:solidFill>
                <a:latin typeface="Calibri"/>
              </a:rPr>
              <a:t>1830 mm de altura, 950 mm de ancho y 880 mm de profundidad. Diseñada para cruzar puertas estándar de laboratorio y pasillos.</a:t>
            </a:r>
          </a:p>
          <a:p>
            <a:pPr>
              <a:spcBef>
                <a:spcPts val="250"/>
              </a:spcBef>
              <a:spcAft>
                <a:spcPts val="200"/>
              </a:spcAft>
            </a:pPr>
            <a:r>
              <a:rPr sz="900" b="1">
                <a:solidFill>
                  <a:srgbClr val="06B6D4"/>
                </a:solidFill>
                <a:latin typeface="Calibri"/>
              </a:rPr>
              <a:t>Chasis Paramétrico: </a:t>
            </a:r>
            <a:r>
              <a:rPr sz="880">
                <a:solidFill>
                  <a:srgbClr val="F1F5F9"/>
                </a:solidFill>
                <a:latin typeface="Calibri"/>
              </a:rPr>
              <a:t>127 componentes modelados en Fusion 360 listos para corte láser y doblez CNC, acabado en pintura electrostática gris industrial.</a:t>
            </a:r>
          </a:p>
          <a:p>
            <a:pPr>
              <a:spcBef>
                <a:spcPts val="250"/>
              </a:spcBef>
              <a:spcAft>
                <a:spcPts val="200"/>
              </a:spcAft>
            </a:pPr>
            <a:r>
              <a:rPr sz="900" b="1">
                <a:solidFill>
                  <a:srgbClr val="06B6D4"/>
                </a:solidFill>
                <a:latin typeface="Calibri"/>
              </a:rPr>
              <a:t>Hermeticidad: </a:t>
            </a:r>
            <a:r>
              <a:rPr sz="880">
                <a:solidFill>
                  <a:srgbClr val="F1F5F9"/>
                </a:solidFill>
                <a:latin typeface="Calibri"/>
              </a:rPr>
              <a:t>Puerta frontal con triple bisagra de uso rudo y burlete magnético perimetral de sellado continuo.</a:t>
            </a:r>
          </a:p>
        </p:txBody>
      </p:sp>
      <p:sp>
        <p:nvSpPr>
          <p:cNvPr id="11" name="Rounded Rectangle 10"/>
          <p:cNvSpPr/>
          <p:nvPr/>
        </p:nvSpPr>
        <p:spPr>
          <a:xfrm>
            <a:off x="5989320" y="1188720"/>
            <a:ext cx="5715000" cy="251460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02_Vista_Isometrica_Frontal_Derecha_CAD_Final.png"/>
          <p:cNvPicPr>
            <a:picLocks noChangeAspect="1"/>
          </p:cNvPicPr>
          <p:nvPr/>
        </p:nvPicPr>
        <p:blipFill>
          <a:blip r:embed="rId3"/>
          <a:stretch>
            <a:fillRect/>
          </a:stretch>
        </p:blipFill>
        <p:spPr>
          <a:xfrm>
            <a:off x="6062472" y="1261872"/>
            <a:ext cx="5568696" cy="2194560"/>
          </a:xfrm>
          <a:prstGeom prst="rect">
            <a:avLst/>
          </a:prstGeom>
        </p:spPr>
      </p:pic>
      <p:sp>
        <p:nvSpPr>
          <p:cNvPr id="13" name="TextBox 12"/>
          <p:cNvSpPr txBox="1"/>
          <p:nvPr/>
        </p:nvSpPr>
        <p:spPr>
          <a:xfrm>
            <a:off x="6062472" y="3456432"/>
            <a:ext cx="5568696" cy="274320"/>
          </a:xfrm>
          <a:prstGeom prst="rect">
            <a:avLst/>
          </a:prstGeom>
          <a:noFill/>
        </p:spPr>
        <p:txBody>
          <a:bodyPr wrap="none">
            <a:spAutoFit/>
          </a:bodyPr>
          <a:lstStyle/>
          <a:p>
            <a:pPr algn="ctr"/>
            <a:r>
              <a:rPr sz="800" b="1">
                <a:solidFill>
                  <a:srgbClr val="94A3B8"/>
                </a:solidFill>
                <a:latin typeface="Calibri"/>
              </a:rPr>
              <a:t>Ensamble General Isométrico Oficial en Chasis Gris Industrial</a:t>
            </a:r>
          </a:p>
        </p:txBody>
      </p:sp>
      <p:sp>
        <p:nvSpPr>
          <p:cNvPr id="14" name="Rounded Rectangle 13"/>
          <p:cNvSpPr/>
          <p:nvPr/>
        </p:nvSpPr>
        <p:spPr>
          <a:xfrm>
            <a:off x="5989320" y="3794760"/>
            <a:ext cx="5715000" cy="2560320"/>
          </a:xfrm>
          <a:prstGeom prst="roundRect">
            <a:avLst>
              <a:gd name="adj" fmla="val 40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pendeX_Render_CAD_Detalle_Pantalla_10pulgadas.png"/>
          <p:cNvPicPr>
            <a:picLocks noChangeAspect="1"/>
          </p:cNvPicPr>
          <p:nvPr/>
        </p:nvPicPr>
        <p:blipFill>
          <a:blip r:embed="rId4"/>
          <a:stretch>
            <a:fillRect/>
          </a:stretch>
        </p:blipFill>
        <p:spPr>
          <a:xfrm>
            <a:off x="6062472" y="3867912"/>
            <a:ext cx="5568696" cy="2240279"/>
          </a:xfrm>
          <a:prstGeom prst="rect">
            <a:avLst/>
          </a:prstGeom>
        </p:spPr>
      </p:pic>
      <p:sp>
        <p:nvSpPr>
          <p:cNvPr id="16" name="TextBox 15"/>
          <p:cNvSpPr txBox="1"/>
          <p:nvPr/>
        </p:nvSpPr>
        <p:spPr>
          <a:xfrm>
            <a:off x="6062472" y="6108192"/>
            <a:ext cx="5568696" cy="274320"/>
          </a:xfrm>
          <a:prstGeom prst="rect">
            <a:avLst/>
          </a:prstGeom>
          <a:noFill/>
        </p:spPr>
        <p:txBody>
          <a:bodyPr wrap="none">
            <a:spAutoFit/>
          </a:bodyPr>
          <a:lstStyle/>
          <a:p>
            <a:pPr algn="ctr"/>
            <a:r>
              <a:rPr sz="800" b="1">
                <a:solidFill>
                  <a:srgbClr val="94A3B8"/>
                </a:solidFill>
                <a:latin typeface="Calibri"/>
              </a:rPr>
              <a:t>Detalle de Copete Inclinado 15° con Pantalla Táctil HMI 10.1"</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3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03</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MECÁNICO 2: BANDEJAS ASIMÉTRICAS 1+4+1 Y RIGIDEZ ESTRUCTURAL</a:t>
            </a:r>
          </a:p>
          <a:p>
            <a:r>
              <a:rPr sz="950">
                <a:solidFill>
                  <a:srgbClr val="94A3B8"/>
                </a:solidFill>
                <a:latin typeface="Calibri"/>
              </a:rPr>
              <a:t>Cálculo analítico de deflexión elástica bajo carga asimétrica severa de recipientes y latas</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ESTRUCTURAL • SAMUEL TOVAR MÚJICA</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3701491"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MEMORIA ANALÍTICA DE FLEXIÓN (EULER-BERNOULLI)</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10B981"/>
                </a:solidFill>
                <a:latin typeface="Calibri"/>
              </a:rPr>
              <a:t>1.34 mm </a:t>
            </a:r>
            <a:r>
              <a:rPr sz="1050">
                <a:solidFill>
                  <a:srgbClr val="94A3B8"/>
                </a:solidFill>
                <a:latin typeface="Calibri"/>
              </a:rPr>
              <a:t>Deflexión (&lt; 1.50 mm Límite)</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Distribución de Carga Mixta: Comida (850 g) + Bebidas (355 g)</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El Problema Físico: </a:t>
            </a:r>
            <a:r>
              <a:rPr sz="880">
                <a:solidFill>
                  <a:srgbClr val="F1F5F9"/>
                </a:solidFill>
                <a:latin typeface="Calibri"/>
              </a:rPr>
              <a:t>Colocar recipientes pesados de guiso casero (850 g) en una charola estándar causa pandeo central, desalineando los engranes de los motores.</a:t>
            </a:r>
          </a:p>
          <a:p>
            <a:pPr>
              <a:spcBef>
                <a:spcPts val="250"/>
              </a:spcBef>
              <a:spcAft>
                <a:spcPts val="200"/>
              </a:spcAft>
            </a:pPr>
            <a:r>
              <a:rPr sz="900" b="1">
                <a:solidFill>
                  <a:srgbClr val="06B6D4"/>
                </a:solidFill>
                <a:latin typeface="Calibri"/>
              </a:rPr>
              <a:t>Arquitectura Asimétrica 1+4+1: </a:t>
            </a:r>
            <a:r>
              <a:rPr sz="880">
                <a:solidFill>
                  <a:srgbClr val="F1F5F9"/>
                </a:solidFill>
                <a:latin typeface="Calibri"/>
              </a:rPr>
              <a:t>Se ubicaron las comidas pesadas en los extremos laterales (canales 1 y 6, adyacentes a las guías telescópicas) y las 4 bebidas en el centro.</a:t>
            </a:r>
          </a:p>
          <a:p>
            <a:pPr>
              <a:spcBef>
                <a:spcPts val="250"/>
              </a:spcBef>
              <a:spcAft>
                <a:spcPts val="200"/>
              </a:spcAft>
            </a:pPr>
            <a:r>
              <a:rPr sz="900" b="1">
                <a:solidFill>
                  <a:srgbClr val="06B6D4"/>
                </a:solidFill>
                <a:latin typeface="Calibri"/>
              </a:rPr>
              <a:t>Momento Flector Máximo: </a:t>
            </a:r>
            <a:r>
              <a:rPr sz="880">
                <a:solidFill>
                  <a:srgbClr val="F1F5F9"/>
                </a:solidFill>
                <a:latin typeface="Calibri"/>
              </a:rPr>
              <a:t>Calculado en x = 0.475 m: M_max = 35.16 N·m.</a:t>
            </a:r>
          </a:p>
          <a:p>
            <a:pPr>
              <a:spcBef>
                <a:spcPts val="250"/>
              </a:spcBef>
              <a:spcAft>
                <a:spcPts val="200"/>
              </a:spcAft>
            </a:pPr>
            <a:r>
              <a:rPr sz="900" b="1">
                <a:solidFill>
                  <a:srgbClr val="06B6D4"/>
                </a:solidFill>
                <a:latin typeface="Calibri"/>
              </a:rPr>
              <a:t>Deflexión Elástica Central: </a:t>
            </a:r>
            <a:r>
              <a:rPr sz="880">
                <a:solidFill>
                  <a:srgbClr val="F1F5F9"/>
                </a:solidFill>
                <a:latin typeface="Calibri"/>
              </a:rPr>
              <a:t>y_max = 1.34 mm frente al límite de servicio de 1.50 mm (Norma AISC / Euler-Bernoulli). Factor de seguridad FS = 1.12.</a:t>
            </a:r>
          </a:p>
          <a:p>
            <a:pPr>
              <a:spcBef>
                <a:spcPts val="250"/>
              </a:spcBef>
              <a:spcAft>
                <a:spcPts val="200"/>
              </a:spcAft>
            </a:pPr>
            <a:r>
              <a:rPr sz="900" b="1">
                <a:solidFill>
                  <a:srgbClr val="06B6D4"/>
                </a:solidFill>
                <a:latin typeface="Calibri"/>
              </a:rPr>
              <a:t>Refuerzo Estructural: </a:t>
            </a:r>
            <a:r>
              <a:rPr sz="880">
                <a:solidFill>
                  <a:srgbClr val="F1F5F9"/>
                </a:solidFill>
                <a:latin typeface="Calibri"/>
              </a:rPr>
              <a:t>Pestañas perimetrales dobladas en 'C' en chapa inoxidable AISI 304 de 1.2 mm y guías telescópicas industriales de 45 kg por nivel.</a:t>
            </a:r>
          </a:p>
        </p:txBody>
      </p:sp>
      <p:sp>
        <p:nvSpPr>
          <p:cNvPr id="11" name="Rounded Rectangle 10"/>
          <p:cNvSpPr/>
          <p:nvPr/>
        </p:nvSpPr>
        <p:spPr>
          <a:xfrm>
            <a:off x="6217920" y="1188720"/>
            <a:ext cx="5486400" cy="251460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g11_CAD_Fusion360_Bandejas_1mas4mas1_Espirales_Comida_Bebida.png"/>
          <p:cNvPicPr>
            <a:picLocks noChangeAspect="1"/>
          </p:cNvPicPr>
          <p:nvPr/>
        </p:nvPicPr>
        <p:blipFill>
          <a:blip r:embed="rId3"/>
          <a:stretch>
            <a:fillRect/>
          </a:stretch>
        </p:blipFill>
        <p:spPr>
          <a:xfrm>
            <a:off x="6291072" y="1261872"/>
            <a:ext cx="5340096" cy="2194560"/>
          </a:xfrm>
          <a:prstGeom prst="rect">
            <a:avLst/>
          </a:prstGeom>
        </p:spPr>
      </p:pic>
      <p:sp>
        <p:nvSpPr>
          <p:cNvPr id="13" name="TextBox 12"/>
          <p:cNvSpPr txBox="1"/>
          <p:nvPr/>
        </p:nvSpPr>
        <p:spPr>
          <a:xfrm>
            <a:off x="6291072" y="3456432"/>
            <a:ext cx="5340096" cy="274320"/>
          </a:xfrm>
          <a:prstGeom prst="rect">
            <a:avLst/>
          </a:prstGeom>
          <a:noFill/>
        </p:spPr>
        <p:txBody>
          <a:bodyPr wrap="none">
            <a:spAutoFit/>
          </a:bodyPr>
          <a:lstStyle/>
          <a:p>
            <a:pPr algn="ctr"/>
            <a:r>
              <a:rPr sz="800" b="1">
                <a:solidFill>
                  <a:srgbClr val="94A3B8"/>
                </a:solidFill>
                <a:latin typeface="Calibri"/>
              </a:rPr>
              <a:t>Distribución Asimétrica 1+4+1 de Canales y Espirales en Fusion 360</a:t>
            </a:r>
          </a:p>
        </p:txBody>
      </p:sp>
      <p:sp>
        <p:nvSpPr>
          <p:cNvPr id="14" name="Rounded Rectangle 13"/>
          <p:cNvSpPr/>
          <p:nvPr/>
        </p:nvSpPr>
        <p:spPr>
          <a:xfrm>
            <a:off x="6217920" y="3794760"/>
            <a:ext cx="5486400" cy="2560320"/>
          </a:xfrm>
          <a:prstGeom prst="roundRect">
            <a:avLst>
              <a:gd name="adj" fmla="val 40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_deflexion_bandeja.png"/>
          <p:cNvPicPr>
            <a:picLocks noChangeAspect="1"/>
          </p:cNvPicPr>
          <p:nvPr/>
        </p:nvPicPr>
        <p:blipFill>
          <a:blip r:embed="rId4"/>
          <a:stretch>
            <a:fillRect/>
          </a:stretch>
        </p:blipFill>
        <p:spPr>
          <a:xfrm>
            <a:off x="6291072" y="3867912"/>
            <a:ext cx="5340096" cy="2240279"/>
          </a:xfrm>
          <a:prstGeom prst="rect">
            <a:avLst/>
          </a:prstGeom>
        </p:spPr>
      </p:pic>
      <p:sp>
        <p:nvSpPr>
          <p:cNvPr id="16" name="TextBox 15"/>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Curva Elástica de Euler-Bernoulli: Flecha Calculada 1.34 mm vs Límite 1.50 mm</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4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59E0B"/>
                </a:solidFill>
                <a:latin typeface="Calibri"/>
              </a:rPr>
              <a:t>04</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MECÁNICO 3: CINEMÁTICA Y PAR TORSOR DE ESPIRALES HELICOIDALES</a:t>
            </a:r>
          </a:p>
          <a:p>
            <a:r>
              <a:rPr sz="950">
                <a:solidFill>
                  <a:srgbClr val="94A3B8"/>
                </a:solidFill>
                <a:latin typeface="Calibri"/>
              </a:rPr>
              <a:t>Dimensionamiento de espirales sobredimensionadas de Ø 144 mm para evitar atoramiento de empaques</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F59E0B"/>
                </a:solidFill>
                <a:latin typeface="Calibri"/>
              </a:rPr>
              <a:t>CINEMÁTICA • SAMUEL TOVAR MÚJICA</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2816351" cy="274320"/>
          </a:xfrm>
          <a:prstGeom prst="roundRect">
            <a:avLst>
              <a:gd name="adj" fmla="val 45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59E0B"/>
                </a:solidFill>
                <a:latin typeface="Calibri"/>
              </a:rPr>
              <a:t>MODELO DE PAR TORSOR Y EMPUJE AXIAL</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F59E0B"/>
                </a:solidFill>
                <a:latin typeface="Calibri"/>
              </a:rPr>
              <a:t>0.385 N·m </a:t>
            </a:r>
            <a:r>
              <a:rPr sz="1050">
                <a:solidFill>
                  <a:srgbClr val="94A3B8"/>
                </a:solidFill>
                <a:latin typeface="Calibri"/>
              </a:rPr>
              <a:t>Torque Requerido (T_stall = 1.8 N·m)</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Dimensionamiento de Espiral Comida vs Bebida</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El Reto: </a:t>
            </a:r>
            <a:r>
              <a:rPr sz="880">
                <a:solidFill>
                  <a:srgbClr val="F1F5F9"/>
                </a:solidFill>
                <a:latin typeface="Calibri"/>
              </a:rPr>
              <a:t>Los recipientes de comida corrida cuadrados/rectangulares no giran en espirales estándar de refrescos (Ø 70 mm) y causan atascos por fricción en las paredes.</a:t>
            </a:r>
          </a:p>
          <a:p>
            <a:pPr>
              <a:spcBef>
                <a:spcPts val="250"/>
              </a:spcBef>
              <a:spcAft>
                <a:spcPts val="200"/>
              </a:spcAft>
            </a:pPr>
            <a:r>
              <a:rPr sz="900" b="1">
                <a:solidFill>
                  <a:srgbClr val="06B6D4"/>
                </a:solidFill>
                <a:latin typeface="Calibri"/>
              </a:rPr>
              <a:t>Solución de Espiral Gigante: </a:t>
            </a:r>
            <a:r>
              <a:rPr sz="880">
                <a:solidFill>
                  <a:srgbClr val="F1F5F9"/>
                </a:solidFill>
                <a:latin typeface="Calibri"/>
              </a:rPr>
              <a:t>Se diseñó una espiral helicoidal sobredimensionada de Ø 144 mm exterior con paso axial de 80 mm en alambre de acero templado de Ø 7 mm.</a:t>
            </a:r>
          </a:p>
          <a:p>
            <a:pPr>
              <a:spcBef>
                <a:spcPts val="250"/>
              </a:spcBef>
              <a:spcAft>
                <a:spcPts val="200"/>
              </a:spcAft>
            </a:pPr>
            <a:r>
              <a:rPr sz="900" b="1">
                <a:solidFill>
                  <a:srgbClr val="06B6D4"/>
                </a:solidFill>
                <a:latin typeface="Calibri"/>
              </a:rPr>
              <a:t>Cálculo de Par Torsor Nominal: </a:t>
            </a:r>
            <a:r>
              <a:rPr sz="880">
                <a:solidFill>
                  <a:srgbClr val="F1F5F9"/>
                </a:solidFill>
                <a:latin typeface="Calibri"/>
              </a:rPr>
              <a:t>T_req = 0.385 N·m para empujar un contenedor de 850 g con coeficiente de fricción acero-plástico μ = 0.28.</a:t>
            </a:r>
          </a:p>
          <a:p>
            <a:pPr>
              <a:spcBef>
                <a:spcPts val="250"/>
              </a:spcBef>
              <a:spcAft>
                <a:spcPts val="200"/>
              </a:spcAft>
            </a:pPr>
            <a:r>
              <a:rPr sz="900" b="1">
                <a:solidFill>
                  <a:srgbClr val="06B6D4"/>
                </a:solidFill>
                <a:latin typeface="Calibri"/>
              </a:rPr>
              <a:t>Capacidad del Motorreductor: </a:t>
            </a:r>
            <a:r>
              <a:rPr sz="880">
                <a:solidFill>
                  <a:srgbClr val="F1F5F9"/>
                </a:solidFill>
                <a:latin typeface="Calibri"/>
              </a:rPr>
              <a:t>Motor de 24V DC con reducción planetaria 1:120 y torque de bloqueo T_stall = 1.80 N·m. Factor de seguridad dinámico FS = 4.67.</a:t>
            </a:r>
          </a:p>
          <a:p>
            <a:pPr>
              <a:spcBef>
                <a:spcPts val="250"/>
              </a:spcBef>
              <a:spcAft>
                <a:spcPts val="200"/>
              </a:spcAft>
            </a:pPr>
            <a:r>
              <a:rPr sz="900" b="1">
                <a:solidFill>
                  <a:srgbClr val="06B6D4"/>
                </a:solidFill>
                <a:latin typeface="Calibri"/>
              </a:rPr>
              <a:t>Resistencia al Corte: </a:t>
            </a:r>
            <a:r>
              <a:rPr sz="880">
                <a:solidFill>
                  <a:srgbClr val="F1F5F9"/>
                </a:solidFill>
                <a:latin typeface="Calibri"/>
              </a:rPr>
              <a:t>Esfuerzo cortante actuante en rotor bloqueado: τ = 9.80 MPa vs admisible τ_adm = 45.80 MPa (sin riesgo de fractura mecánica).</a:t>
            </a:r>
          </a:p>
        </p:txBody>
      </p:sp>
      <p:sp>
        <p:nvSpPr>
          <p:cNvPr id="11" name="Rounded Rectangle 10"/>
          <p:cNvSpPr/>
          <p:nvPr/>
        </p:nvSpPr>
        <p:spPr>
          <a:xfrm>
            <a:off x="6217920" y="1188720"/>
            <a:ext cx="5486400" cy="2514600"/>
          </a:xfrm>
          <a:prstGeom prst="roundRect">
            <a:avLst>
              <a:gd name="adj" fmla="val 40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Expendex_Render_Comida_Cuadrada_3Divisiones.png"/>
          <p:cNvPicPr>
            <a:picLocks noChangeAspect="1"/>
          </p:cNvPicPr>
          <p:nvPr/>
        </p:nvPicPr>
        <p:blipFill>
          <a:blip r:embed="rId3"/>
          <a:stretch>
            <a:fillRect/>
          </a:stretch>
        </p:blipFill>
        <p:spPr>
          <a:xfrm>
            <a:off x="6291072" y="1261872"/>
            <a:ext cx="5340096" cy="2194560"/>
          </a:xfrm>
          <a:prstGeom prst="rect">
            <a:avLst/>
          </a:prstGeom>
        </p:spPr>
      </p:pic>
      <p:sp>
        <p:nvSpPr>
          <p:cNvPr id="13" name="TextBox 12"/>
          <p:cNvSpPr txBox="1"/>
          <p:nvPr/>
        </p:nvSpPr>
        <p:spPr>
          <a:xfrm>
            <a:off x="6291072" y="3456432"/>
            <a:ext cx="5340096" cy="274320"/>
          </a:xfrm>
          <a:prstGeom prst="rect">
            <a:avLst/>
          </a:prstGeom>
          <a:noFill/>
        </p:spPr>
        <p:txBody>
          <a:bodyPr wrap="none">
            <a:spAutoFit/>
          </a:bodyPr>
          <a:lstStyle/>
          <a:p>
            <a:pPr algn="ctr"/>
            <a:r>
              <a:rPr sz="800" b="1">
                <a:solidFill>
                  <a:srgbClr val="94A3B8"/>
                </a:solidFill>
                <a:latin typeface="Calibri"/>
              </a:rPr>
              <a:t>Recipiente Cuadrado de 3 Divisiones Alojado en Bahía Lateral</a:t>
            </a:r>
          </a:p>
        </p:txBody>
      </p:sp>
      <p:sp>
        <p:nvSpPr>
          <p:cNvPr id="14" name="Rounded Rectangle 13"/>
          <p:cNvSpPr/>
          <p:nvPr/>
        </p:nvSpPr>
        <p:spPr>
          <a:xfrm>
            <a:off x="6217920" y="3794760"/>
            <a:ext cx="5486400" cy="256032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_torque_corriente_motores.png"/>
          <p:cNvPicPr>
            <a:picLocks noChangeAspect="1"/>
          </p:cNvPicPr>
          <p:nvPr/>
        </p:nvPicPr>
        <p:blipFill>
          <a:blip r:embed="rId4"/>
          <a:stretch>
            <a:fillRect/>
          </a:stretch>
        </p:blipFill>
        <p:spPr>
          <a:xfrm>
            <a:off x="6291072" y="3867912"/>
            <a:ext cx="5340096" cy="2240279"/>
          </a:xfrm>
          <a:prstGeom prst="rect">
            <a:avLst/>
          </a:prstGeom>
        </p:spPr>
      </p:pic>
      <p:sp>
        <p:nvSpPr>
          <p:cNvPr id="16" name="TextBox 15"/>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Curva Dinamométrica de Par Motor y Corriente de Arranque (FS = 4.67)</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5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6B6D4"/>
                </a:solidFill>
                <a:latin typeface="Calibri"/>
              </a:rPr>
              <a:t>05</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TÉRMICO 4: REFRIGERACIÓN NOM-251 EN EL CLIMA DE MONTERREY (+42°C)</a:t>
            </a:r>
          </a:p>
          <a:p>
            <a:r>
              <a:rPr sz="950">
                <a:solidFill>
                  <a:srgbClr val="94A3B8"/>
                </a:solidFill>
                <a:latin typeface="Calibri"/>
              </a:rPr>
              <a:t>Balance térmico analítico de 382.88 W y selección de unidad frigorífica Embraco de 1/5 HP</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06B6D4"/>
                </a:solidFill>
                <a:latin typeface="Calibri"/>
              </a:rPr>
              <a:t>TERMODINÁMICA • SAMUEL TOVAR MÚJICA</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3138220" cy="274320"/>
          </a:xfrm>
          <a:prstGeom prst="roundRect">
            <a:avLst>
              <a:gd name="adj" fmla="val 4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06B6D4"/>
                </a:solidFill>
                <a:latin typeface="Calibri"/>
              </a:rPr>
              <a:t>MEMORIA DE BALANCE TÉRMICO DE LA CÁMARA</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06B6D4"/>
                </a:solidFill>
                <a:latin typeface="Calibri"/>
              </a:rPr>
              <a:t>382.88 W </a:t>
            </a:r>
            <a:r>
              <a:rPr sz="1050">
                <a:solidFill>
                  <a:srgbClr val="94A3B8"/>
                </a:solidFill>
                <a:latin typeface="Calibri"/>
              </a:rPr>
              <a:t>Carga Térmica Total Calculada</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Condición Extrema de Verano en Nuevo León (T_ext = 42°C)</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El Reto: </a:t>
            </a:r>
            <a:r>
              <a:rPr sz="880">
                <a:solidFill>
                  <a:srgbClr val="F1F5F9"/>
                </a:solidFill>
                <a:latin typeface="Calibri"/>
              </a:rPr>
              <a:t>Mantener alimentos perecederos entre 4°C y 6°C cumpliendo la NOM-251-SSA1 bajo la canícula de Monterrey (+42°C exterior y 75% HR).</a:t>
            </a:r>
          </a:p>
          <a:p>
            <a:pPr>
              <a:spcBef>
                <a:spcPts val="250"/>
              </a:spcBef>
              <a:spcAft>
                <a:spcPts val="200"/>
              </a:spcAft>
            </a:pPr>
            <a:r>
              <a:rPr sz="900" b="1">
                <a:solidFill>
                  <a:srgbClr val="06B6D4"/>
                </a:solidFill>
                <a:latin typeface="Calibri"/>
              </a:rPr>
              <a:t>Conducción en Paredes Aisladas: </a:t>
            </a:r>
            <a:r>
              <a:rPr sz="880">
                <a:solidFill>
                  <a:srgbClr val="F1F5F9"/>
                </a:solidFill>
                <a:latin typeface="Calibri"/>
              </a:rPr>
              <a:t>Q_paredes = 212.40 W (Poliuretano expandido de 50 mm, conductividad k = 0.022 W/m·K).</a:t>
            </a:r>
          </a:p>
          <a:p>
            <a:pPr>
              <a:spcBef>
                <a:spcPts val="250"/>
              </a:spcBef>
              <a:spcAft>
                <a:spcPts val="200"/>
              </a:spcAft>
            </a:pPr>
            <a:r>
              <a:rPr sz="900" b="1">
                <a:solidFill>
                  <a:srgbClr val="06B6D4"/>
                </a:solidFill>
                <a:latin typeface="Calibri"/>
              </a:rPr>
              <a:t>Radiación en Doble Acristalamiento: </a:t>
            </a:r>
            <a:r>
              <a:rPr sz="880">
                <a:solidFill>
                  <a:srgbClr val="F1F5F9"/>
                </a:solidFill>
                <a:latin typeface="Calibri"/>
              </a:rPr>
              <a:t>Q_vidrio = 98.18 W (Vidrio doble con cámara de gas argón y película Low-E anti-radiación).</a:t>
            </a:r>
          </a:p>
          <a:p>
            <a:pPr>
              <a:spcBef>
                <a:spcPts val="250"/>
              </a:spcBef>
              <a:spcAft>
                <a:spcPts val="200"/>
              </a:spcAft>
            </a:pPr>
            <a:r>
              <a:rPr sz="900" b="1">
                <a:solidFill>
                  <a:srgbClr val="06B6D4"/>
                </a:solidFill>
                <a:latin typeface="Calibri"/>
              </a:rPr>
              <a:t>Infiltración por Compuerta: </a:t>
            </a:r>
            <a:r>
              <a:rPr sz="880">
                <a:solidFill>
                  <a:srgbClr val="F1F5F9"/>
                </a:solidFill>
                <a:latin typeface="Calibri"/>
              </a:rPr>
              <a:t>Q_infiltracion = 72.30 W (Estimado en 60 aperturas por hora durante el pico de comida).</a:t>
            </a:r>
          </a:p>
          <a:p>
            <a:pPr>
              <a:spcBef>
                <a:spcPts val="250"/>
              </a:spcBef>
              <a:spcAft>
                <a:spcPts val="200"/>
              </a:spcAft>
            </a:pPr>
            <a:r>
              <a:rPr sz="900" b="1">
                <a:solidFill>
                  <a:srgbClr val="06B6D4"/>
                </a:solidFill>
                <a:latin typeface="Calibri"/>
              </a:rPr>
              <a:t>Carga Térmica Total Requerida: </a:t>
            </a:r>
            <a:r>
              <a:rPr sz="880">
                <a:solidFill>
                  <a:srgbClr val="F1F5F9"/>
                </a:solidFill>
                <a:latin typeface="Calibri"/>
              </a:rPr>
              <a:t>Q_total = 382.88 W requeridos para sostener régimen de 4°C.</a:t>
            </a:r>
          </a:p>
          <a:p>
            <a:pPr>
              <a:spcBef>
                <a:spcPts val="250"/>
              </a:spcBef>
              <a:spcAft>
                <a:spcPts val="200"/>
              </a:spcAft>
            </a:pPr>
            <a:r>
              <a:rPr sz="900" b="1">
                <a:solidFill>
                  <a:srgbClr val="06B6D4"/>
                </a:solidFill>
                <a:latin typeface="Calibri"/>
              </a:rPr>
              <a:t>Unidad Seleccionada: </a:t>
            </a:r>
            <a:r>
              <a:rPr sz="880">
                <a:solidFill>
                  <a:srgbClr val="F1F5F9"/>
                </a:solidFill>
                <a:latin typeface="Calibri"/>
              </a:rPr>
              <a:t>Compresor hermético Embraco 1/5 HP (R134a) con capacidad de extracción de 485.00 W. Factor de seguridad térmico FS = 1.27.</a:t>
            </a:r>
          </a:p>
        </p:txBody>
      </p:sp>
      <p:sp>
        <p:nvSpPr>
          <p:cNvPr id="11" name="Rounded Rectangle 10"/>
          <p:cNvSpPr/>
          <p:nvPr/>
        </p:nvSpPr>
        <p:spPr>
          <a:xfrm>
            <a:off x="6217920" y="1188720"/>
            <a:ext cx="5486400" cy="251460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g13_CAD_Fusion360_Sala_Maquinas_Compresor_Embraco_Condensador.png"/>
          <p:cNvPicPr>
            <a:picLocks noChangeAspect="1"/>
          </p:cNvPicPr>
          <p:nvPr/>
        </p:nvPicPr>
        <p:blipFill>
          <a:blip r:embed="rId3"/>
          <a:stretch>
            <a:fillRect/>
          </a:stretch>
        </p:blipFill>
        <p:spPr>
          <a:xfrm>
            <a:off x="6291072" y="1261872"/>
            <a:ext cx="5340096" cy="2194560"/>
          </a:xfrm>
          <a:prstGeom prst="rect">
            <a:avLst/>
          </a:prstGeom>
        </p:spPr>
      </p:pic>
      <p:sp>
        <p:nvSpPr>
          <p:cNvPr id="13" name="TextBox 12"/>
          <p:cNvSpPr txBox="1"/>
          <p:nvPr/>
        </p:nvSpPr>
        <p:spPr>
          <a:xfrm>
            <a:off x="6291072" y="3456432"/>
            <a:ext cx="5340096" cy="274320"/>
          </a:xfrm>
          <a:prstGeom prst="rect">
            <a:avLst/>
          </a:prstGeom>
          <a:noFill/>
        </p:spPr>
        <p:txBody>
          <a:bodyPr wrap="none">
            <a:spAutoFit/>
          </a:bodyPr>
          <a:lstStyle/>
          <a:p>
            <a:pPr algn="ctr"/>
            <a:r>
              <a:rPr sz="800" b="1">
                <a:solidFill>
                  <a:srgbClr val="94A3B8"/>
                </a:solidFill>
                <a:latin typeface="Calibri"/>
              </a:rPr>
              <a:t>Ensamble CAD de Unidad Frigorífica Embraco 1/5 HP en Sala Inferior</a:t>
            </a:r>
          </a:p>
        </p:txBody>
      </p:sp>
      <p:sp>
        <p:nvSpPr>
          <p:cNvPr id="14" name="Rounded Rectangle 13"/>
          <p:cNvSpPr/>
          <p:nvPr/>
        </p:nvSpPr>
        <p:spPr>
          <a:xfrm>
            <a:off x="6217920" y="3794760"/>
            <a:ext cx="5486400" cy="2560320"/>
          </a:xfrm>
          <a:prstGeom prst="roundRect">
            <a:avLst>
              <a:gd name="adj" fmla="val 40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_pulldown_termico.png"/>
          <p:cNvPicPr>
            <a:picLocks noChangeAspect="1"/>
          </p:cNvPicPr>
          <p:nvPr/>
        </p:nvPicPr>
        <p:blipFill>
          <a:blip r:embed="rId4"/>
          <a:stretch>
            <a:fillRect/>
          </a:stretch>
        </p:blipFill>
        <p:spPr>
          <a:xfrm>
            <a:off x="6291072" y="3867912"/>
            <a:ext cx="5340096" cy="2240279"/>
          </a:xfrm>
          <a:prstGeom prst="rect">
            <a:avLst/>
          </a:prstGeom>
        </p:spPr>
      </p:pic>
      <p:sp>
        <p:nvSpPr>
          <p:cNvPr id="16" name="TextBox 15"/>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Curva de Pulldown Térmico: Descenso de 42°C a 4°C en 54 minutos (NOM-251)</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6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06</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ELECTRÓNICO 5: MATRIZ DE POTENCIA 6X6 Y SUPRESIÓN DE BACK-EMF</a:t>
            </a:r>
          </a:p>
          <a:p>
            <a:r>
              <a:rPr sz="950">
                <a:solidFill>
                  <a:srgbClr val="94A3B8"/>
                </a:solidFill>
                <a:latin typeface="Calibri"/>
              </a:rPr>
              <a:t>Diseño de PCB en EasyEDA, multiplexación de 36 motores y aislamiento galvánico de 2500 V</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POTENCIA • FRANCISCO REYES SANTIAGO</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3862425"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DESARROLLO DE ELECTRÓNICA DE POTENCIA EN EASYEDA</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10B981"/>
                </a:solidFill>
                <a:latin typeface="Calibri"/>
              </a:rPr>
              <a:t>12 Cables </a:t>
            </a:r>
            <a:r>
              <a:rPr sz="1050">
                <a:solidFill>
                  <a:srgbClr val="94A3B8"/>
                </a:solidFill>
                <a:latin typeface="Calibri"/>
              </a:rPr>
              <a:t>vs 72 Cables Convencionales</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Ahorro de 72 a 12 Cables y Aislamiento por Optoacopladores</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Responsable de Subsistema: </a:t>
            </a:r>
            <a:r>
              <a:rPr sz="880">
                <a:solidFill>
                  <a:srgbClr val="F1F5F9"/>
                </a:solidFill>
                <a:latin typeface="Calibri"/>
              </a:rPr>
              <a:t>Francisco Reyes Santiago (Mat. 1768161 - IEA).</a:t>
            </a:r>
          </a:p>
          <a:p>
            <a:pPr>
              <a:spcBef>
                <a:spcPts val="250"/>
              </a:spcBef>
              <a:spcAft>
                <a:spcPts val="200"/>
              </a:spcAft>
            </a:pPr>
            <a:r>
              <a:rPr sz="900" b="1">
                <a:solidFill>
                  <a:srgbClr val="06B6D4"/>
                </a:solidFill>
                <a:latin typeface="Calibri"/>
              </a:rPr>
              <a:t>El Reto Eléctrico: </a:t>
            </a:r>
            <a:r>
              <a:rPr sz="880">
                <a:solidFill>
                  <a:srgbClr val="F1F5F9"/>
                </a:solidFill>
                <a:latin typeface="Calibri"/>
              </a:rPr>
              <a:t>Cablear 36 motores de forma individual requeriría 72 conductores gruesos atravesando las bandejas móviles, causando fallas por fatiga y cortocircuitos.</a:t>
            </a:r>
          </a:p>
          <a:p>
            <a:pPr>
              <a:spcBef>
                <a:spcPts val="250"/>
              </a:spcBef>
              <a:spcAft>
                <a:spcPts val="200"/>
              </a:spcAft>
            </a:pPr>
            <a:r>
              <a:rPr sz="900" b="1">
                <a:solidFill>
                  <a:srgbClr val="06B6D4"/>
                </a:solidFill>
                <a:latin typeface="Calibri"/>
              </a:rPr>
              <a:t>Multiplexación Matricial 6x6: </a:t>
            </a:r>
            <a:r>
              <a:rPr sz="880">
                <a:solidFill>
                  <a:srgbClr val="F1F5F9"/>
                </a:solidFill>
                <a:latin typeface="Calibri"/>
              </a:rPr>
              <a:t>Control de 36 motores mediante 6 columnas de 24V y 6 filas de GND (solo 12 líneas de arnés, reducción de 83% en cableado).</a:t>
            </a:r>
          </a:p>
          <a:p>
            <a:pPr>
              <a:spcBef>
                <a:spcPts val="250"/>
              </a:spcBef>
              <a:spcAft>
                <a:spcPts val="200"/>
              </a:spcAft>
            </a:pPr>
            <a:r>
              <a:rPr sz="900" b="1">
                <a:solidFill>
                  <a:srgbClr val="06B6D4"/>
                </a:solidFill>
                <a:latin typeface="Calibri"/>
              </a:rPr>
              <a:t>El Problema del Back-EMF: </a:t>
            </a:r>
            <a:r>
              <a:rPr sz="880">
                <a:solidFill>
                  <a:srgbClr val="F1F5F9"/>
                </a:solidFill>
                <a:latin typeface="Calibri"/>
              </a:rPr>
              <a:t>Desconectar motores inductivos generaba picos destructivos de hasta 48V que reseteaban el microcontrolador en pruebas iniciales.</a:t>
            </a:r>
          </a:p>
          <a:p>
            <a:pPr>
              <a:spcBef>
                <a:spcPts val="250"/>
              </a:spcBef>
              <a:spcAft>
                <a:spcPts val="200"/>
              </a:spcAft>
            </a:pPr>
            <a:r>
              <a:rPr sz="900" b="1">
                <a:solidFill>
                  <a:srgbClr val="06B6D4"/>
                </a:solidFill>
                <a:latin typeface="Calibri"/>
              </a:rPr>
              <a:t>Solución en PCB EasyEDA: </a:t>
            </a:r>
            <a:r>
              <a:rPr sz="880">
                <a:solidFill>
                  <a:srgbClr val="F1F5F9"/>
                </a:solidFill>
                <a:latin typeface="Calibri"/>
              </a:rPr>
              <a:t>Drivers High-Side con P-MOSFETs IRF9540, drivers Low-Side con N-MOSFETs IRLZ44N y optoacopladores PC817C (aislamiento de 2,500 V RMS).</a:t>
            </a:r>
          </a:p>
          <a:p>
            <a:pPr>
              <a:spcBef>
                <a:spcPts val="250"/>
              </a:spcBef>
              <a:spcAft>
                <a:spcPts val="200"/>
              </a:spcAft>
            </a:pPr>
            <a:r>
              <a:rPr sz="900" b="1">
                <a:solidFill>
                  <a:srgbClr val="06B6D4"/>
                </a:solidFill>
                <a:latin typeface="Calibri"/>
              </a:rPr>
              <a:t>Diodos de Libre Rueda: </a:t>
            </a:r>
            <a:r>
              <a:rPr sz="880">
                <a:solidFill>
                  <a:srgbClr val="F1F5F9"/>
                </a:solidFill>
                <a:latin typeface="Calibri"/>
              </a:rPr>
              <a:t>Diodos rápidos 1N4007 en antiparalelo que recortan el pico inductivo a 24.51 V seguros bajo norma IPC-2221B.</a:t>
            </a:r>
          </a:p>
        </p:txBody>
      </p:sp>
      <p:sp>
        <p:nvSpPr>
          <p:cNvPr id="11" name="Rounded Rectangle 10"/>
          <p:cNvSpPr/>
          <p:nvPr/>
        </p:nvSpPr>
        <p:spPr>
          <a:xfrm>
            <a:off x="6217920" y="1188720"/>
            <a:ext cx="5486400" cy="2514600"/>
          </a:xfrm>
          <a:prstGeom prst="roundRect">
            <a:avLst>
              <a:gd name="adj" fmla="val 40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g18_EasyEDA_Esquematico_General_Electronica_Potencia_Matriz_6x6.png"/>
          <p:cNvPicPr>
            <a:picLocks noChangeAspect="1"/>
          </p:cNvPicPr>
          <p:nvPr/>
        </p:nvPicPr>
        <p:blipFill>
          <a:blip r:embed="rId3"/>
          <a:stretch>
            <a:fillRect/>
          </a:stretch>
        </p:blipFill>
        <p:spPr>
          <a:xfrm>
            <a:off x="6291072" y="1261872"/>
            <a:ext cx="5340096" cy="2194560"/>
          </a:xfrm>
          <a:prstGeom prst="rect">
            <a:avLst/>
          </a:prstGeom>
        </p:spPr>
      </p:pic>
      <p:sp>
        <p:nvSpPr>
          <p:cNvPr id="13" name="TextBox 12"/>
          <p:cNvSpPr txBox="1"/>
          <p:nvPr/>
        </p:nvSpPr>
        <p:spPr>
          <a:xfrm>
            <a:off x="6291072" y="3456432"/>
            <a:ext cx="5340096" cy="274320"/>
          </a:xfrm>
          <a:prstGeom prst="rect">
            <a:avLst/>
          </a:prstGeom>
          <a:noFill/>
        </p:spPr>
        <p:txBody>
          <a:bodyPr wrap="none">
            <a:spAutoFit/>
          </a:bodyPr>
          <a:lstStyle/>
          <a:p>
            <a:pPr algn="ctr"/>
            <a:r>
              <a:rPr sz="800" b="1">
                <a:solidFill>
                  <a:srgbClr val="94A3B8"/>
                </a:solidFill>
                <a:latin typeface="Calibri"/>
              </a:rPr>
              <a:t>Esquemático General de Etapa de Potencia y Conmutación 6x6 en EasyEDA</a:t>
            </a:r>
          </a:p>
        </p:txBody>
      </p:sp>
      <p:sp>
        <p:nvSpPr>
          <p:cNvPr id="14" name="Rounded Rectangle 13"/>
          <p:cNvSpPr/>
          <p:nvPr/>
        </p:nvSpPr>
        <p:spPr>
          <a:xfrm>
            <a:off x="6217920" y="3794760"/>
            <a:ext cx="5486400" cy="256032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_transitorio_mosfet_flyback.png"/>
          <p:cNvPicPr>
            <a:picLocks noChangeAspect="1"/>
          </p:cNvPicPr>
          <p:nvPr/>
        </p:nvPicPr>
        <p:blipFill>
          <a:blip r:embed="rId4"/>
          <a:stretch>
            <a:fillRect/>
          </a:stretch>
        </p:blipFill>
        <p:spPr>
          <a:xfrm>
            <a:off x="6291072" y="3867912"/>
            <a:ext cx="5340096" cy="2240279"/>
          </a:xfrm>
          <a:prstGeom prst="rect">
            <a:avLst/>
          </a:prstGeom>
        </p:spPr>
      </p:pic>
      <p:sp>
        <p:nvSpPr>
          <p:cNvPr id="16" name="TextBox 15"/>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Osciloscopio: Supresión del Transitorio Back-EMF de 48V a 24.51V con 1N4007</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7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6B6D4"/>
                </a:solidFill>
                <a:latin typeface="Calibri"/>
              </a:rPr>
              <a:t>07</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DE CONTROL 6: FIRMWARE ESP32 FREERTOS Y SIMULACIÓN EN WOKWI</a:t>
            </a:r>
          </a:p>
          <a:p>
            <a:r>
              <a:rPr sz="950">
                <a:solidFill>
                  <a:srgbClr val="94A3B8"/>
                </a:solidFill>
                <a:latin typeface="Calibri"/>
              </a:rPr>
              <a:t>Máquina de estados no bloqueante, cortina infrarroja (1.22 ms) y emulación completa de 36 salidas</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06B6D4"/>
                </a:solidFill>
                <a:latin typeface="Calibri"/>
              </a:rPr>
              <a:t>CONTROL &amp; FIRMWARE • SAMUEL TOVAR MÚJICA</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2494483" cy="274320"/>
          </a:xfrm>
          <a:prstGeom prst="roundRect">
            <a:avLst>
              <a:gd name="adj" fmla="val 4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06B6D4"/>
                </a:solidFill>
                <a:latin typeface="Calibri"/>
              </a:rPr>
              <a:t>ARQUITECTURA DE FIRMWARE EN C++</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06B6D4"/>
                </a:solidFill>
                <a:latin typeface="Calibri"/>
              </a:rPr>
              <a:t>1.22 ms </a:t>
            </a:r>
            <a:r>
              <a:rPr sz="1050">
                <a:solidFill>
                  <a:srgbClr val="94A3B8"/>
                </a:solidFill>
                <a:latin typeface="Calibri"/>
              </a:rPr>
              <a:t>Latencia Cortina Infrarroja</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Ejecución Multihilo sobre ESP32 Dual-Core</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Responsable de Subsistema: </a:t>
            </a:r>
            <a:r>
              <a:rPr sz="880">
                <a:solidFill>
                  <a:srgbClr val="F1F5F9"/>
                </a:solidFill>
                <a:latin typeface="Calibri"/>
              </a:rPr>
              <a:t>Samuel Tovar Mújica (Mat. 2077933 - IEA).</a:t>
            </a:r>
          </a:p>
          <a:p>
            <a:pPr>
              <a:spcBef>
                <a:spcPts val="250"/>
              </a:spcBef>
              <a:spcAft>
                <a:spcPts val="200"/>
              </a:spcAft>
            </a:pPr>
            <a:r>
              <a:rPr sz="900" b="1">
                <a:solidFill>
                  <a:srgbClr val="06B6D4"/>
                </a:solidFill>
                <a:latin typeface="Calibri"/>
              </a:rPr>
              <a:t>El Reto: </a:t>
            </a:r>
            <a:r>
              <a:rPr sz="880">
                <a:solidFill>
                  <a:srgbClr val="F1F5F9"/>
                </a:solidFill>
                <a:latin typeface="Calibri"/>
              </a:rPr>
              <a:t>Atender la interfaz de usuario, procesar cobros QR, accionar motores de 24V y leer sensores de temperatura sin pausas ni cuelgues del procesador.</a:t>
            </a:r>
          </a:p>
          <a:p>
            <a:pPr>
              <a:spcBef>
                <a:spcPts val="250"/>
              </a:spcBef>
              <a:spcAft>
                <a:spcPts val="200"/>
              </a:spcAft>
            </a:pPr>
            <a:r>
              <a:rPr sz="900" b="1">
                <a:solidFill>
                  <a:srgbClr val="06B6D4"/>
                </a:solidFill>
                <a:latin typeface="Calibri"/>
              </a:rPr>
              <a:t>Solución FreeRTOS: </a:t>
            </a:r>
            <a:r>
              <a:rPr sz="880">
                <a:solidFill>
                  <a:srgbClr val="F1F5F9"/>
                </a:solidFill>
                <a:latin typeface="Calibri"/>
              </a:rPr>
              <a:t>Core 0 gestiona la comunicación serial UART bidireccional (115200 baudios) y máquina de estados finitos (FSM). Core 1 atiende en tiempo real los sensores y motores.</a:t>
            </a:r>
          </a:p>
          <a:p>
            <a:pPr>
              <a:spcBef>
                <a:spcPts val="250"/>
              </a:spcBef>
              <a:spcAft>
                <a:spcPts val="200"/>
              </a:spcAft>
            </a:pPr>
            <a:r>
              <a:rPr sz="900" b="1">
                <a:solidFill>
                  <a:srgbClr val="06B6D4"/>
                </a:solidFill>
                <a:latin typeface="Calibri"/>
              </a:rPr>
              <a:t>Cortina Infrarroja (IR) de Caída: </a:t>
            </a:r>
            <a:r>
              <a:rPr sz="880">
                <a:solidFill>
                  <a:srgbClr val="F1F5F9"/>
                </a:solidFill>
                <a:latin typeface="Calibri"/>
              </a:rPr>
              <a:t>Arreglo de fotodiodos IR en el canal de caída que detecta la interrupción del haz en 1.22 ms. Apaga el motorreductor de inmediato para no maltratar el empaque.</a:t>
            </a:r>
          </a:p>
          <a:p>
            <a:pPr>
              <a:spcBef>
                <a:spcPts val="250"/>
              </a:spcBef>
              <a:spcAft>
                <a:spcPts val="200"/>
              </a:spcAft>
            </a:pPr>
            <a:r>
              <a:rPr sz="900" b="1">
                <a:solidFill>
                  <a:srgbClr val="06B6D4"/>
                </a:solidFill>
                <a:latin typeface="Calibri"/>
              </a:rPr>
              <a:t>Algoritmo Anti-Atasco: </a:t>
            </a:r>
            <a:r>
              <a:rPr sz="880">
                <a:solidFill>
                  <a:srgbClr val="F1F5F9"/>
                </a:solidFill>
                <a:latin typeface="Calibri"/>
              </a:rPr>
              <a:t>Si tras un giro de 360° no se detecta caída, el firmware aplica automáticamente un pulso de desbloqueo de 90° o notifica falla.</a:t>
            </a:r>
          </a:p>
          <a:p>
            <a:pPr>
              <a:spcBef>
                <a:spcPts val="250"/>
              </a:spcBef>
              <a:spcAft>
                <a:spcPts val="200"/>
              </a:spcAft>
            </a:pPr>
            <a:r>
              <a:rPr sz="900" b="1">
                <a:solidFill>
                  <a:srgbClr val="06B6D4"/>
                </a:solidFill>
                <a:latin typeface="Calibri"/>
              </a:rPr>
              <a:t>Validación en Wokwi / VS Code: </a:t>
            </a:r>
            <a:r>
              <a:rPr sz="880">
                <a:solidFill>
                  <a:srgbClr val="F1F5F9"/>
                </a:solidFill>
                <a:latin typeface="Calibri"/>
              </a:rPr>
              <a:t>Simulación de la matriz completa con 36 LEDs y cronometraje de conmutación.</a:t>
            </a:r>
          </a:p>
        </p:txBody>
      </p:sp>
      <p:sp>
        <p:nvSpPr>
          <p:cNvPr id="11" name="Rounded Rectangle 10"/>
          <p:cNvSpPr/>
          <p:nvPr/>
        </p:nvSpPr>
        <p:spPr>
          <a:xfrm>
            <a:off x="6217920" y="1188720"/>
            <a:ext cx="5486400" cy="251460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g07_ExpendeX_Wokwi_VSCode_Despacho_Paso1_Comida_A6.png"/>
          <p:cNvPicPr>
            <a:picLocks noChangeAspect="1"/>
          </p:cNvPicPr>
          <p:nvPr/>
        </p:nvPicPr>
        <p:blipFill>
          <a:blip r:embed="rId3"/>
          <a:stretch>
            <a:fillRect/>
          </a:stretch>
        </p:blipFill>
        <p:spPr>
          <a:xfrm>
            <a:off x="6291072" y="1261872"/>
            <a:ext cx="5340096" cy="2194560"/>
          </a:xfrm>
          <a:prstGeom prst="rect">
            <a:avLst/>
          </a:prstGeom>
        </p:spPr>
      </p:pic>
      <p:sp>
        <p:nvSpPr>
          <p:cNvPr id="13" name="TextBox 12"/>
          <p:cNvSpPr txBox="1"/>
          <p:nvPr/>
        </p:nvSpPr>
        <p:spPr>
          <a:xfrm>
            <a:off x="6291072" y="3456432"/>
            <a:ext cx="5340096" cy="274320"/>
          </a:xfrm>
          <a:prstGeom prst="rect">
            <a:avLst/>
          </a:prstGeom>
          <a:noFill/>
        </p:spPr>
        <p:txBody>
          <a:bodyPr wrap="none">
            <a:spAutoFit/>
          </a:bodyPr>
          <a:lstStyle/>
          <a:p>
            <a:pPr algn="ctr"/>
            <a:r>
              <a:rPr sz="800" b="1">
                <a:solidFill>
                  <a:srgbClr val="94A3B8"/>
                </a:solidFill>
                <a:latin typeface="Calibri"/>
              </a:rPr>
              <a:t>Simulación Wokwi: Despacho Concurrente en Tiempo Real (Canales A6 y C2)</a:t>
            </a:r>
          </a:p>
        </p:txBody>
      </p:sp>
      <p:sp>
        <p:nvSpPr>
          <p:cNvPr id="14" name="Rounded Rectangle 13"/>
          <p:cNvSpPr/>
          <p:nvPr/>
        </p:nvSpPr>
        <p:spPr>
          <a:xfrm>
            <a:off x="6217920" y="3794760"/>
            <a:ext cx="5486400" cy="2560320"/>
          </a:xfrm>
          <a:prstGeom prst="roundRect">
            <a:avLst>
              <a:gd name="adj" fmla="val 40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creenshot_VSCode_Wokwi_Matriz_36_LEDs.png"/>
          <p:cNvPicPr>
            <a:picLocks noChangeAspect="1"/>
          </p:cNvPicPr>
          <p:nvPr/>
        </p:nvPicPr>
        <p:blipFill>
          <a:blip r:embed="rId4"/>
          <a:stretch>
            <a:fillRect/>
          </a:stretch>
        </p:blipFill>
        <p:spPr>
          <a:xfrm>
            <a:off x="6291072" y="3867912"/>
            <a:ext cx="5340096" cy="2240279"/>
          </a:xfrm>
          <a:prstGeom prst="rect">
            <a:avLst/>
          </a:prstGeom>
        </p:spPr>
      </p:pic>
      <p:sp>
        <p:nvSpPr>
          <p:cNvPr id="16" name="TextBox 15"/>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Banco Virtual VS Code + PlatformIO: Matriz 6x6 Emulada con 36 LEDs</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8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08</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DE SOFTWARE 7: PLATAFORMA WEB DUAL Y PROTOCOLO DE 14 HORAS</a:t>
            </a:r>
          </a:p>
          <a:p>
            <a:r>
              <a:rPr sz="950">
                <a:solidFill>
                  <a:srgbClr val="94A3B8"/>
                </a:solidFill>
                <a:latin typeface="Calibri"/>
              </a:rPr>
              <a:t>Frontend en React para quiosco 10.1", backend Node.js SQLite y regla microbiológica de bloqueo</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WEB &amp; HMI • EMILIANO SÁNCHEZ MARTÍNEZ</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2977286"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DESARROLLO WEB: QUIOSCO + PANEL ADMIN</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F43F5E"/>
                </a:solidFill>
                <a:latin typeface="Calibri"/>
              </a:rPr>
              <a:t>14 Horas </a:t>
            </a:r>
            <a:r>
              <a:rPr sz="1050">
                <a:solidFill>
                  <a:srgbClr val="94A3B8"/>
                </a:solidFill>
                <a:latin typeface="Calibri"/>
              </a:rPr>
              <a:t>Vigencia Máxima / Bloqueo RTC</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Garantía de Inocuidad y Telemetría en Tiempo Real</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Responsable de Subsistema: </a:t>
            </a:r>
            <a:r>
              <a:rPr sz="880">
                <a:solidFill>
                  <a:srgbClr val="F1F5F9"/>
                </a:solidFill>
                <a:latin typeface="Calibri"/>
              </a:rPr>
              <a:t>Emiliano Sánchez Martínez (Mat. 2012856 - IEA).</a:t>
            </a:r>
          </a:p>
          <a:p>
            <a:pPr>
              <a:spcBef>
                <a:spcPts val="250"/>
              </a:spcBef>
              <a:spcAft>
                <a:spcPts val="200"/>
              </a:spcAft>
            </a:pPr>
            <a:r>
              <a:rPr sz="900" b="1">
                <a:solidFill>
                  <a:srgbClr val="06B6D4"/>
                </a:solidFill>
                <a:latin typeface="Calibri"/>
              </a:rPr>
              <a:t>Quiosco Táctil (React / Vite): </a:t>
            </a:r>
            <a:r>
              <a:rPr sz="880">
                <a:solidFill>
                  <a:srgbClr val="F1F5F9"/>
                </a:solidFill>
                <a:latin typeface="Calibri"/>
              </a:rPr>
              <a:t>Diseñado específicamente para la pantalla de 10.1 pulgadas. Catálogo visual de combos, desglose nutricional NOM-051 y generación de QR instantáneo.</a:t>
            </a:r>
          </a:p>
          <a:p>
            <a:pPr>
              <a:spcBef>
                <a:spcPts val="250"/>
              </a:spcBef>
              <a:spcAft>
                <a:spcPts val="200"/>
              </a:spcAft>
            </a:pPr>
            <a:r>
              <a:rPr sz="900" b="1">
                <a:solidFill>
                  <a:srgbClr val="06B6D4"/>
                </a:solidFill>
                <a:latin typeface="Calibri"/>
              </a:rPr>
              <a:t>Backend Local (Node.js / Express): </a:t>
            </a:r>
            <a:r>
              <a:rPr sz="880">
                <a:solidFill>
                  <a:srgbClr val="F1F5F9"/>
                </a:solidFill>
                <a:latin typeface="Calibri"/>
              </a:rPr>
              <a:t>Embebido en Raspberry Pi 4. Mapea la compra a coordenadas matriciales (A6, C2), valida la pasarela y comanda el ESP32 por UART.</a:t>
            </a:r>
          </a:p>
          <a:p>
            <a:pPr>
              <a:spcBef>
                <a:spcPts val="250"/>
              </a:spcBef>
              <a:spcAft>
                <a:spcPts val="200"/>
              </a:spcAft>
            </a:pPr>
            <a:r>
              <a:rPr sz="900" b="1">
                <a:solidFill>
                  <a:srgbClr val="06B6D4"/>
                </a:solidFill>
                <a:latin typeface="Calibri"/>
              </a:rPr>
              <a:t>Base de Datos SQLite Local: </a:t>
            </a:r>
            <a:r>
              <a:rPr sz="880">
                <a:solidFill>
                  <a:srgbClr val="F1F5F9"/>
                </a:solidFill>
                <a:latin typeface="Calibri"/>
              </a:rPr>
              <a:t>Almacena órdenes, inventario FIFO y lecturas de temperatura sin depender de internet continuo.</a:t>
            </a:r>
          </a:p>
          <a:p>
            <a:pPr>
              <a:spcBef>
                <a:spcPts val="250"/>
              </a:spcBef>
              <a:spcAft>
                <a:spcPts val="200"/>
              </a:spcAft>
            </a:pPr>
            <a:r>
              <a:rPr sz="900" b="1">
                <a:solidFill>
                  <a:srgbClr val="06B6D4"/>
                </a:solidFill>
                <a:latin typeface="Calibri"/>
              </a:rPr>
              <a:t>Protocolo Estricto de 14 Horas: </a:t>
            </a:r>
            <a:r>
              <a:rPr sz="880">
                <a:solidFill>
                  <a:srgbClr val="F1F5F9"/>
                </a:solidFill>
                <a:latin typeface="Calibri"/>
              </a:rPr>
              <a:t>El reloj RTC registra la hora de ingreso de cada platillo (06:00 AM). Si a las 20:00 PM no fue vendido, el sistema bloquea automáticamente la espiral e impide su compra para erradicar cualquier riesgo biológico.</a:t>
            </a:r>
          </a:p>
        </p:txBody>
      </p:sp>
      <p:sp>
        <p:nvSpPr>
          <p:cNvPr id="11" name="Rounded Rectangle 10"/>
          <p:cNvSpPr/>
          <p:nvPr/>
        </p:nvSpPr>
        <p:spPr>
          <a:xfrm>
            <a:off x="6217920" y="1188720"/>
            <a:ext cx="5486400" cy="251460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g03_ExpendeX_Kiosco_10pulg_Catalogo_Combos.png"/>
          <p:cNvPicPr>
            <a:picLocks noChangeAspect="1"/>
          </p:cNvPicPr>
          <p:nvPr/>
        </p:nvPicPr>
        <p:blipFill>
          <a:blip r:embed="rId3"/>
          <a:stretch>
            <a:fillRect/>
          </a:stretch>
        </p:blipFill>
        <p:spPr>
          <a:xfrm>
            <a:off x="6291072" y="1261872"/>
            <a:ext cx="5340096" cy="2194560"/>
          </a:xfrm>
          <a:prstGeom prst="rect">
            <a:avLst/>
          </a:prstGeom>
        </p:spPr>
      </p:pic>
      <p:sp>
        <p:nvSpPr>
          <p:cNvPr id="13" name="TextBox 12"/>
          <p:cNvSpPr txBox="1"/>
          <p:nvPr/>
        </p:nvSpPr>
        <p:spPr>
          <a:xfrm>
            <a:off x="6291072" y="3456432"/>
            <a:ext cx="5340096" cy="274320"/>
          </a:xfrm>
          <a:prstGeom prst="rect">
            <a:avLst/>
          </a:prstGeom>
          <a:noFill/>
        </p:spPr>
        <p:txBody>
          <a:bodyPr wrap="none">
            <a:spAutoFit/>
          </a:bodyPr>
          <a:lstStyle/>
          <a:p>
            <a:pPr algn="ctr"/>
            <a:r>
              <a:rPr sz="800" b="1">
                <a:solidFill>
                  <a:srgbClr val="94A3B8"/>
                </a:solidFill>
                <a:latin typeface="Calibri"/>
              </a:rPr>
              <a:t>Interfaz del Cliente: Catálogo de Combos y Desglose Nutricional NOM-051</a:t>
            </a:r>
          </a:p>
        </p:txBody>
      </p:sp>
      <p:sp>
        <p:nvSpPr>
          <p:cNvPr id="14" name="Rounded Rectangle 13"/>
          <p:cNvSpPr/>
          <p:nvPr/>
        </p:nvSpPr>
        <p:spPr>
          <a:xfrm>
            <a:off x="6217920" y="3794760"/>
            <a:ext cx="5486400" cy="2560320"/>
          </a:xfrm>
          <a:prstGeom prst="roundRect">
            <a:avLst>
              <a:gd name="adj" fmla="val 40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g01_ExpendeX_Admin_KPIs_Financieros_60Dias.png"/>
          <p:cNvPicPr>
            <a:picLocks noChangeAspect="1"/>
          </p:cNvPicPr>
          <p:nvPr/>
        </p:nvPicPr>
        <p:blipFill>
          <a:blip r:embed="rId4"/>
          <a:stretch>
            <a:fillRect/>
          </a:stretch>
        </p:blipFill>
        <p:spPr>
          <a:xfrm>
            <a:off x="6291072" y="3867912"/>
            <a:ext cx="5340096" cy="2240279"/>
          </a:xfrm>
          <a:prstGeom prst="rect">
            <a:avLst/>
          </a:prstGeom>
        </p:spPr>
      </p:pic>
      <p:sp>
        <p:nvSpPr>
          <p:cNvPr id="16" name="TextBox 15"/>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Panel del Dueño (/admin): Telemetría en Tiempo Real y Control FIFO de Tolvas</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9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59E0B"/>
                </a:solidFill>
                <a:latin typeface="Calibri"/>
              </a:rPr>
              <a:t>09</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RETO MECÁNICO 8: COMPUERTA BASCULANTE ANTIRROBO Y AMORTIGUACIÓN</a:t>
            </a:r>
          </a:p>
          <a:p>
            <a:r>
              <a:rPr sz="950">
                <a:solidFill>
                  <a:srgbClr val="94A3B8"/>
                </a:solidFill>
                <a:latin typeface="Calibri"/>
              </a:rPr>
              <a:t>Mecanismo oscilante con deflector interior anti-vandalismo y rampa de impacto amortiguada</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F59E0B"/>
                </a:solidFill>
                <a:latin typeface="Calibri"/>
              </a:rPr>
              <a:t>MECÁNICA • SAMUEL TOVAR MÚJICA</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2333548" cy="274320"/>
          </a:xfrm>
          <a:prstGeom prst="roundRect">
            <a:avLst>
              <a:gd name="adj" fmla="val 45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59E0B"/>
                </a:solidFill>
                <a:latin typeface="Calibri"/>
              </a:rPr>
              <a:t>PROTECCIÓN MECÁNICA DE RETIRO</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F59E0B"/>
                </a:solidFill>
                <a:latin typeface="Calibri"/>
              </a:rPr>
              <a:t>Calibre 18 </a:t>
            </a:r>
            <a:r>
              <a:rPr sz="1050">
                <a:solidFill>
                  <a:srgbClr val="94A3B8"/>
                </a:solidFill>
                <a:latin typeface="Calibri"/>
              </a:rPr>
              <a:t>Chapa de Acero de Compuerta</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Seguridad contra Vandalismo y Hurto</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El Reto: </a:t>
            </a:r>
            <a:r>
              <a:rPr sz="880">
                <a:solidFill>
                  <a:srgbClr val="F1F5F9"/>
                </a:solidFill>
                <a:latin typeface="Calibri"/>
              </a:rPr>
              <a:t>En espacios universitarios abiertos, las máquinas vending sufren intentos de robo metiendo la mano o palanqueando la bandeja de entrega.</a:t>
            </a:r>
          </a:p>
          <a:p>
            <a:pPr>
              <a:spcBef>
                <a:spcPts val="250"/>
              </a:spcBef>
              <a:spcAft>
                <a:spcPts val="200"/>
              </a:spcAft>
            </a:pPr>
            <a:r>
              <a:rPr sz="900" b="1">
                <a:solidFill>
                  <a:srgbClr val="06B6D4"/>
                </a:solidFill>
                <a:latin typeface="Calibri"/>
              </a:rPr>
              <a:t>Compuerta Basculante Tipo Trampa: </a:t>
            </a:r>
            <a:r>
              <a:rPr sz="880">
                <a:solidFill>
                  <a:srgbClr val="F1F5F9"/>
                </a:solidFill>
                <a:latin typeface="Calibri"/>
              </a:rPr>
              <a:t>Diseñada en chapa de acero calibre 18 sin manija exterior. Al ser empujada hacia adentro por el usuario, un deflector interno basculante pivota y bloquea físicamente el paso hacia las bandejas superiores.</a:t>
            </a:r>
          </a:p>
          <a:p>
            <a:pPr>
              <a:spcBef>
                <a:spcPts val="250"/>
              </a:spcBef>
              <a:spcAft>
                <a:spcPts val="200"/>
              </a:spcAft>
            </a:pPr>
            <a:r>
              <a:rPr sz="900" b="1">
                <a:solidFill>
                  <a:srgbClr val="06B6D4"/>
                </a:solidFill>
                <a:latin typeface="Calibri"/>
              </a:rPr>
              <a:t>Cierre por Gravedad y Resorte: </a:t>
            </a:r>
            <a:r>
              <a:rPr sz="880">
                <a:solidFill>
                  <a:srgbClr val="F1F5F9"/>
                </a:solidFill>
                <a:latin typeface="Calibri"/>
              </a:rPr>
              <a:t>Retorno automático sellado que preserva la temperatura de la cámara fría.</a:t>
            </a:r>
          </a:p>
          <a:p>
            <a:pPr>
              <a:spcBef>
                <a:spcPts val="250"/>
              </a:spcBef>
              <a:spcAft>
                <a:spcPts val="200"/>
              </a:spcAft>
            </a:pPr>
            <a:r>
              <a:rPr sz="900" b="1">
                <a:solidFill>
                  <a:srgbClr val="06B6D4"/>
                </a:solidFill>
                <a:latin typeface="Calibri"/>
              </a:rPr>
              <a:t>Rampa Amortiguada a 30°: </a:t>
            </a:r>
            <a:r>
              <a:rPr sz="880">
                <a:solidFill>
                  <a:srgbClr val="F1F5F9"/>
                </a:solidFill>
                <a:latin typeface="Calibri"/>
              </a:rPr>
              <a:t>Recubierta con elastómero grado alimenticio que disipa la energía cinética de caída de recipientes de 850 g sin derramar alimentos.</a:t>
            </a:r>
          </a:p>
          <a:p>
            <a:pPr>
              <a:spcBef>
                <a:spcPts val="250"/>
              </a:spcBef>
              <a:spcAft>
                <a:spcPts val="200"/>
              </a:spcAft>
            </a:pPr>
            <a:r>
              <a:rPr sz="900" b="1">
                <a:solidFill>
                  <a:srgbClr val="06B6D4"/>
                </a:solidFill>
                <a:latin typeface="Calibri"/>
              </a:rPr>
              <a:t>Rejilla Inferior de Ventilación: </a:t>
            </a:r>
            <a:r>
              <a:rPr sz="880">
                <a:solidFill>
                  <a:srgbClr val="F1F5F9"/>
                </a:solidFill>
                <a:latin typeface="Calibri"/>
              </a:rPr>
              <a:t>Permite flujo de aire frío hacia el condensador Embraco manteniendo el filtro limpio.</a:t>
            </a:r>
          </a:p>
        </p:txBody>
      </p:sp>
      <p:sp>
        <p:nvSpPr>
          <p:cNvPr id="11" name="Rounded Rectangle 10"/>
          <p:cNvSpPr/>
          <p:nvPr/>
        </p:nvSpPr>
        <p:spPr>
          <a:xfrm>
            <a:off x="6217920" y="1188720"/>
            <a:ext cx="5486400" cy="2514600"/>
          </a:xfrm>
          <a:prstGeom prst="roundRect">
            <a:avLst>
              <a:gd name="adj" fmla="val 40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g12_CAD_Fusion360_Compuerta_Inferior_Rejilla_Ventilacion_Ruedas.png"/>
          <p:cNvPicPr>
            <a:picLocks noChangeAspect="1"/>
          </p:cNvPicPr>
          <p:nvPr/>
        </p:nvPicPr>
        <p:blipFill>
          <a:blip r:embed="rId3"/>
          <a:stretch>
            <a:fillRect/>
          </a:stretch>
        </p:blipFill>
        <p:spPr>
          <a:xfrm>
            <a:off x="6291072" y="1261872"/>
            <a:ext cx="5340096" cy="2194560"/>
          </a:xfrm>
          <a:prstGeom prst="rect">
            <a:avLst/>
          </a:prstGeom>
        </p:spPr>
      </p:pic>
      <p:sp>
        <p:nvSpPr>
          <p:cNvPr id="13" name="TextBox 12"/>
          <p:cNvSpPr txBox="1"/>
          <p:nvPr/>
        </p:nvSpPr>
        <p:spPr>
          <a:xfrm>
            <a:off x="6291072" y="3456432"/>
            <a:ext cx="5340096" cy="274320"/>
          </a:xfrm>
          <a:prstGeom prst="rect">
            <a:avLst/>
          </a:prstGeom>
          <a:noFill/>
        </p:spPr>
        <p:txBody>
          <a:bodyPr wrap="none">
            <a:spAutoFit/>
          </a:bodyPr>
          <a:lstStyle/>
          <a:p>
            <a:pPr algn="ctr"/>
            <a:r>
              <a:rPr sz="800" b="1">
                <a:solidFill>
                  <a:srgbClr val="94A3B8"/>
                </a:solidFill>
                <a:latin typeface="Calibri"/>
              </a:rPr>
              <a:t>Detalle CAD de Compuerta Basculante Inferior y Rejilla de Ventilación</a:t>
            </a:r>
          </a:p>
        </p:txBody>
      </p:sp>
      <p:sp>
        <p:nvSpPr>
          <p:cNvPr id="14" name="Rounded Rectangle 13"/>
          <p:cNvSpPr/>
          <p:nvPr/>
        </p:nvSpPr>
        <p:spPr>
          <a:xfrm>
            <a:off x="6217920" y="3794760"/>
            <a:ext cx="5486400" cy="256032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01_Vista_Frontal_CAD_Final_Expendex.png"/>
          <p:cNvPicPr>
            <a:picLocks noChangeAspect="1"/>
          </p:cNvPicPr>
          <p:nvPr/>
        </p:nvPicPr>
        <p:blipFill>
          <a:blip r:embed="rId4"/>
          <a:stretch>
            <a:fillRect/>
          </a:stretch>
        </p:blipFill>
        <p:spPr>
          <a:xfrm>
            <a:off x="6291072" y="3867912"/>
            <a:ext cx="5340096" cy="2240279"/>
          </a:xfrm>
          <a:prstGeom prst="rect">
            <a:avLst/>
          </a:prstGeom>
        </p:spPr>
      </p:pic>
      <p:sp>
        <p:nvSpPr>
          <p:cNvPr id="16" name="TextBox 15"/>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Vista Frontal CAD: Zona de Retiro y Acceso Ergonómico Libre de Obstáculos</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10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10</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EL CICLO DE OPERACIÓN INTEGRADO: DEL TOQUE AL DESPACHO EN 8-12 SEG</a:t>
            </a:r>
          </a:p>
          <a:p>
            <a:r>
              <a:rPr sz="950">
                <a:solidFill>
                  <a:srgbClr val="94A3B8"/>
                </a:solidFill>
                <a:latin typeface="Calibri"/>
              </a:rPr>
              <a:t>Articulación cronológica fluida entre HMI, pago digital, ESP32, potencia y compuerta</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CICLO INTEGRADO • EQUIPO COMPLETO</a:t>
            </a:r>
          </a:p>
        </p:txBody>
      </p:sp>
      <p:sp>
        <p:nvSpPr>
          <p:cNvPr id="6" name="Rounded Rectangle 5"/>
          <p:cNvSpPr/>
          <p:nvPr/>
        </p:nvSpPr>
        <p:spPr>
          <a:xfrm>
            <a:off x="457200" y="1188720"/>
            <a:ext cx="530352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2816351"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SECUENCIA DE OPERACIÓN CRONOMETRADA</a:t>
            </a:r>
          </a:p>
        </p:txBody>
      </p:sp>
      <p:sp>
        <p:nvSpPr>
          <p:cNvPr id="8" name="TextBox 7"/>
          <p:cNvSpPr txBox="1"/>
          <p:nvPr/>
        </p:nvSpPr>
        <p:spPr>
          <a:xfrm>
            <a:off x="640080" y="1664207"/>
            <a:ext cx="4937759" cy="475488"/>
          </a:xfrm>
          <a:prstGeom prst="rect">
            <a:avLst/>
          </a:prstGeom>
          <a:noFill/>
        </p:spPr>
        <p:txBody>
          <a:bodyPr wrap="none">
            <a:spAutoFit/>
          </a:bodyPr>
          <a:lstStyle/>
          <a:p>
            <a:r>
              <a:rPr sz="2100" b="1">
                <a:solidFill>
                  <a:srgbClr val="10B981"/>
                </a:solidFill>
                <a:latin typeface="Calibri"/>
              </a:rPr>
              <a:t>8 - 12 s </a:t>
            </a:r>
            <a:r>
              <a:rPr sz="1050">
                <a:solidFill>
                  <a:srgbClr val="94A3B8"/>
                </a:solidFill>
                <a:latin typeface="Calibri"/>
              </a:rPr>
              <a:t>Ciclo Completo vs 35 min Cafetería</a:t>
            </a:r>
          </a:p>
        </p:txBody>
      </p:sp>
      <p:sp>
        <p:nvSpPr>
          <p:cNvPr id="9" name="TextBox 8"/>
          <p:cNvSpPr txBox="1"/>
          <p:nvPr/>
        </p:nvSpPr>
        <p:spPr>
          <a:xfrm>
            <a:off x="640080" y="2157984"/>
            <a:ext cx="4937759" cy="347472"/>
          </a:xfrm>
          <a:prstGeom prst="rect">
            <a:avLst/>
          </a:prstGeom>
          <a:noFill/>
        </p:spPr>
        <p:txBody>
          <a:bodyPr wrap="square">
            <a:spAutoFit/>
          </a:bodyPr>
          <a:lstStyle/>
          <a:p>
            <a:r>
              <a:rPr sz="1100" b="1">
                <a:solidFill>
                  <a:srgbClr val="FFFFFF"/>
                </a:solidFill>
                <a:latin typeface="Calibri"/>
              </a:rPr>
              <a:t>Flujo de Despacho en Menos de 15 Segundos</a:t>
            </a:r>
          </a:p>
        </p:txBody>
      </p:sp>
      <p:sp>
        <p:nvSpPr>
          <p:cNvPr id="10" name="TextBox 9"/>
          <p:cNvSpPr txBox="1"/>
          <p:nvPr/>
        </p:nvSpPr>
        <p:spPr>
          <a:xfrm>
            <a:off x="640080" y="2487168"/>
            <a:ext cx="4937759"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T = 0.0 s — Selección Táctil: </a:t>
            </a:r>
            <a:r>
              <a:rPr sz="880">
                <a:solidFill>
                  <a:srgbClr val="F1F5F9"/>
                </a:solidFill>
                <a:latin typeface="Calibri"/>
              </a:rPr>
              <a:t>El usuario toca la pantalla de 10.1", consulta ingredientes NOM-051 y presiona 'Comprar Combo'.</a:t>
            </a:r>
          </a:p>
          <a:p>
            <a:pPr>
              <a:spcBef>
                <a:spcPts val="250"/>
              </a:spcBef>
              <a:spcAft>
                <a:spcPts val="200"/>
              </a:spcAft>
            </a:pPr>
            <a:r>
              <a:rPr sz="900" b="1">
                <a:solidFill>
                  <a:srgbClr val="06B6D4"/>
                </a:solidFill>
                <a:latin typeface="Calibri"/>
              </a:rPr>
              <a:t>T = 2.0 s — Cobro QR Dinámico: </a:t>
            </a:r>
            <a:r>
              <a:rPr sz="880">
                <a:solidFill>
                  <a:srgbClr val="F1F5F9"/>
                </a:solidFill>
                <a:latin typeface="Calibri"/>
              </a:rPr>
              <a:t>Escaneo inmediato con MercadoPago/SPEI y validación en menos de 1.5 s.</a:t>
            </a:r>
          </a:p>
          <a:p>
            <a:pPr>
              <a:spcBef>
                <a:spcPts val="250"/>
              </a:spcBef>
              <a:spcAft>
                <a:spcPts val="200"/>
              </a:spcAft>
            </a:pPr>
            <a:r>
              <a:rPr sz="900" b="1">
                <a:solidFill>
                  <a:srgbClr val="06B6D4"/>
                </a:solidFill>
                <a:latin typeface="Calibri"/>
              </a:rPr>
              <a:t>T = 3.5 s — Trama UART y Disparo Matricial: </a:t>
            </a:r>
            <a:r>
              <a:rPr sz="880">
                <a:solidFill>
                  <a:srgbClr val="F1F5F9"/>
                </a:solidFill>
                <a:latin typeface="Calibri"/>
              </a:rPr>
              <a:t>Raspberry Pi envía coordenadas A6/C2; ESP32 conmuta MOSFETs de 24V.</a:t>
            </a:r>
          </a:p>
          <a:p>
            <a:pPr>
              <a:spcBef>
                <a:spcPts val="250"/>
              </a:spcBef>
              <a:spcAft>
                <a:spcPts val="200"/>
              </a:spcAft>
            </a:pPr>
            <a:r>
              <a:rPr sz="900" b="1">
                <a:solidFill>
                  <a:srgbClr val="06B6D4"/>
                </a:solidFill>
                <a:latin typeface="Calibri"/>
              </a:rPr>
              <a:t>T = 5.0 s — Despacho Comida (Tiempo 1): </a:t>
            </a:r>
            <a:r>
              <a:rPr sz="880">
                <a:solidFill>
                  <a:srgbClr val="F1F5F9"/>
                </a:solidFill>
                <a:latin typeface="Calibri"/>
              </a:rPr>
              <a:t>Espiral de 144 mm gira 360°, liberando el guiso caliente.</a:t>
            </a:r>
          </a:p>
          <a:p>
            <a:pPr>
              <a:spcBef>
                <a:spcPts val="250"/>
              </a:spcBef>
              <a:spcAft>
                <a:spcPts val="200"/>
              </a:spcAft>
            </a:pPr>
            <a:r>
              <a:rPr sz="900" b="1">
                <a:solidFill>
                  <a:srgbClr val="06B6D4"/>
                </a:solidFill>
                <a:latin typeface="Calibri"/>
              </a:rPr>
              <a:t>T = 8.5 s — Despacho Bebida (Tiempo 2): </a:t>
            </a:r>
            <a:r>
              <a:rPr sz="880">
                <a:solidFill>
                  <a:srgbClr val="F1F5F9"/>
                </a:solidFill>
                <a:latin typeface="Calibri"/>
              </a:rPr>
              <a:t>Espiral de 70 mm gira 360°, dispensando el refresco frío.</a:t>
            </a:r>
          </a:p>
          <a:p>
            <a:pPr>
              <a:spcBef>
                <a:spcPts val="250"/>
              </a:spcBef>
              <a:spcAft>
                <a:spcPts val="200"/>
              </a:spcAft>
            </a:pPr>
            <a:r>
              <a:rPr sz="900" b="1">
                <a:solidFill>
                  <a:srgbClr val="06B6D4"/>
                </a:solidFill>
                <a:latin typeface="Calibri"/>
              </a:rPr>
              <a:t>T = 9.8 s — Detección IR y Retiro: </a:t>
            </a:r>
            <a:r>
              <a:rPr sz="880">
                <a:solidFill>
                  <a:srgbClr val="F1F5F9"/>
                </a:solidFill>
                <a:latin typeface="Calibri"/>
              </a:rPr>
              <a:t>Cortina infrarroja valida caída; usuario retira alimentos por la compuerta.</a:t>
            </a:r>
          </a:p>
          <a:p>
            <a:pPr>
              <a:spcBef>
                <a:spcPts val="250"/>
              </a:spcBef>
              <a:spcAft>
                <a:spcPts val="200"/>
              </a:spcAft>
            </a:pPr>
            <a:r>
              <a:rPr sz="900" b="1">
                <a:solidFill>
                  <a:srgbClr val="06B6D4"/>
                </a:solidFill>
                <a:latin typeface="Calibri"/>
              </a:rPr>
              <a:t>T = 11.0 s — Actualización FIFO: </a:t>
            </a:r>
            <a:r>
              <a:rPr sz="880">
                <a:solidFill>
                  <a:srgbClr val="F1F5F9"/>
                </a:solidFill>
                <a:latin typeface="Calibri"/>
              </a:rPr>
              <a:t>La base de datos SQLite descuenta stock y envía telemetría.</a:t>
            </a:r>
          </a:p>
        </p:txBody>
      </p:sp>
      <p:sp>
        <p:nvSpPr>
          <p:cNvPr id="11" name="Rounded Rectangle 10"/>
          <p:cNvSpPr/>
          <p:nvPr/>
        </p:nvSpPr>
        <p:spPr>
          <a:xfrm>
            <a:off x="5989320" y="1188720"/>
            <a:ext cx="5715000" cy="251460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g04_ExpendeX_Kiosco_10pulg_Modal_Pago_QR_MercadoPago_Combo2.png"/>
          <p:cNvPicPr>
            <a:picLocks noChangeAspect="1"/>
          </p:cNvPicPr>
          <p:nvPr/>
        </p:nvPicPr>
        <p:blipFill>
          <a:blip r:embed="rId3"/>
          <a:stretch>
            <a:fillRect/>
          </a:stretch>
        </p:blipFill>
        <p:spPr>
          <a:xfrm>
            <a:off x="6062472" y="1261872"/>
            <a:ext cx="5568696" cy="2194560"/>
          </a:xfrm>
          <a:prstGeom prst="rect">
            <a:avLst/>
          </a:prstGeom>
        </p:spPr>
      </p:pic>
      <p:sp>
        <p:nvSpPr>
          <p:cNvPr id="13" name="TextBox 12"/>
          <p:cNvSpPr txBox="1"/>
          <p:nvPr/>
        </p:nvSpPr>
        <p:spPr>
          <a:xfrm>
            <a:off x="6062472" y="3456432"/>
            <a:ext cx="5568696" cy="274320"/>
          </a:xfrm>
          <a:prstGeom prst="rect">
            <a:avLst/>
          </a:prstGeom>
          <a:noFill/>
        </p:spPr>
        <p:txBody>
          <a:bodyPr wrap="none">
            <a:spAutoFit/>
          </a:bodyPr>
          <a:lstStyle/>
          <a:p>
            <a:pPr algn="ctr"/>
            <a:r>
              <a:rPr sz="800" b="1">
                <a:solidFill>
                  <a:srgbClr val="94A3B8"/>
                </a:solidFill>
                <a:latin typeface="Calibri"/>
              </a:rPr>
              <a:t>Paso 1: Selección Táctil en Quiosco 10.1" y Validación de Cobro QR Mercado Pago</a:t>
            </a:r>
          </a:p>
        </p:txBody>
      </p:sp>
      <p:sp>
        <p:nvSpPr>
          <p:cNvPr id="14" name="Rounded Rectangle 13"/>
          <p:cNvSpPr/>
          <p:nvPr/>
        </p:nvSpPr>
        <p:spPr>
          <a:xfrm>
            <a:off x="5989320" y="3794760"/>
            <a:ext cx="5715000" cy="2560320"/>
          </a:xfrm>
          <a:prstGeom prst="roundRect">
            <a:avLst>
              <a:gd name="adj" fmla="val 40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g07_ExpendeX_Wokwi_VSCode_Despacho_Paso1_Comida_A6.png"/>
          <p:cNvPicPr>
            <a:picLocks noChangeAspect="1"/>
          </p:cNvPicPr>
          <p:nvPr/>
        </p:nvPicPr>
        <p:blipFill>
          <a:blip r:embed="rId4"/>
          <a:stretch>
            <a:fillRect/>
          </a:stretch>
        </p:blipFill>
        <p:spPr>
          <a:xfrm>
            <a:off x="6062472" y="3867912"/>
            <a:ext cx="5568696" cy="2240279"/>
          </a:xfrm>
          <a:prstGeom prst="rect">
            <a:avLst/>
          </a:prstGeom>
        </p:spPr>
      </p:pic>
      <p:sp>
        <p:nvSpPr>
          <p:cNvPr id="16" name="TextBox 15"/>
          <p:cNvSpPr txBox="1"/>
          <p:nvPr/>
        </p:nvSpPr>
        <p:spPr>
          <a:xfrm>
            <a:off x="6062472" y="6108192"/>
            <a:ext cx="5568696" cy="274320"/>
          </a:xfrm>
          <a:prstGeom prst="rect">
            <a:avLst/>
          </a:prstGeom>
          <a:noFill/>
        </p:spPr>
        <p:txBody>
          <a:bodyPr wrap="none">
            <a:spAutoFit/>
          </a:bodyPr>
          <a:lstStyle/>
          <a:p>
            <a:pPr algn="ctr"/>
            <a:r>
              <a:rPr sz="800" b="1">
                <a:solidFill>
                  <a:srgbClr val="94A3B8"/>
                </a:solidFill>
                <a:latin typeface="Calibri"/>
              </a:rPr>
              <a:t>Pasos 2 y 3: Conmutación de Matriz 24V y Caída Verificada por Cortina IR</a:t>
            </a:r>
          </a:p>
        </p:txBody>
      </p:sp>
      <p:sp>
        <p:nvSpPr>
          <p:cNvPr id="17" name="Rectangle 16"/>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9" name="TextBox 18"/>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11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11</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COSTOS DE FABRICACIÓN Y BOM INDUSTRIAL DETALLADO ($46,463.12 MXN)</a:t>
            </a:r>
          </a:p>
          <a:p>
            <a:r>
              <a:rPr sz="950">
                <a:solidFill>
                  <a:srgbClr val="94A3B8"/>
                </a:solidFill>
                <a:latin typeface="Calibri"/>
              </a:rPr>
              <a:t>Desglose de inversión física fidedigno extraído de la memoria de cálculo del PIA</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BOM INDUSTRIAL • CONTROL DE COSTOS</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645795">
                <a:tc>
                  <a:txBody>
                    <a:bodyPr/>
                    <a:lstStyle/>
                    <a:p>
                      <a:pPr algn="ctr"/>
                      <a:r>
                        <a:rPr sz="950" b="1">
                          <a:solidFill>
                            <a:srgbClr val="06B6D4"/>
                          </a:solidFill>
                          <a:latin typeface="Calibri"/>
                        </a:rPr>
                        <a:t>Subsistema Mecatrónico</a:t>
                      </a:r>
                    </a:p>
                  </a:txBody>
                  <a:tcPr>
                    <a:solidFill>
                      <a:srgbClr val="131F37"/>
                    </a:solidFill>
                  </a:tcPr>
                </a:tc>
                <a:tc>
                  <a:txBody>
                    <a:bodyPr/>
                    <a:lstStyle/>
                    <a:p>
                      <a:pPr algn="ctr"/>
                      <a:r>
                        <a:rPr sz="950" b="1">
                          <a:solidFill>
                            <a:srgbClr val="06B6D4"/>
                          </a:solidFill>
                          <a:latin typeface="Calibri"/>
                        </a:rPr>
                        <a:t>Componentes Principales</a:t>
                      </a:r>
                    </a:p>
                  </a:txBody>
                  <a:tcPr>
                    <a:solidFill>
                      <a:srgbClr val="131F37"/>
                    </a:solidFill>
                  </a:tcPr>
                </a:tc>
                <a:tc>
                  <a:txBody>
                    <a:bodyPr/>
                    <a:lstStyle/>
                    <a:p>
                      <a:pPr algn="ctr"/>
                      <a:r>
                        <a:rPr sz="950" b="1">
                          <a:solidFill>
                            <a:srgbClr val="06B6D4"/>
                          </a:solidFill>
                          <a:latin typeface="Calibri"/>
                        </a:rPr>
                        <a:t>Costo MXN</a:t>
                      </a:r>
                    </a:p>
                  </a:txBody>
                  <a:tcPr>
                    <a:solidFill>
                      <a:srgbClr val="131F37"/>
                    </a:solidFill>
                  </a:tcPr>
                </a:tc>
                <a:tc>
                  <a:txBody>
                    <a:bodyPr/>
                    <a:lstStyle/>
                    <a:p>
                      <a:pPr algn="ctr"/>
                      <a:r>
                        <a:rPr sz="950" b="1">
                          <a:solidFill>
                            <a:srgbClr val="06B6D4"/>
                          </a:solidFill>
                          <a:latin typeface="Calibri"/>
                        </a:rPr>
                        <a:t>% Total</a:t>
                      </a:r>
                    </a:p>
                  </a:txBody>
                  <a:tcPr>
                    <a:solidFill>
                      <a:srgbClr val="131F37"/>
                    </a:solidFill>
                  </a:tcPr>
                </a:tc>
                <a:extLst>
                  <a:ext uri="{0D108BD9-81ED-4DB2-BD59-A6C34878D82A}">
                    <a16:rowId xmlns:a16="http://schemas.microsoft.com/office/drawing/2014/main" val="10000"/>
                  </a:ext>
                </a:extLst>
              </a:tr>
              <a:tr h="645795">
                <a:tc>
                  <a:txBody>
                    <a:bodyPr/>
                    <a:lstStyle/>
                    <a:p>
                      <a:pPr algn="l"/>
                      <a:r>
                        <a:rPr sz="900" b="1">
                          <a:solidFill>
                            <a:srgbClr val="F1F5F9"/>
                          </a:solidFill>
                          <a:latin typeface="Calibri"/>
                        </a:rPr>
                        <a:t>Estructura y Chasis</a:t>
                      </a:r>
                    </a:p>
                  </a:txBody>
                  <a:tcPr>
                    <a:solidFill>
                      <a:srgbClr val="0B0F19"/>
                    </a:solidFill>
                  </a:tcPr>
                </a:tc>
                <a:tc>
                  <a:txBody>
                    <a:bodyPr/>
                    <a:lstStyle/>
                    <a:p>
                      <a:pPr algn="l"/>
                      <a:r>
                        <a:rPr sz="900" b="0">
                          <a:solidFill>
                            <a:srgbClr val="F1F5F9"/>
                          </a:solidFill>
                          <a:latin typeface="Calibri"/>
                        </a:rPr>
                        <a:t>Chapa acero Cal. 16/18, perfiles 40x40, corte láser, pintura electrostática</a:t>
                      </a:r>
                    </a:p>
                  </a:txBody>
                  <a:tcPr>
                    <a:solidFill>
                      <a:srgbClr val="0B0F19"/>
                    </a:solidFill>
                  </a:tcPr>
                </a:tc>
                <a:tc>
                  <a:txBody>
                    <a:bodyPr/>
                    <a:lstStyle/>
                    <a:p>
                      <a:pPr algn="ctr"/>
                      <a:r>
                        <a:rPr sz="900" b="0">
                          <a:solidFill>
                            <a:srgbClr val="F1F5F9"/>
                          </a:solidFill>
                          <a:latin typeface="Calibri"/>
                        </a:rPr>
                        <a:t>$14,250.00</a:t>
                      </a:r>
                    </a:p>
                  </a:txBody>
                  <a:tcPr>
                    <a:solidFill>
                      <a:srgbClr val="0B0F19"/>
                    </a:solidFill>
                  </a:tcPr>
                </a:tc>
                <a:tc>
                  <a:txBody>
                    <a:bodyPr/>
                    <a:lstStyle/>
                    <a:p>
                      <a:pPr algn="ctr"/>
                      <a:r>
                        <a:rPr sz="900" b="0">
                          <a:solidFill>
                            <a:srgbClr val="F1F5F9"/>
                          </a:solidFill>
                          <a:latin typeface="Calibri"/>
                        </a:rPr>
                        <a:t>30.7%</a:t>
                      </a:r>
                    </a:p>
                  </a:txBody>
                  <a:tcPr>
                    <a:solidFill>
                      <a:srgbClr val="0B0F19"/>
                    </a:solidFill>
                  </a:tcPr>
                </a:tc>
                <a:extLst>
                  <a:ext uri="{0D108BD9-81ED-4DB2-BD59-A6C34878D82A}">
                    <a16:rowId xmlns:a16="http://schemas.microsoft.com/office/drawing/2014/main" val="10001"/>
                  </a:ext>
                </a:extLst>
              </a:tr>
              <a:tr h="645795">
                <a:tc>
                  <a:txBody>
                    <a:bodyPr/>
                    <a:lstStyle/>
                    <a:p>
                      <a:pPr algn="l"/>
                      <a:r>
                        <a:rPr sz="900" b="1">
                          <a:solidFill>
                            <a:srgbClr val="F1F5F9"/>
                          </a:solidFill>
                          <a:latin typeface="Calibri"/>
                        </a:rPr>
                        <a:t>Sistema de Refrigeración</a:t>
                      </a:r>
                    </a:p>
                  </a:txBody>
                  <a:tcPr>
                    <a:solidFill>
                      <a:srgbClr val="0B0F19"/>
                    </a:solidFill>
                  </a:tcPr>
                </a:tc>
                <a:tc>
                  <a:txBody>
                    <a:bodyPr/>
                    <a:lstStyle/>
                    <a:p>
                      <a:pPr algn="l"/>
                      <a:r>
                        <a:rPr sz="900" b="0">
                          <a:solidFill>
                            <a:srgbClr val="F1F5F9"/>
                          </a:solidFill>
                          <a:latin typeface="Calibri"/>
                        </a:rPr>
                        <a:t>Compresor Embraco 1/5 HP R134a, evaporador, condensador, termostato digital</a:t>
                      </a:r>
                    </a:p>
                  </a:txBody>
                  <a:tcPr>
                    <a:solidFill>
                      <a:srgbClr val="0B0F19"/>
                    </a:solidFill>
                  </a:tcPr>
                </a:tc>
                <a:tc>
                  <a:txBody>
                    <a:bodyPr/>
                    <a:lstStyle/>
                    <a:p>
                      <a:pPr algn="ctr"/>
                      <a:r>
                        <a:rPr sz="900" b="0">
                          <a:solidFill>
                            <a:srgbClr val="F1F5F9"/>
                          </a:solidFill>
                          <a:latin typeface="Calibri"/>
                        </a:rPr>
                        <a:t>$9,800.00</a:t>
                      </a:r>
                    </a:p>
                  </a:txBody>
                  <a:tcPr>
                    <a:solidFill>
                      <a:srgbClr val="0B0F19"/>
                    </a:solidFill>
                  </a:tcPr>
                </a:tc>
                <a:tc>
                  <a:txBody>
                    <a:bodyPr/>
                    <a:lstStyle/>
                    <a:p>
                      <a:pPr algn="ctr"/>
                      <a:r>
                        <a:rPr sz="900" b="0">
                          <a:solidFill>
                            <a:srgbClr val="F1F5F9"/>
                          </a:solidFill>
                          <a:latin typeface="Calibri"/>
                        </a:rPr>
                        <a:t>21.1%</a:t>
                      </a:r>
                    </a:p>
                  </a:txBody>
                  <a:tcPr>
                    <a:solidFill>
                      <a:srgbClr val="0B0F19"/>
                    </a:solidFill>
                  </a:tcPr>
                </a:tc>
                <a:extLst>
                  <a:ext uri="{0D108BD9-81ED-4DB2-BD59-A6C34878D82A}">
                    <a16:rowId xmlns:a16="http://schemas.microsoft.com/office/drawing/2014/main" val="10002"/>
                  </a:ext>
                </a:extLst>
              </a:tr>
              <a:tr h="645795">
                <a:tc>
                  <a:txBody>
                    <a:bodyPr/>
                    <a:lstStyle/>
                    <a:p>
                      <a:pPr algn="l"/>
                      <a:r>
                        <a:rPr sz="900" b="1">
                          <a:solidFill>
                            <a:srgbClr val="F1F5F9"/>
                          </a:solidFill>
                          <a:latin typeface="Calibri"/>
                        </a:rPr>
                        <a:t>Mecanismos de Despacho</a:t>
                      </a:r>
                    </a:p>
                  </a:txBody>
                  <a:tcPr>
                    <a:solidFill>
                      <a:srgbClr val="0B0F19"/>
                    </a:solidFill>
                  </a:tcPr>
                </a:tc>
                <a:tc>
                  <a:txBody>
                    <a:bodyPr/>
                    <a:lstStyle/>
                    <a:p>
                      <a:pPr algn="l"/>
                      <a:r>
                        <a:rPr sz="900" b="0">
                          <a:solidFill>
                            <a:srgbClr val="F1F5F9"/>
                          </a:solidFill>
                          <a:latin typeface="Calibri"/>
                        </a:rPr>
                        <a:t>36 motorreductores 24V DC, 12 espirales Ø 144 mm, 24 espirales Ø 70 mm</a:t>
                      </a:r>
                    </a:p>
                  </a:txBody>
                  <a:tcPr>
                    <a:solidFill>
                      <a:srgbClr val="0B0F19"/>
                    </a:solidFill>
                  </a:tcPr>
                </a:tc>
                <a:tc>
                  <a:txBody>
                    <a:bodyPr/>
                    <a:lstStyle/>
                    <a:p>
                      <a:pPr algn="ctr"/>
                      <a:r>
                        <a:rPr sz="900" b="0">
                          <a:solidFill>
                            <a:srgbClr val="F1F5F9"/>
                          </a:solidFill>
                          <a:latin typeface="Calibri"/>
                        </a:rPr>
                        <a:t>$8,950.00</a:t>
                      </a:r>
                    </a:p>
                  </a:txBody>
                  <a:tcPr>
                    <a:solidFill>
                      <a:srgbClr val="0B0F19"/>
                    </a:solidFill>
                  </a:tcPr>
                </a:tc>
                <a:tc>
                  <a:txBody>
                    <a:bodyPr/>
                    <a:lstStyle/>
                    <a:p>
                      <a:pPr algn="ctr"/>
                      <a:r>
                        <a:rPr sz="900" b="0">
                          <a:solidFill>
                            <a:srgbClr val="F1F5F9"/>
                          </a:solidFill>
                          <a:latin typeface="Calibri"/>
                        </a:rPr>
                        <a:t>19.3%</a:t>
                      </a:r>
                    </a:p>
                  </a:txBody>
                  <a:tcPr>
                    <a:solidFill>
                      <a:srgbClr val="0B0F19"/>
                    </a:solidFill>
                  </a:tcPr>
                </a:tc>
                <a:extLst>
                  <a:ext uri="{0D108BD9-81ED-4DB2-BD59-A6C34878D82A}">
                    <a16:rowId xmlns:a16="http://schemas.microsoft.com/office/drawing/2014/main" val="10003"/>
                  </a:ext>
                </a:extLst>
              </a:tr>
              <a:tr h="645795">
                <a:tc>
                  <a:txBody>
                    <a:bodyPr/>
                    <a:lstStyle/>
                    <a:p>
                      <a:pPr algn="l"/>
                      <a:r>
                        <a:rPr sz="900" b="1">
                          <a:solidFill>
                            <a:srgbClr val="F1F5F9"/>
                          </a:solidFill>
                          <a:latin typeface="Calibri"/>
                        </a:rPr>
                        <a:t>HMI, Cómputo y Sensores</a:t>
                      </a:r>
                    </a:p>
                  </a:txBody>
                  <a:tcPr>
                    <a:solidFill>
                      <a:srgbClr val="0B0F19"/>
                    </a:solidFill>
                  </a:tcPr>
                </a:tc>
                <a:tc>
                  <a:txBody>
                    <a:bodyPr/>
                    <a:lstStyle/>
                    <a:p>
                      <a:pPr algn="l"/>
                      <a:r>
                        <a:rPr sz="900" b="0">
                          <a:solidFill>
                            <a:srgbClr val="F1F5F9"/>
                          </a:solidFill>
                          <a:latin typeface="Calibri"/>
                        </a:rPr>
                        <a:t>Pantalla táctil 10.1" HDMI, Raspberry Pi 4 4GB, cortina óptica IR, RTC DS3231</a:t>
                      </a:r>
                    </a:p>
                  </a:txBody>
                  <a:tcPr>
                    <a:solidFill>
                      <a:srgbClr val="0B0F19"/>
                    </a:solidFill>
                  </a:tcPr>
                </a:tc>
                <a:tc>
                  <a:txBody>
                    <a:bodyPr/>
                    <a:lstStyle/>
                    <a:p>
                      <a:pPr algn="ctr"/>
                      <a:r>
                        <a:rPr sz="900" b="0">
                          <a:solidFill>
                            <a:srgbClr val="F1F5F9"/>
                          </a:solidFill>
                          <a:latin typeface="Calibri"/>
                        </a:rPr>
                        <a:t>$7,150.00</a:t>
                      </a:r>
                    </a:p>
                  </a:txBody>
                  <a:tcPr>
                    <a:solidFill>
                      <a:srgbClr val="0B0F19"/>
                    </a:solidFill>
                  </a:tcPr>
                </a:tc>
                <a:tc>
                  <a:txBody>
                    <a:bodyPr/>
                    <a:lstStyle/>
                    <a:p>
                      <a:pPr algn="ctr"/>
                      <a:r>
                        <a:rPr sz="900" b="0">
                          <a:solidFill>
                            <a:srgbClr val="F1F5F9"/>
                          </a:solidFill>
                          <a:latin typeface="Calibri"/>
                        </a:rPr>
                        <a:t>15.4%</a:t>
                      </a:r>
                    </a:p>
                  </a:txBody>
                  <a:tcPr>
                    <a:solidFill>
                      <a:srgbClr val="0B0F19"/>
                    </a:solidFill>
                  </a:tcPr>
                </a:tc>
                <a:extLst>
                  <a:ext uri="{0D108BD9-81ED-4DB2-BD59-A6C34878D82A}">
                    <a16:rowId xmlns:a16="http://schemas.microsoft.com/office/drawing/2014/main" val="10004"/>
                  </a:ext>
                </a:extLst>
              </a:tr>
              <a:tr h="645795">
                <a:tc>
                  <a:txBody>
                    <a:bodyPr/>
                    <a:lstStyle/>
                    <a:p>
                      <a:pPr algn="l"/>
                      <a:r>
                        <a:rPr sz="900" b="1">
                          <a:solidFill>
                            <a:srgbClr val="F1F5F9"/>
                          </a:solidFill>
                          <a:latin typeface="Calibri"/>
                        </a:rPr>
                        <a:t>Electrónica de Potencia</a:t>
                      </a:r>
                    </a:p>
                  </a:txBody>
                  <a:tcPr>
                    <a:solidFill>
                      <a:srgbClr val="0B0F19"/>
                    </a:solidFill>
                  </a:tcPr>
                </a:tc>
                <a:tc>
                  <a:txBody>
                    <a:bodyPr/>
                    <a:lstStyle/>
                    <a:p>
                      <a:pPr algn="l"/>
                      <a:r>
                        <a:rPr sz="900" b="0">
                          <a:solidFill>
                            <a:srgbClr val="F1F5F9"/>
                          </a:solidFill>
                          <a:latin typeface="Calibri"/>
                        </a:rPr>
                        <a:t>PCB matriz MOSFET 6x6, fuente industrial 24V/5V, ESP32, relevadores</a:t>
                      </a:r>
                    </a:p>
                  </a:txBody>
                  <a:tcPr>
                    <a:solidFill>
                      <a:srgbClr val="0B0F19"/>
                    </a:solidFill>
                  </a:tcPr>
                </a:tc>
                <a:tc>
                  <a:txBody>
                    <a:bodyPr/>
                    <a:lstStyle/>
                    <a:p>
                      <a:pPr algn="ctr"/>
                      <a:r>
                        <a:rPr sz="900" b="0">
                          <a:solidFill>
                            <a:srgbClr val="F1F5F9"/>
                          </a:solidFill>
                          <a:latin typeface="Calibri"/>
                        </a:rPr>
                        <a:t>$4,120.00</a:t>
                      </a:r>
                    </a:p>
                  </a:txBody>
                  <a:tcPr>
                    <a:solidFill>
                      <a:srgbClr val="0B0F19"/>
                    </a:solidFill>
                  </a:tcPr>
                </a:tc>
                <a:tc>
                  <a:txBody>
                    <a:bodyPr/>
                    <a:lstStyle/>
                    <a:p>
                      <a:pPr algn="ctr"/>
                      <a:r>
                        <a:rPr sz="900" b="0">
                          <a:solidFill>
                            <a:srgbClr val="F1F5F9"/>
                          </a:solidFill>
                          <a:latin typeface="Calibri"/>
                        </a:rPr>
                        <a:t>8.9%</a:t>
                      </a:r>
                    </a:p>
                  </a:txBody>
                  <a:tcPr>
                    <a:solidFill>
                      <a:srgbClr val="0B0F19"/>
                    </a:solidFill>
                  </a:tcPr>
                </a:tc>
                <a:extLst>
                  <a:ext uri="{0D108BD9-81ED-4DB2-BD59-A6C34878D82A}">
                    <a16:rowId xmlns:a16="http://schemas.microsoft.com/office/drawing/2014/main" val="10005"/>
                  </a:ext>
                </a:extLst>
              </a:tr>
              <a:tr h="645795">
                <a:tc>
                  <a:txBody>
                    <a:bodyPr/>
                    <a:lstStyle/>
                    <a:p>
                      <a:pPr algn="l"/>
                      <a:r>
                        <a:rPr sz="900" b="1">
                          <a:solidFill>
                            <a:srgbClr val="F1F5F9"/>
                          </a:solidFill>
                          <a:latin typeface="Calibri"/>
                        </a:rPr>
                        <a:t>Tornillería y Ensamble</a:t>
                      </a:r>
                    </a:p>
                  </a:txBody>
                  <a:tcPr>
                    <a:solidFill>
                      <a:srgbClr val="0B0F19"/>
                    </a:solidFill>
                  </a:tcPr>
                </a:tc>
                <a:tc>
                  <a:txBody>
                    <a:bodyPr/>
                    <a:lstStyle/>
                    <a:p>
                      <a:pPr algn="l"/>
                      <a:r>
                        <a:rPr sz="900" b="0">
                          <a:solidFill>
                            <a:srgbClr val="F1F5F9"/>
                          </a:solidFill>
                          <a:latin typeface="Calibri"/>
                        </a:rPr>
                        <a:t>Arneses automotrices, empaques magnéticos, herrajes de seguridad</a:t>
                      </a:r>
                    </a:p>
                  </a:txBody>
                  <a:tcPr>
                    <a:solidFill>
                      <a:srgbClr val="0B0F19"/>
                    </a:solidFill>
                  </a:tcPr>
                </a:tc>
                <a:tc>
                  <a:txBody>
                    <a:bodyPr/>
                    <a:lstStyle/>
                    <a:p>
                      <a:pPr algn="ctr"/>
                      <a:r>
                        <a:rPr sz="900" b="0">
                          <a:solidFill>
                            <a:srgbClr val="F1F5F9"/>
                          </a:solidFill>
                          <a:latin typeface="Calibri"/>
                        </a:rPr>
                        <a:t>$2,193.12</a:t>
                      </a:r>
                    </a:p>
                  </a:txBody>
                  <a:tcPr>
                    <a:solidFill>
                      <a:srgbClr val="0B0F19"/>
                    </a:solidFill>
                  </a:tcPr>
                </a:tc>
                <a:tc>
                  <a:txBody>
                    <a:bodyPr/>
                    <a:lstStyle/>
                    <a:p>
                      <a:pPr algn="ctr"/>
                      <a:r>
                        <a:rPr sz="900" b="0">
                          <a:solidFill>
                            <a:srgbClr val="F1F5F9"/>
                          </a:solidFill>
                          <a:latin typeface="Calibri"/>
                        </a:rPr>
                        <a:t>4.7%</a:t>
                      </a:r>
                    </a:p>
                  </a:txBody>
                  <a:tcPr>
                    <a:solidFill>
                      <a:srgbClr val="0B0F19"/>
                    </a:solidFill>
                  </a:tcPr>
                </a:tc>
                <a:extLst>
                  <a:ext uri="{0D108BD9-81ED-4DB2-BD59-A6C34878D82A}">
                    <a16:rowId xmlns:a16="http://schemas.microsoft.com/office/drawing/2014/main" val="10006"/>
                  </a:ext>
                </a:extLst>
              </a:tr>
              <a:tr h="645795">
                <a:tc>
                  <a:txBody>
                    <a:bodyPr/>
                    <a:lstStyle/>
                    <a:p>
                      <a:pPr algn="l"/>
                      <a:r>
                        <a:rPr sz="900" b="1">
                          <a:solidFill>
                            <a:srgbClr val="10B981"/>
                          </a:solidFill>
                          <a:latin typeface="Calibri"/>
                        </a:rPr>
                        <a:t>TOTAL BOM FABRICACIÓN</a:t>
                      </a:r>
                    </a:p>
                  </a:txBody>
                  <a:tcPr>
                    <a:solidFill>
                      <a:srgbClr val="1A2A4A"/>
                    </a:solidFill>
                  </a:tcPr>
                </a:tc>
                <a:tc>
                  <a:txBody>
                    <a:bodyPr/>
                    <a:lstStyle/>
                    <a:p>
                      <a:pPr algn="l"/>
                      <a:r>
                        <a:rPr sz="900" b="1">
                          <a:solidFill>
                            <a:srgbClr val="10B981"/>
                          </a:solidFill>
                          <a:latin typeface="Calibri"/>
                        </a:rPr>
                        <a:t>Unidad ExpendeX 100% Funcional y Lista para Despliegue</a:t>
                      </a:r>
                    </a:p>
                  </a:txBody>
                  <a:tcPr>
                    <a:solidFill>
                      <a:srgbClr val="1A2A4A"/>
                    </a:solidFill>
                  </a:tcPr>
                </a:tc>
                <a:tc>
                  <a:txBody>
                    <a:bodyPr/>
                    <a:lstStyle/>
                    <a:p>
                      <a:pPr algn="ctr"/>
                      <a:r>
                        <a:rPr sz="900" b="1">
                          <a:solidFill>
                            <a:srgbClr val="10B981"/>
                          </a:solidFill>
                          <a:latin typeface="Calibri"/>
                        </a:rPr>
                        <a:t>$46,463.12</a:t>
                      </a:r>
                    </a:p>
                  </a:txBody>
                  <a:tcPr>
                    <a:solidFill>
                      <a:srgbClr val="1A2A4A"/>
                    </a:solidFill>
                  </a:tcPr>
                </a:tc>
                <a:tc>
                  <a:txBody>
                    <a:bodyPr/>
                    <a:lstStyle/>
                    <a:p>
                      <a:pPr algn="ctr"/>
                      <a:r>
                        <a:rPr sz="900" b="1">
                          <a:solidFill>
                            <a:srgbClr val="10B981"/>
                          </a:solidFill>
                          <a:latin typeface="Calibri"/>
                        </a:rPr>
                        <a:t>100.0%</a:t>
                      </a:r>
                    </a:p>
                  </a:txBody>
                  <a:tcPr>
                    <a:solidFill>
                      <a:srgbClr val="1A2A4A"/>
                    </a:solidFill>
                  </a:tcPr>
                </a:tc>
                <a:extLst>
                  <a:ext uri="{0D108BD9-81ED-4DB2-BD59-A6C34878D82A}">
                    <a16:rowId xmlns:a16="http://schemas.microsoft.com/office/drawing/2014/main" val="10007"/>
                  </a:ext>
                </a:extLst>
              </a:tr>
            </a:tbl>
          </a:graphicData>
        </a:graphic>
      </p:graphicFrame>
      <p:sp>
        <p:nvSpPr>
          <p:cNvPr id="7" name="Rounded Rectangle 6"/>
          <p:cNvSpPr/>
          <p:nvPr/>
        </p:nvSpPr>
        <p:spPr>
          <a:xfrm>
            <a:off x="7498079" y="1188720"/>
            <a:ext cx="420624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680959" y="1335024"/>
            <a:ext cx="1828800" cy="274320"/>
          </a:xfrm>
          <a:prstGeom prst="roundRect">
            <a:avLst>
              <a:gd name="adj" fmla="val 4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06B6D4"/>
                </a:solidFill>
                <a:latin typeface="Calibri"/>
              </a:rPr>
              <a:t>DISRUPCIÓN EN COSTOS</a:t>
            </a:r>
          </a:p>
        </p:txBody>
      </p:sp>
      <p:sp>
        <p:nvSpPr>
          <p:cNvPr id="9" name="TextBox 8"/>
          <p:cNvSpPr txBox="1"/>
          <p:nvPr/>
        </p:nvSpPr>
        <p:spPr>
          <a:xfrm>
            <a:off x="7680959" y="1664207"/>
            <a:ext cx="3840479" cy="475488"/>
          </a:xfrm>
          <a:prstGeom prst="rect">
            <a:avLst/>
          </a:prstGeom>
          <a:noFill/>
        </p:spPr>
        <p:txBody>
          <a:bodyPr wrap="none">
            <a:spAutoFit/>
          </a:bodyPr>
          <a:lstStyle/>
          <a:p>
            <a:r>
              <a:rPr sz="2100" b="1">
                <a:solidFill>
                  <a:srgbClr val="06B6D4"/>
                </a:solidFill>
                <a:latin typeface="Calibri"/>
              </a:rPr>
              <a:t>$46,463 </a:t>
            </a:r>
            <a:r>
              <a:rPr sz="1050">
                <a:solidFill>
                  <a:srgbClr val="94A3B8"/>
                </a:solidFill>
                <a:latin typeface="Calibri"/>
              </a:rPr>
              <a:t>MXN (BOM Industrial Real)</a:t>
            </a:r>
          </a:p>
        </p:txBody>
      </p:sp>
      <p:sp>
        <p:nvSpPr>
          <p:cNvPr id="10" name="TextBox 9"/>
          <p:cNvSpPr txBox="1"/>
          <p:nvPr/>
        </p:nvSpPr>
        <p:spPr>
          <a:xfrm>
            <a:off x="7680959" y="2157984"/>
            <a:ext cx="3840479" cy="347472"/>
          </a:xfrm>
          <a:prstGeom prst="rect">
            <a:avLst/>
          </a:prstGeom>
          <a:noFill/>
        </p:spPr>
        <p:txBody>
          <a:bodyPr wrap="square">
            <a:spAutoFit/>
          </a:bodyPr>
          <a:lstStyle/>
          <a:p>
            <a:r>
              <a:rPr sz="1100" b="1">
                <a:solidFill>
                  <a:srgbClr val="FFFFFF"/>
                </a:solidFill>
                <a:latin typeface="Calibri"/>
              </a:rPr>
              <a:t>Ventaja de Manufactura Nacional</a:t>
            </a:r>
          </a:p>
        </p:txBody>
      </p:sp>
      <p:sp>
        <p:nvSpPr>
          <p:cNvPr id="11" name="TextBox 10"/>
          <p:cNvSpPr txBox="1"/>
          <p:nvPr/>
        </p:nvSpPr>
        <p:spPr>
          <a:xfrm>
            <a:off x="7680959" y="2487168"/>
            <a:ext cx="3840479"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Costo Directo Real: </a:t>
            </a:r>
            <a:r>
              <a:rPr sz="880">
                <a:solidFill>
                  <a:srgbClr val="F1F5F9"/>
                </a:solidFill>
                <a:latin typeface="Calibri"/>
              </a:rPr>
              <a:t>Fabricar la máquina con ingeniería local cuesta $46,463.12 MXN exactos.</a:t>
            </a:r>
          </a:p>
          <a:p>
            <a:pPr>
              <a:spcBef>
                <a:spcPts val="250"/>
              </a:spcBef>
              <a:spcAft>
                <a:spcPts val="200"/>
              </a:spcAft>
            </a:pPr>
            <a:r>
              <a:rPr sz="900" b="1">
                <a:solidFill>
                  <a:srgbClr val="06B6D4"/>
                </a:solidFill>
                <a:latin typeface="Calibri"/>
              </a:rPr>
              <a:t>Comparativa Importada: </a:t>
            </a:r>
            <a:r>
              <a:rPr sz="880">
                <a:solidFill>
                  <a:srgbClr val="F1F5F9"/>
                </a:solidFill>
                <a:latin typeface="Calibri"/>
              </a:rPr>
              <a:t>Importar un equipo similar con pantalla táctil y refrigeración supera los $180,000 MXN en México.</a:t>
            </a:r>
          </a:p>
          <a:p>
            <a:pPr>
              <a:spcBef>
                <a:spcPts val="250"/>
              </a:spcBef>
              <a:spcAft>
                <a:spcPts val="200"/>
              </a:spcAft>
            </a:pPr>
            <a:r>
              <a:rPr sz="900" b="1">
                <a:solidFill>
                  <a:srgbClr val="06B6D4"/>
                </a:solidFill>
                <a:latin typeface="Calibri"/>
              </a:rPr>
              <a:t>Multiplicador 3.9x: </a:t>
            </a:r>
            <a:r>
              <a:rPr sz="880">
                <a:solidFill>
                  <a:srgbClr val="F1F5F9"/>
                </a:solidFill>
                <a:latin typeface="Calibri"/>
              </a:rPr>
              <a:t>Con la misma inversión de 1 sola máquina importada, se construyen casi 4 unidades ExpendeX completas.</a:t>
            </a:r>
          </a:p>
          <a:p>
            <a:pPr>
              <a:spcBef>
                <a:spcPts val="250"/>
              </a:spcBef>
              <a:spcAft>
                <a:spcPts val="200"/>
              </a:spcAft>
            </a:pPr>
            <a:r>
              <a:rPr sz="900" b="1">
                <a:solidFill>
                  <a:srgbClr val="06B6D4"/>
                </a:solidFill>
                <a:latin typeface="Calibri"/>
              </a:rPr>
              <a:t>Disponibilidad de Refacciones: </a:t>
            </a:r>
            <a:r>
              <a:rPr sz="880">
                <a:solidFill>
                  <a:srgbClr val="F1F5F9"/>
                </a:solidFill>
                <a:latin typeface="Calibri"/>
              </a:rPr>
              <a:t>100% componentes estándar industriales reemplazables en el mercado local de Monterrey sin depender de aduanas.</a:t>
            </a:r>
          </a:p>
          <a:p>
            <a:pPr>
              <a:spcBef>
                <a:spcPts val="250"/>
              </a:spcBef>
              <a:spcAft>
                <a:spcPts val="200"/>
              </a:spcAft>
            </a:pPr>
            <a:r>
              <a:rPr sz="900" b="1">
                <a:solidFill>
                  <a:srgbClr val="06B6D4"/>
                </a:solidFill>
                <a:latin typeface="Calibri"/>
              </a:rPr>
              <a:t>Modularidad de Mantenimiento: </a:t>
            </a:r>
            <a:r>
              <a:rPr sz="880">
                <a:solidFill>
                  <a:srgbClr val="F1F5F9"/>
                </a:solidFill>
                <a:latin typeface="Calibri"/>
              </a:rPr>
              <a:t>Cada bandeja y módulo electrónico puede reemplazarse en menos de 10 minutos.</a:t>
            </a:r>
          </a:p>
        </p:txBody>
      </p:sp>
      <p:sp>
        <p:nvSpPr>
          <p:cNvPr id="12" name="Rectangle 11"/>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4" name="TextBox 13"/>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12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grpId="0"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p:bldP spid="11" grpId="0"/>
      <p:bldP spid="12" grpId="0" animBg="1"/>
      <p:bldP spid="13"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12</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UNIT ECONOMICS Y MODELADO DE RENTABILIDAD OPERATIVA</a:t>
            </a:r>
          </a:p>
          <a:p>
            <a:r>
              <a:rPr sz="950">
                <a:solidFill>
                  <a:srgbClr val="94A3B8"/>
                </a:solidFill>
                <a:latin typeface="Calibri"/>
              </a:rPr>
              <a:t>Ecuación económica realista por combo ($85 MXN) y proyección de flujos mensuales</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FINANZAS • MODELO OPERATIVO</a:t>
            </a:r>
          </a:p>
        </p:txBody>
      </p:sp>
      <p:sp>
        <p:nvSpPr>
          <p:cNvPr id="6" name="Rounded Rectangle 5"/>
          <p:cNvSpPr/>
          <p:nvPr/>
        </p:nvSpPr>
        <p:spPr>
          <a:xfrm>
            <a:off x="457200" y="1188720"/>
            <a:ext cx="548640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2494483"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DESGLOSE DEL COMBO ($85.00 MXN)</a:t>
            </a:r>
          </a:p>
        </p:txBody>
      </p:sp>
      <p:sp>
        <p:nvSpPr>
          <p:cNvPr id="8" name="TextBox 7"/>
          <p:cNvSpPr txBox="1"/>
          <p:nvPr/>
        </p:nvSpPr>
        <p:spPr>
          <a:xfrm>
            <a:off x="640080" y="1664207"/>
            <a:ext cx="5120640" cy="475488"/>
          </a:xfrm>
          <a:prstGeom prst="rect">
            <a:avLst/>
          </a:prstGeom>
          <a:noFill/>
        </p:spPr>
        <p:txBody>
          <a:bodyPr wrap="none">
            <a:spAutoFit/>
          </a:bodyPr>
          <a:lstStyle/>
          <a:p>
            <a:r>
              <a:rPr sz="2100" b="1">
                <a:solidFill>
                  <a:srgbClr val="10B981"/>
                </a:solidFill>
                <a:latin typeface="Calibri"/>
              </a:rPr>
              <a:t>$23.45 </a:t>
            </a:r>
            <a:r>
              <a:rPr sz="1050">
                <a:solidFill>
                  <a:srgbClr val="94A3B8"/>
                </a:solidFill>
                <a:latin typeface="Calibri"/>
              </a:rPr>
              <a:t>Margen Bruto / Combo (27.6%)</a:t>
            </a:r>
          </a:p>
        </p:txBody>
      </p:sp>
      <p:sp>
        <p:nvSpPr>
          <p:cNvPr id="9" name="TextBox 8"/>
          <p:cNvSpPr txBox="1"/>
          <p:nvPr/>
        </p:nvSpPr>
        <p:spPr>
          <a:xfrm>
            <a:off x="640080" y="2157984"/>
            <a:ext cx="5120640" cy="347472"/>
          </a:xfrm>
          <a:prstGeom prst="rect">
            <a:avLst/>
          </a:prstGeom>
          <a:noFill/>
        </p:spPr>
        <p:txBody>
          <a:bodyPr wrap="square">
            <a:spAutoFit/>
          </a:bodyPr>
          <a:lstStyle/>
          <a:p>
            <a:r>
              <a:rPr sz="1100" b="1">
                <a:solidFill>
                  <a:srgbClr val="FFFFFF"/>
                </a:solidFill>
                <a:latin typeface="Calibri"/>
              </a:rPr>
              <a:t>Guiso Casero Caliente + Bebida Fría 500 ml</a:t>
            </a:r>
          </a:p>
        </p:txBody>
      </p:sp>
      <p:sp>
        <p:nvSpPr>
          <p:cNvPr id="10" name="TextBox 9"/>
          <p:cNvSpPr txBox="1"/>
          <p:nvPr/>
        </p:nvSpPr>
        <p:spPr>
          <a:xfrm>
            <a:off x="640080" y="2487168"/>
            <a:ext cx="5120640"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Precio al Consumidor: </a:t>
            </a:r>
            <a:r>
              <a:rPr sz="880">
                <a:solidFill>
                  <a:srgbClr val="F1F5F9"/>
                </a:solidFill>
                <a:latin typeface="Calibri"/>
              </a:rPr>
              <a:t>$85.00 MXN. Punto óptimo validado para el bolsillo del estudiante.</a:t>
            </a:r>
          </a:p>
          <a:p>
            <a:pPr>
              <a:spcBef>
                <a:spcPts val="250"/>
              </a:spcBef>
              <a:spcAft>
                <a:spcPts val="200"/>
              </a:spcAft>
            </a:pPr>
            <a:r>
              <a:rPr sz="900" b="1">
                <a:solidFill>
                  <a:srgbClr val="06B6D4"/>
                </a:solidFill>
                <a:latin typeface="Calibri"/>
              </a:rPr>
              <a:t>Pago a Lonchería Aliada: </a:t>
            </a:r>
            <a:r>
              <a:rPr sz="880">
                <a:solidFill>
                  <a:srgbClr val="F1F5F9"/>
                </a:solidFill>
                <a:latin typeface="Calibri"/>
              </a:rPr>
              <a:t>$45.00 MXN (52.9% del precio). Cubre insumos y asegura ganancia neta al negocio familiar.</a:t>
            </a:r>
          </a:p>
          <a:p>
            <a:pPr>
              <a:spcBef>
                <a:spcPts val="250"/>
              </a:spcBef>
              <a:spcAft>
                <a:spcPts val="200"/>
              </a:spcAft>
            </a:pPr>
            <a:r>
              <a:rPr sz="900" b="1">
                <a:solidFill>
                  <a:srgbClr val="06B6D4"/>
                </a:solidFill>
                <a:latin typeface="Calibri"/>
              </a:rPr>
              <a:t>Costo Mayoreo de Bebida: </a:t>
            </a:r>
            <a:r>
              <a:rPr sz="880">
                <a:solidFill>
                  <a:srgbClr val="F1F5F9"/>
                </a:solidFill>
                <a:latin typeface="Calibri"/>
              </a:rPr>
              <a:t>$14.00 MXN (16.5%). Adquirida en volumen institucional.</a:t>
            </a:r>
          </a:p>
          <a:p>
            <a:pPr>
              <a:spcBef>
                <a:spcPts val="250"/>
              </a:spcBef>
              <a:spcAft>
                <a:spcPts val="200"/>
              </a:spcAft>
            </a:pPr>
            <a:r>
              <a:rPr sz="900" b="1">
                <a:solidFill>
                  <a:srgbClr val="06B6D4"/>
                </a:solidFill>
                <a:latin typeface="Calibri"/>
              </a:rPr>
              <a:t>Comisión Pasarela QR: </a:t>
            </a:r>
            <a:r>
              <a:rPr sz="880">
                <a:solidFill>
                  <a:srgbClr val="F1F5F9"/>
                </a:solidFill>
                <a:latin typeface="Calibri"/>
              </a:rPr>
              <a:t>$2.55 MXN (3.0%). Tarifa MercadoPago / SPEI.</a:t>
            </a:r>
          </a:p>
          <a:p>
            <a:pPr>
              <a:spcBef>
                <a:spcPts val="250"/>
              </a:spcBef>
              <a:spcAft>
                <a:spcPts val="200"/>
              </a:spcAft>
            </a:pPr>
            <a:r>
              <a:rPr sz="900" b="1">
                <a:solidFill>
                  <a:srgbClr val="06B6D4"/>
                </a:solidFill>
                <a:latin typeface="Calibri"/>
              </a:rPr>
              <a:t>Margen Bruto ExpendeX: </a:t>
            </a:r>
            <a:r>
              <a:rPr sz="880">
                <a:solidFill>
                  <a:srgbClr val="F1F5F9"/>
                </a:solidFill>
                <a:latin typeface="Calibri"/>
              </a:rPr>
              <a:t>$23.45 MXN por combo (27.6%). Absorbe CFE, mantenimiento e inversión.</a:t>
            </a:r>
          </a:p>
          <a:p>
            <a:pPr>
              <a:spcBef>
                <a:spcPts val="250"/>
              </a:spcBef>
              <a:spcAft>
                <a:spcPts val="200"/>
              </a:spcAft>
            </a:pPr>
            <a:r>
              <a:rPr sz="900" b="1">
                <a:solidFill>
                  <a:srgbClr val="06B6D4"/>
                </a:solidFill>
                <a:latin typeface="Calibri"/>
              </a:rPr>
              <a:t>Escenario Base (85 combos/día): </a:t>
            </a:r>
            <a:r>
              <a:rPr sz="880">
                <a:solidFill>
                  <a:srgbClr val="F1F5F9"/>
                </a:solidFill>
                <a:latin typeface="Calibri"/>
              </a:rPr>
              <a:t>Utilidad neta mensual de $52,500 MXN descontando luz y conexión.</a:t>
            </a:r>
          </a:p>
          <a:p>
            <a:pPr>
              <a:spcBef>
                <a:spcPts val="250"/>
              </a:spcBef>
              <a:spcAft>
                <a:spcPts val="200"/>
              </a:spcAft>
            </a:pPr>
            <a:r>
              <a:rPr sz="900" b="1">
                <a:solidFill>
                  <a:srgbClr val="06B6D4"/>
                </a:solidFill>
                <a:latin typeface="Calibri"/>
              </a:rPr>
              <a:t>Retorno de Inversión (Payback): </a:t>
            </a:r>
            <a:r>
              <a:rPr sz="880">
                <a:solidFill>
                  <a:srgbClr val="F1F5F9"/>
                </a:solidFill>
                <a:latin typeface="Calibri"/>
              </a:rPr>
              <a:t>4.2 meses para amortizar íntegramente los $46,463.12 MXN del BOM.</a:t>
            </a:r>
          </a:p>
        </p:txBody>
      </p:sp>
      <p:sp>
        <p:nvSpPr>
          <p:cNvPr id="11" name="Rounded Rectangle 10"/>
          <p:cNvSpPr/>
          <p:nvPr/>
        </p:nvSpPr>
        <p:spPr>
          <a:xfrm>
            <a:off x="6217920" y="1188720"/>
            <a:ext cx="5486400" cy="5166360"/>
          </a:xfrm>
          <a:prstGeom prst="roundRect">
            <a:avLst>
              <a:gd name="adj" fmla="val 40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chart_unit_economics_pie.png"/>
          <p:cNvPicPr>
            <a:picLocks noChangeAspect="1"/>
          </p:cNvPicPr>
          <p:nvPr/>
        </p:nvPicPr>
        <p:blipFill>
          <a:blip r:embed="rId3"/>
          <a:stretch>
            <a:fillRect/>
          </a:stretch>
        </p:blipFill>
        <p:spPr>
          <a:xfrm>
            <a:off x="6291072" y="1261872"/>
            <a:ext cx="5340096" cy="4846320"/>
          </a:xfrm>
          <a:prstGeom prst="rect">
            <a:avLst/>
          </a:prstGeom>
        </p:spPr>
      </p:pic>
      <p:sp>
        <p:nvSpPr>
          <p:cNvPr id="13" name="TextBox 12"/>
          <p:cNvSpPr txBox="1"/>
          <p:nvPr/>
        </p:nvSpPr>
        <p:spPr>
          <a:xfrm>
            <a:off x="6291072" y="6108192"/>
            <a:ext cx="5340096" cy="274320"/>
          </a:xfrm>
          <a:prstGeom prst="rect">
            <a:avLst/>
          </a:prstGeom>
          <a:noFill/>
        </p:spPr>
        <p:txBody>
          <a:bodyPr wrap="none">
            <a:spAutoFit/>
          </a:bodyPr>
          <a:lstStyle/>
          <a:p>
            <a:pPr algn="ctr"/>
            <a:r>
              <a:rPr sz="800" b="1">
                <a:solidFill>
                  <a:srgbClr val="94A3B8"/>
                </a:solidFill>
                <a:latin typeface="Calibri"/>
              </a:rPr>
              <a:t>Desglose Financiero por Combo Vendido: Reparto Justo Lonchería vs ExpendeX</a:t>
            </a:r>
          </a:p>
        </p:txBody>
      </p:sp>
      <p:sp>
        <p:nvSpPr>
          <p:cNvPr id="14" name="Rectangle 13"/>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6" name="TextBox 15"/>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13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par>
                          <p:cTn id="40" fill="hold">
                            <p:stCondLst>
                              <p:cond delay="4050"/>
                            </p:stCondLst>
                            <p:childTnLst>
                              <p:par>
                                <p:cTn id="41" presetID="10" presetClass="entr" presetSubtype="0" fill="hold" grpId="0" nodeType="afterEffect">
                                  <p:stCondLst>
                                    <p:cond delay="1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p:bldP spid="11" grpId="0" animBg="1"/>
      <p:bldP spid="13" grpId="0"/>
      <p:bldP spid="14" grpId="0" animBg="1"/>
      <p:bldP spid="1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6B6D4"/>
                </a:solidFill>
                <a:latin typeface="Calibri"/>
              </a:rPr>
              <a:t>13</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VALIDACIÓN EXPERIMENTAL: TEORÍA VS SIMULACIÓN VS MEDICIONES</a:t>
            </a:r>
          </a:p>
          <a:p>
            <a:r>
              <a:rPr sz="950">
                <a:solidFill>
                  <a:srgbClr val="94A3B8"/>
                </a:solidFill>
                <a:latin typeface="Calibri"/>
              </a:rPr>
              <a:t>Contraste metrológico del Apartado 19.0 del PIA entre modelos matemáticos y pruebas físicas</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06B6D4"/>
                </a:solidFill>
                <a:latin typeface="Calibri"/>
              </a:rPr>
              <a:t>METROLOGÍA • VALIDACIÓN EXPERIMENTAL</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861060">
                <a:tc>
                  <a:txBody>
                    <a:bodyPr/>
                    <a:lstStyle/>
                    <a:p>
                      <a:pPr algn="ctr"/>
                      <a:r>
                        <a:rPr sz="950" b="1">
                          <a:solidFill>
                            <a:srgbClr val="06B6D4"/>
                          </a:solidFill>
                          <a:latin typeface="Calibri"/>
                        </a:rPr>
                        <a:t>Variable Evaluada</a:t>
                      </a:r>
                    </a:p>
                  </a:txBody>
                  <a:tcPr>
                    <a:solidFill>
                      <a:srgbClr val="131F37"/>
                    </a:solidFill>
                  </a:tcPr>
                </a:tc>
                <a:tc>
                  <a:txBody>
                    <a:bodyPr/>
                    <a:lstStyle/>
                    <a:p>
                      <a:pPr algn="ctr"/>
                      <a:r>
                        <a:rPr sz="950" b="1">
                          <a:solidFill>
                            <a:srgbClr val="06B6D4"/>
                          </a:solidFill>
                          <a:latin typeface="Calibri"/>
                        </a:rPr>
                        <a:t>Teórico</a:t>
                      </a:r>
                    </a:p>
                  </a:txBody>
                  <a:tcPr>
                    <a:solidFill>
                      <a:srgbClr val="131F37"/>
                    </a:solidFill>
                  </a:tcPr>
                </a:tc>
                <a:tc>
                  <a:txBody>
                    <a:bodyPr/>
                    <a:lstStyle/>
                    <a:p>
                      <a:pPr algn="ctr"/>
                      <a:r>
                        <a:rPr sz="950" b="1">
                          <a:solidFill>
                            <a:srgbClr val="06B6D4"/>
                          </a:solidFill>
                          <a:latin typeface="Calibri"/>
                        </a:rPr>
                        <a:t>Simulado</a:t>
                      </a:r>
                    </a:p>
                  </a:txBody>
                  <a:tcPr>
                    <a:solidFill>
                      <a:srgbClr val="131F37"/>
                    </a:solidFill>
                  </a:tcPr>
                </a:tc>
                <a:tc>
                  <a:txBody>
                    <a:bodyPr/>
                    <a:lstStyle/>
                    <a:p>
                      <a:pPr algn="ctr"/>
                      <a:r>
                        <a:rPr sz="950" b="1">
                          <a:solidFill>
                            <a:srgbClr val="06B6D4"/>
                          </a:solidFill>
                          <a:latin typeface="Calibri"/>
                        </a:rPr>
                        <a:t>Medición Real</a:t>
                      </a:r>
                    </a:p>
                  </a:txBody>
                  <a:tcPr>
                    <a:solidFill>
                      <a:srgbClr val="131F37"/>
                    </a:solidFill>
                  </a:tcPr>
                </a:tc>
                <a:tc>
                  <a:txBody>
                    <a:bodyPr/>
                    <a:lstStyle/>
                    <a:p>
                      <a:pPr algn="ctr"/>
                      <a:r>
                        <a:rPr sz="950" b="1">
                          <a:solidFill>
                            <a:srgbClr val="06B6D4"/>
                          </a:solidFill>
                          <a:latin typeface="Calibri"/>
                        </a:rPr>
                        <a:t>Error Sim</a:t>
                      </a:r>
                    </a:p>
                  </a:txBody>
                  <a:tcPr>
                    <a:solidFill>
                      <a:srgbClr val="131F37"/>
                    </a:solidFill>
                  </a:tcPr>
                </a:tc>
                <a:tc>
                  <a:txBody>
                    <a:bodyPr/>
                    <a:lstStyle/>
                    <a:p>
                      <a:pPr algn="ctr"/>
                      <a:r>
                        <a:rPr sz="950" b="1">
                          <a:solidFill>
                            <a:srgbClr val="06B6D4"/>
                          </a:solidFill>
                          <a:latin typeface="Calibri"/>
                        </a:rPr>
                        <a:t>Error Real</a:t>
                      </a:r>
                    </a:p>
                  </a:txBody>
                  <a:tcPr>
                    <a:solidFill>
                      <a:srgbClr val="131F37"/>
                    </a:solidFill>
                  </a:tcPr>
                </a:tc>
                <a:extLst>
                  <a:ext uri="{0D108BD9-81ED-4DB2-BD59-A6C34878D82A}">
                    <a16:rowId xmlns:a16="http://schemas.microsoft.com/office/drawing/2014/main" val="10000"/>
                  </a:ext>
                </a:extLst>
              </a:tr>
              <a:tr h="861060">
                <a:tc>
                  <a:txBody>
                    <a:bodyPr/>
                    <a:lstStyle/>
                    <a:p>
                      <a:pPr algn="l"/>
                      <a:r>
                        <a:rPr sz="880" b="1">
                          <a:solidFill>
                            <a:srgbClr val="F1F5F9"/>
                          </a:solidFill>
                          <a:latin typeface="Calibri"/>
                        </a:rPr>
                        <a:t>Par Torsor Espiral Ø 144 mm</a:t>
                      </a:r>
                    </a:p>
                  </a:txBody>
                  <a:tcPr>
                    <a:solidFill>
                      <a:srgbClr val="0B0F19"/>
                    </a:solidFill>
                  </a:tcPr>
                </a:tc>
                <a:tc>
                  <a:txBody>
                    <a:bodyPr/>
                    <a:lstStyle/>
                    <a:p>
                      <a:pPr algn="ctr"/>
                      <a:r>
                        <a:rPr sz="880" b="0">
                          <a:solidFill>
                            <a:srgbClr val="F1F5F9"/>
                          </a:solidFill>
                          <a:latin typeface="Calibri"/>
                        </a:rPr>
                        <a:t>0.382 N·m</a:t>
                      </a:r>
                    </a:p>
                  </a:txBody>
                  <a:tcPr>
                    <a:solidFill>
                      <a:srgbClr val="0B0F19"/>
                    </a:solidFill>
                  </a:tcPr>
                </a:tc>
                <a:tc>
                  <a:txBody>
                    <a:bodyPr/>
                    <a:lstStyle/>
                    <a:p>
                      <a:pPr algn="ctr"/>
                      <a:r>
                        <a:rPr sz="880" b="0">
                          <a:solidFill>
                            <a:srgbClr val="F1F5F9"/>
                          </a:solidFill>
                          <a:latin typeface="Calibri"/>
                        </a:rPr>
                        <a:t>0.385 N·m</a:t>
                      </a:r>
                    </a:p>
                  </a:txBody>
                  <a:tcPr>
                    <a:solidFill>
                      <a:srgbClr val="0B0F19"/>
                    </a:solidFill>
                  </a:tcPr>
                </a:tc>
                <a:tc>
                  <a:txBody>
                    <a:bodyPr/>
                    <a:lstStyle/>
                    <a:p>
                      <a:pPr algn="ctr"/>
                      <a:r>
                        <a:rPr sz="880" b="0">
                          <a:solidFill>
                            <a:srgbClr val="F1F5F9"/>
                          </a:solidFill>
                          <a:latin typeface="Calibri"/>
                        </a:rPr>
                        <a:t>0.389 N·m</a:t>
                      </a:r>
                    </a:p>
                  </a:txBody>
                  <a:tcPr>
                    <a:solidFill>
                      <a:srgbClr val="0B0F19"/>
                    </a:solidFill>
                  </a:tcPr>
                </a:tc>
                <a:tc>
                  <a:txBody>
                    <a:bodyPr/>
                    <a:lstStyle/>
                    <a:p>
                      <a:pPr algn="ctr"/>
                      <a:r>
                        <a:rPr sz="880" b="0">
                          <a:solidFill>
                            <a:srgbClr val="10B981"/>
                          </a:solidFill>
                          <a:latin typeface="Calibri"/>
                        </a:rPr>
                        <a:t>0.79%</a:t>
                      </a:r>
                    </a:p>
                  </a:txBody>
                  <a:tcPr>
                    <a:solidFill>
                      <a:srgbClr val="0B0F19"/>
                    </a:solidFill>
                  </a:tcPr>
                </a:tc>
                <a:tc>
                  <a:txBody>
                    <a:bodyPr/>
                    <a:lstStyle/>
                    <a:p>
                      <a:pPr algn="ctr"/>
                      <a:r>
                        <a:rPr sz="880" b="0">
                          <a:solidFill>
                            <a:srgbClr val="10B981"/>
                          </a:solidFill>
                          <a:latin typeface="Calibri"/>
                        </a:rPr>
                        <a:t>1.83%</a:t>
                      </a:r>
                    </a:p>
                  </a:txBody>
                  <a:tcPr>
                    <a:solidFill>
                      <a:srgbClr val="0B0F19"/>
                    </a:solidFill>
                  </a:tcPr>
                </a:tc>
                <a:extLst>
                  <a:ext uri="{0D108BD9-81ED-4DB2-BD59-A6C34878D82A}">
                    <a16:rowId xmlns:a16="http://schemas.microsoft.com/office/drawing/2014/main" val="10001"/>
                  </a:ext>
                </a:extLst>
              </a:tr>
              <a:tr h="861060">
                <a:tc>
                  <a:txBody>
                    <a:bodyPr/>
                    <a:lstStyle/>
                    <a:p>
                      <a:pPr algn="l"/>
                      <a:r>
                        <a:rPr sz="880" b="1">
                          <a:solidFill>
                            <a:srgbClr val="F1F5F9"/>
                          </a:solidFill>
                          <a:latin typeface="Calibri"/>
                        </a:rPr>
                        <a:t>Deflexión Máxima Bandeja</a:t>
                      </a:r>
                    </a:p>
                  </a:txBody>
                  <a:tcPr>
                    <a:solidFill>
                      <a:srgbClr val="0B0F19"/>
                    </a:solidFill>
                  </a:tcPr>
                </a:tc>
                <a:tc>
                  <a:txBody>
                    <a:bodyPr/>
                    <a:lstStyle/>
                    <a:p>
                      <a:pPr algn="ctr"/>
                      <a:r>
                        <a:rPr sz="880" b="0">
                          <a:solidFill>
                            <a:srgbClr val="F1F5F9"/>
                          </a:solidFill>
                          <a:latin typeface="Calibri"/>
                        </a:rPr>
                        <a:t>1.34 mm</a:t>
                      </a:r>
                    </a:p>
                  </a:txBody>
                  <a:tcPr>
                    <a:solidFill>
                      <a:srgbClr val="0B0F19"/>
                    </a:solidFill>
                  </a:tcPr>
                </a:tc>
                <a:tc>
                  <a:txBody>
                    <a:bodyPr/>
                    <a:lstStyle/>
                    <a:p>
                      <a:pPr algn="ctr"/>
                      <a:r>
                        <a:rPr sz="880" b="0">
                          <a:solidFill>
                            <a:srgbClr val="F1F5F9"/>
                          </a:solidFill>
                          <a:latin typeface="Calibri"/>
                        </a:rPr>
                        <a:t>1.36 mm</a:t>
                      </a:r>
                    </a:p>
                  </a:txBody>
                  <a:tcPr>
                    <a:solidFill>
                      <a:srgbClr val="0B0F19"/>
                    </a:solidFill>
                  </a:tcPr>
                </a:tc>
                <a:tc>
                  <a:txBody>
                    <a:bodyPr/>
                    <a:lstStyle/>
                    <a:p>
                      <a:pPr algn="ctr"/>
                      <a:r>
                        <a:rPr sz="880" b="0">
                          <a:solidFill>
                            <a:srgbClr val="F1F5F9"/>
                          </a:solidFill>
                          <a:latin typeface="Calibri"/>
                        </a:rPr>
                        <a:t>1.38 mm</a:t>
                      </a:r>
                    </a:p>
                  </a:txBody>
                  <a:tcPr>
                    <a:solidFill>
                      <a:srgbClr val="0B0F19"/>
                    </a:solidFill>
                  </a:tcPr>
                </a:tc>
                <a:tc>
                  <a:txBody>
                    <a:bodyPr/>
                    <a:lstStyle/>
                    <a:p>
                      <a:pPr algn="ctr"/>
                      <a:r>
                        <a:rPr sz="880" b="0">
                          <a:solidFill>
                            <a:srgbClr val="10B981"/>
                          </a:solidFill>
                          <a:latin typeface="Calibri"/>
                        </a:rPr>
                        <a:t>1.49%</a:t>
                      </a:r>
                    </a:p>
                  </a:txBody>
                  <a:tcPr>
                    <a:solidFill>
                      <a:srgbClr val="0B0F19"/>
                    </a:solidFill>
                  </a:tcPr>
                </a:tc>
                <a:tc>
                  <a:txBody>
                    <a:bodyPr/>
                    <a:lstStyle/>
                    <a:p>
                      <a:pPr algn="ctr"/>
                      <a:r>
                        <a:rPr sz="880" b="0">
                          <a:solidFill>
                            <a:srgbClr val="10B981"/>
                          </a:solidFill>
                          <a:latin typeface="Calibri"/>
                        </a:rPr>
                        <a:t>2.98%</a:t>
                      </a:r>
                    </a:p>
                  </a:txBody>
                  <a:tcPr>
                    <a:solidFill>
                      <a:srgbClr val="0B0F19"/>
                    </a:solidFill>
                  </a:tcPr>
                </a:tc>
                <a:extLst>
                  <a:ext uri="{0D108BD9-81ED-4DB2-BD59-A6C34878D82A}">
                    <a16:rowId xmlns:a16="http://schemas.microsoft.com/office/drawing/2014/main" val="10002"/>
                  </a:ext>
                </a:extLst>
              </a:tr>
              <a:tr h="861060">
                <a:tc>
                  <a:txBody>
                    <a:bodyPr/>
                    <a:lstStyle/>
                    <a:p>
                      <a:pPr algn="l"/>
                      <a:r>
                        <a:rPr sz="880" b="1">
                          <a:solidFill>
                            <a:srgbClr val="F1F5F9"/>
                          </a:solidFill>
                          <a:latin typeface="Calibri"/>
                        </a:rPr>
                        <a:t>Pico Inductivo en MOSFET</a:t>
                      </a:r>
                    </a:p>
                  </a:txBody>
                  <a:tcPr>
                    <a:solidFill>
                      <a:srgbClr val="0B0F19"/>
                    </a:solidFill>
                  </a:tcPr>
                </a:tc>
                <a:tc>
                  <a:txBody>
                    <a:bodyPr/>
                    <a:lstStyle/>
                    <a:p>
                      <a:pPr algn="ctr"/>
                      <a:r>
                        <a:rPr sz="880" b="0">
                          <a:solidFill>
                            <a:srgbClr val="F1F5F9"/>
                          </a:solidFill>
                          <a:latin typeface="Calibri"/>
                        </a:rPr>
                        <a:t>24.45 V</a:t>
                      </a:r>
                    </a:p>
                  </a:txBody>
                  <a:tcPr>
                    <a:solidFill>
                      <a:srgbClr val="0B0F19"/>
                    </a:solidFill>
                  </a:tcPr>
                </a:tc>
                <a:tc>
                  <a:txBody>
                    <a:bodyPr/>
                    <a:lstStyle/>
                    <a:p>
                      <a:pPr algn="ctr"/>
                      <a:r>
                        <a:rPr sz="880" b="0">
                          <a:solidFill>
                            <a:srgbClr val="F1F5F9"/>
                          </a:solidFill>
                          <a:latin typeface="Calibri"/>
                        </a:rPr>
                        <a:t>24.51 V</a:t>
                      </a:r>
                    </a:p>
                  </a:txBody>
                  <a:tcPr>
                    <a:solidFill>
                      <a:srgbClr val="0B0F19"/>
                    </a:solidFill>
                  </a:tcPr>
                </a:tc>
                <a:tc>
                  <a:txBody>
                    <a:bodyPr/>
                    <a:lstStyle/>
                    <a:p>
                      <a:pPr algn="ctr"/>
                      <a:r>
                        <a:rPr sz="880" b="0">
                          <a:solidFill>
                            <a:srgbClr val="F1F5F9"/>
                          </a:solidFill>
                          <a:latin typeface="Calibri"/>
                        </a:rPr>
                        <a:t>24.62 V</a:t>
                      </a:r>
                    </a:p>
                  </a:txBody>
                  <a:tcPr>
                    <a:solidFill>
                      <a:srgbClr val="0B0F19"/>
                    </a:solidFill>
                  </a:tcPr>
                </a:tc>
                <a:tc>
                  <a:txBody>
                    <a:bodyPr/>
                    <a:lstStyle/>
                    <a:p>
                      <a:pPr algn="ctr"/>
                      <a:r>
                        <a:rPr sz="880" b="0">
                          <a:solidFill>
                            <a:srgbClr val="10B981"/>
                          </a:solidFill>
                          <a:latin typeface="Calibri"/>
                        </a:rPr>
                        <a:t>0.25%</a:t>
                      </a:r>
                    </a:p>
                  </a:txBody>
                  <a:tcPr>
                    <a:solidFill>
                      <a:srgbClr val="0B0F19"/>
                    </a:solidFill>
                  </a:tcPr>
                </a:tc>
                <a:tc>
                  <a:txBody>
                    <a:bodyPr/>
                    <a:lstStyle/>
                    <a:p>
                      <a:pPr algn="ctr"/>
                      <a:r>
                        <a:rPr sz="880" b="0">
                          <a:solidFill>
                            <a:srgbClr val="10B981"/>
                          </a:solidFill>
                          <a:latin typeface="Calibri"/>
                        </a:rPr>
                        <a:t>0.70%</a:t>
                      </a:r>
                    </a:p>
                  </a:txBody>
                  <a:tcPr>
                    <a:solidFill>
                      <a:srgbClr val="0B0F19"/>
                    </a:solidFill>
                  </a:tcPr>
                </a:tc>
                <a:extLst>
                  <a:ext uri="{0D108BD9-81ED-4DB2-BD59-A6C34878D82A}">
                    <a16:rowId xmlns:a16="http://schemas.microsoft.com/office/drawing/2014/main" val="10003"/>
                  </a:ext>
                </a:extLst>
              </a:tr>
              <a:tr h="861060">
                <a:tc>
                  <a:txBody>
                    <a:bodyPr/>
                    <a:lstStyle/>
                    <a:p>
                      <a:pPr algn="l"/>
                      <a:r>
                        <a:rPr sz="880" b="1">
                          <a:solidFill>
                            <a:srgbClr val="F1F5F9"/>
                          </a:solidFill>
                          <a:latin typeface="Calibri"/>
                        </a:rPr>
                        <a:t>Latencia Cortina IR</a:t>
                      </a:r>
                    </a:p>
                  </a:txBody>
                  <a:tcPr>
                    <a:solidFill>
                      <a:srgbClr val="0B0F19"/>
                    </a:solidFill>
                  </a:tcPr>
                </a:tc>
                <a:tc>
                  <a:txBody>
                    <a:bodyPr/>
                    <a:lstStyle/>
                    <a:p>
                      <a:pPr algn="ctr"/>
                      <a:r>
                        <a:rPr sz="880" b="0">
                          <a:solidFill>
                            <a:srgbClr val="F1F5F9"/>
                          </a:solidFill>
                          <a:latin typeface="Calibri"/>
                        </a:rPr>
                        <a:t>1.20 ms</a:t>
                      </a:r>
                    </a:p>
                  </a:txBody>
                  <a:tcPr>
                    <a:solidFill>
                      <a:srgbClr val="0B0F19"/>
                    </a:solidFill>
                  </a:tcPr>
                </a:tc>
                <a:tc>
                  <a:txBody>
                    <a:bodyPr/>
                    <a:lstStyle/>
                    <a:p>
                      <a:pPr algn="ctr"/>
                      <a:r>
                        <a:rPr sz="880" b="0">
                          <a:solidFill>
                            <a:srgbClr val="F1F5F9"/>
                          </a:solidFill>
                          <a:latin typeface="Calibri"/>
                        </a:rPr>
                        <a:t>1.22 ms</a:t>
                      </a:r>
                    </a:p>
                  </a:txBody>
                  <a:tcPr>
                    <a:solidFill>
                      <a:srgbClr val="0B0F19"/>
                    </a:solidFill>
                  </a:tcPr>
                </a:tc>
                <a:tc>
                  <a:txBody>
                    <a:bodyPr/>
                    <a:lstStyle/>
                    <a:p>
                      <a:pPr algn="ctr"/>
                      <a:r>
                        <a:rPr sz="880" b="0">
                          <a:solidFill>
                            <a:srgbClr val="F1F5F9"/>
                          </a:solidFill>
                          <a:latin typeface="Calibri"/>
                        </a:rPr>
                        <a:t>1.25 ms</a:t>
                      </a:r>
                    </a:p>
                  </a:txBody>
                  <a:tcPr>
                    <a:solidFill>
                      <a:srgbClr val="0B0F19"/>
                    </a:solidFill>
                  </a:tcPr>
                </a:tc>
                <a:tc>
                  <a:txBody>
                    <a:bodyPr/>
                    <a:lstStyle/>
                    <a:p>
                      <a:pPr algn="ctr"/>
                      <a:r>
                        <a:rPr sz="880" b="0">
                          <a:solidFill>
                            <a:srgbClr val="10B981"/>
                          </a:solidFill>
                          <a:latin typeface="Calibri"/>
                        </a:rPr>
                        <a:t>1.67%</a:t>
                      </a:r>
                    </a:p>
                  </a:txBody>
                  <a:tcPr>
                    <a:solidFill>
                      <a:srgbClr val="0B0F19"/>
                    </a:solidFill>
                  </a:tcPr>
                </a:tc>
                <a:tc>
                  <a:txBody>
                    <a:bodyPr/>
                    <a:lstStyle/>
                    <a:p>
                      <a:pPr algn="ctr"/>
                      <a:r>
                        <a:rPr sz="880" b="0">
                          <a:solidFill>
                            <a:srgbClr val="10B981"/>
                          </a:solidFill>
                          <a:latin typeface="Calibri"/>
                        </a:rPr>
                        <a:t>4.17%</a:t>
                      </a:r>
                    </a:p>
                  </a:txBody>
                  <a:tcPr>
                    <a:solidFill>
                      <a:srgbClr val="0B0F19"/>
                    </a:solidFill>
                  </a:tcPr>
                </a:tc>
                <a:extLst>
                  <a:ext uri="{0D108BD9-81ED-4DB2-BD59-A6C34878D82A}">
                    <a16:rowId xmlns:a16="http://schemas.microsoft.com/office/drawing/2014/main" val="10004"/>
                  </a:ext>
                </a:extLst>
              </a:tr>
              <a:tr h="861060">
                <a:tc>
                  <a:txBody>
                    <a:bodyPr/>
                    <a:lstStyle/>
                    <a:p>
                      <a:pPr algn="l"/>
                      <a:r>
                        <a:rPr sz="880" b="1">
                          <a:solidFill>
                            <a:srgbClr val="F1F5F9"/>
                          </a:solidFill>
                          <a:latin typeface="Calibri"/>
                        </a:rPr>
                        <a:t>Tiempo Despacho Combo</a:t>
                      </a:r>
                    </a:p>
                  </a:txBody>
                  <a:tcPr>
                    <a:solidFill>
                      <a:srgbClr val="0B0F19"/>
                    </a:solidFill>
                  </a:tcPr>
                </a:tc>
                <a:tc>
                  <a:txBody>
                    <a:bodyPr/>
                    <a:lstStyle/>
                    <a:p>
                      <a:pPr algn="ctr"/>
                      <a:r>
                        <a:rPr sz="880" b="0">
                          <a:solidFill>
                            <a:srgbClr val="F1F5F9"/>
                          </a:solidFill>
                          <a:latin typeface="Calibri"/>
                        </a:rPr>
                        <a:t>10.0 seg</a:t>
                      </a:r>
                    </a:p>
                  </a:txBody>
                  <a:tcPr>
                    <a:solidFill>
                      <a:srgbClr val="0B0F19"/>
                    </a:solidFill>
                  </a:tcPr>
                </a:tc>
                <a:tc>
                  <a:txBody>
                    <a:bodyPr/>
                    <a:lstStyle/>
                    <a:p>
                      <a:pPr algn="ctr"/>
                      <a:r>
                        <a:rPr sz="880" b="0">
                          <a:solidFill>
                            <a:srgbClr val="F1F5F9"/>
                          </a:solidFill>
                          <a:latin typeface="Calibri"/>
                        </a:rPr>
                        <a:t>9.8 seg</a:t>
                      </a:r>
                    </a:p>
                  </a:txBody>
                  <a:tcPr>
                    <a:solidFill>
                      <a:srgbClr val="0B0F19"/>
                    </a:solidFill>
                  </a:tcPr>
                </a:tc>
                <a:tc>
                  <a:txBody>
                    <a:bodyPr/>
                    <a:lstStyle/>
                    <a:p>
                      <a:pPr algn="ctr"/>
                      <a:r>
                        <a:rPr sz="880" b="0">
                          <a:solidFill>
                            <a:srgbClr val="F1F5F9"/>
                          </a:solidFill>
                          <a:latin typeface="Calibri"/>
                        </a:rPr>
                        <a:t>10.4 seg</a:t>
                      </a:r>
                    </a:p>
                  </a:txBody>
                  <a:tcPr>
                    <a:solidFill>
                      <a:srgbClr val="0B0F19"/>
                    </a:solidFill>
                  </a:tcPr>
                </a:tc>
                <a:tc>
                  <a:txBody>
                    <a:bodyPr/>
                    <a:lstStyle/>
                    <a:p>
                      <a:pPr algn="ctr"/>
                      <a:r>
                        <a:rPr sz="880" b="0">
                          <a:solidFill>
                            <a:srgbClr val="10B981"/>
                          </a:solidFill>
                          <a:latin typeface="Calibri"/>
                        </a:rPr>
                        <a:t>2.00%</a:t>
                      </a:r>
                    </a:p>
                  </a:txBody>
                  <a:tcPr>
                    <a:solidFill>
                      <a:srgbClr val="0B0F19"/>
                    </a:solidFill>
                  </a:tcPr>
                </a:tc>
                <a:tc>
                  <a:txBody>
                    <a:bodyPr/>
                    <a:lstStyle/>
                    <a:p>
                      <a:pPr algn="ctr"/>
                      <a:r>
                        <a:rPr sz="880" b="0">
                          <a:solidFill>
                            <a:srgbClr val="10B981"/>
                          </a:solidFill>
                          <a:latin typeface="Calibri"/>
                        </a:rPr>
                        <a:t>4.00%</a:t>
                      </a:r>
                    </a:p>
                  </a:txBody>
                  <a:tcPr>
                    <a:solidFill>
                      <a:srgbClr val="0B0F19"/>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7498079" y="1188720"/>
            <a:ext cx="420624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680959" y="1335024"/>
            <a:ext cx="1828800"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RIGOR METODOLÓGICO</a:t>
            </a:r>
          </a:p>
        </p:txBody>
      </p:sp>
      <p:sp>
        <p:nvSpPr>
          <p:cNvPr id="9" name="TextBox 8"/>
          <p:cNvSpPr txBox="1"/>
          <p:nvPr/>
        </p:nvSpPr>
        <p:spPr>
          <a:xfrm>
            <a:off x="7680959" y="1664207"/>
            <a:ext cx="3840479" cy="475488"/>
          </a:xfrm>
          <a:prstGeom prst="rect">
            <a:avLst/>
          </a:prstGeom>
          <a:noFill/>
        </p:spPr>
        <p:txBody>
          <a:bodyPr wrap="none">
            <a:spAutoFit/>
          </a:bodyPr>
          <a:lstStyle/>
          <a:p>
            <a:r>
              <a:rPr sz="2100" b="1">
                <a:solidFill>
                  <a:srgbClr val="10B981"/>
                </a:solidFill>
                <a:latin typeface="Calibri"/>
              </a:rPr>
              <a:t>&lt; 4.2% </a:t>
            </a:r>
            <a:r>
              <a:rPr sz="1050">
                <a:solidFill>
                  <a:srgbClr val="94A3B8"/>
                </a:solidFill>
                <a:latin typeface="Calibri"/>
              </a:rPr>
              <a:t>Error Máximo Experimental</a:t>
            </a:r>
          </a:p>
        </p:txBody>
      </p:sp>
      <p:sp>
        <p:nvSpPr>
          <p:cNvPr id="10" name="TextBox 9"/>
          <p:cNvSpPr txBox="1"/>
          <p:nvPr/>
        </p:nvSpPr>
        <p:spPr>
          <a:xfrm>
            <a:off x="7680959" y="2157984"/>
            <a:ext cx="3840479" cy="347472"/>
          </a:xfrm>
          <a:prstGeom prst="rect">
            <a:avLst/>
          </a:prstGeom>
          <a:noFill/>
        </p:spPr>
        <p:txBody>
          <a:bodyPr wrap="square">
            <a:spAutoFit/>
          </a:bodyPr>
          <a:lstStyle/>
          <a:p>
            <a:r>
              <a:rPr sz="1100" b="1">
                <a:solidFill>
                  <a:srgbClr val="FFFFFF"/>
                </a:solidFill>
                <a:latin typeface="Calibri"/>
              </a:rPr>
              <a:t>Convergencia de Ingeniería (Apartado 19.0)</a:t>
            </a:r>
          </a:p>
        </p:txBody>
      </p:sp>
      <p:sp>
        <p:nvSpPr>
          <p:cNvPr id="11" name="TextBox 10"/>
          <p:cNvSpPr txBox="1"/>
          <p:nvPr/>
        </p:nvSpPr>
        <p:spPr>
          <a:xfrm>
            <a:off x="7680959" y="2487168"/>
            <a:ext cx="3840479" cy="3758184"/>
          </a:xfrm>
          <a:prstGeom prst="rect">
            <a:avLst/>
          </a:prstGeom>
          <a:noFill/>
        </p:spPr>
        <p:txBody>
          <a:bodyPr wrap="square">
            <a:spAutoFit/>
          </a:bodyPr>
          <a:lstStyle/>
          <a:p>
            <a:pPr>
              <a:spcBef>
                <a:spcPts val="250"/>
              </a:spcBef>
              <a:spcAft>
                <a:spcPts val="200"/>
              </a:spcAft>
            </a:pPr>
            <a:r>
              <a:rPr sz="900" b="1">
                <a:solidFill>
                  <a:srgbClr val="06B6D4"/>
                </a:solidFill>
                <a:latin typeface="Calibri"/>
              </a:rPr>
              <a:t>Concordancia Superior al 96%: </a:t>
            </a:r>
            <a:r>
              <a:rPr sz="880">
                <a:solidFill>
                  <a:srgbClr val="F1F5F9"/>
                </a:solidFill>
                <a:latin typeface="Calibri"/>
              </a:rPr>
              <a:t>Todos los errores relativos entre cálculo analítico, simulación en software y medición en prototipo están por debajo del 4.2%.</a:t>
            </a:r>
          </a:p>
          <a:p>
            <a:pPr>
              <a:spcBef>
                <a:spcPts val="250"/>
              </a:spcBef>
              <a:spcAft>
                <a:spcPts val="200"/>
              </a:spcAft>
            </a:pPr>
            <a:r>
              <a:rPr sz="900" b="1">
                <a:solidFill>
                  <a:srgbClr val="06B6D4"/>
                </a:solidFill>
                <a:latin typeface="Calibri"/>
              </a:rPr>
              <a:t>Sin Suposiciones en el Vacío: </a:t>
            </a:r>
            <a:r>
              <a:rPr sz="880">
                <a:solidFill>
                  <a:srgbClr val="F1F5F9"/>
                </a:solidFill>
                <a:latin typeface="Calibri"/>
              </a:rPr>
              <a:t>Cada fórmula fue contrastada contra datos de fabricantes (Embraco, Infineon, Nidec).</a:t>
            </a:r>
          </a:p>
          <a:p>
            <a:pPr>
              <a:spcBef>
                <a:spcPts val="250"/>
              </a:spcBef>
              <a:spcAft>
                <a:spcPts val="200"/>
              </a:spcAft>
            </a:pPr>
            <a:r>
              <a:rPr sz="900" b="1">
                <a:solidFill>
                  <a:srgbClr val="06B6D4"/>
                </a:solidFill>
                <a:latin typeface="Calibri"/>
              </a:rPr>
              <a:t>Confiabilidad Demostrada: </a:t>
            </a:r>
            <a:r>
              <a:rPr sz="880">
                <a:solidFill>
                  <a:srgbClr val="F1F5F9"/>
                </a:solidFill>
                <a:latin typeface="Calibri"/>
              </a:rPr>
              <a:t>La electrónica matricial y el chasis soportan las cargas reales de operación sin calentamiento ni fatiga prematura.</a:t>
            </a:r>
          </a:p>
          <a:p>
            <a:pPr>
              <a:spcBef>
                <a:spcPts val="250"/>
              </a:spcBef>
              <a:spcAft>
                <a:spcPts val="200"/>
              </a:spcAft>
            </a:pPr>
            <a:r>
              <a:rPr sz="900" b="1">
                <a:solidFill>
                  <a:srgbClr val="06B6D4"/>
                </a:solidFill>
                <a:latin typeface="Calibri"/>
              </a:rPr>
              <a:t>Validación Curricular: </a:t>
            </a:r>
            <a:r>
              <a:rPr sz="880">
                <a:solidFill>
                  <a:srgbClr val="F1F5F9"/>
                </a:solidFill>
                <a:latin typeface="Calibri"/>
              </a:rPr>
              <a:t>Cumple rigurosamente con los lineamientos experimentales exigidos en la rúbrica del PIA FIME UANL.</a:t>
            </a:r>
          </a:p>
        </p:txBody>
      </p:sp>
      <p:sp>
        <p:nvSpPr>
          <p:cNvPr id="12" name="Rectangle 11"/>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4" name="TextBox 13"/>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14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grpId="0"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par>
                          <p:cTn id="36" fill="hold">
                            <p:stCondLst>
                              <p:cond delay="3600"/>
                            </p:stCondLst>
                            <p:childTnLst>
                              <p:par>
                                <p:cTn id="37" presetID="10" presetClass="entr" presetSubtype="0" fill="hold" grpId="0" nodeType="afterEffect">
                                  <p:stCondLst>
                                    <p:cond delay="1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p:bldP spid="11" grpId="0"/>
      <p:bldP spid="12" grpId="0" animBg="1"/>
      <p:bldP spid="13" grpId="0"/>
      <p:bldP spid="14"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365760" y="164592"/>
            <a:ext cx="731520" cy="731520"/>
          </a:xfrm>
          <a:prstGeom prst="roundRect">
            <a:avLst>
              <a:gd name="adj" fmla="val 25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0B981"/>
                </a:solidFill>
                <a:latin typeface="Calibri"/>
              </a:rPr>
              <a:t>14</a:t>
            </a:r>
          </a:p>
        </p:txBody>
      </p:sp>
      <p:sp>
        <p:nvSpPr>
          <p:cNvPr id="4" name="TextBox 3"/>
          <p:cNvSpPr txBox="1"/>
          <p:nvPr/>
        </p:nvSpPr>
        <p:spPr>
          <a:xfrm>
            <a:off x="1234440" y="91440"/>
            <a:ext cx="7132320" cy="868680"/>
          </a:xfrm>
          <a:prstGeom prst="rect">
            <a:avLst/>
          </a:prstGeom>
          <a:noFill/>
        </p:spPr>
        <p:txBody>
          <a:bodyPr wrap="square">
            <a:spAutoFit/>
          </a:bodyPr>
          <a:lstStyle/>
          <a:p>
            <a:r>
              <a:rPr sz="1350" b="1">
                <a:solidFill>
                  <a:srgbClr val="FFFFFF"/>
                </a:solidFill>
                <a:latin typeface="Calibri"/>
              </a:rPr>
              <a:t>CONCLUSIONES DE INGENIERÍA, REPOSITORIO Y DEMOSTRACIÓN EN VIVO</a:t>
            </a:r>
          </a:p>
          <a:p>
            <a:r>
              <a:rPr sz="950">
                <a:solidFill>
                  <a:srgbClr val="94A3B8"/>
                </a:solidFill>
                <a:latin typeface="Calibri"/>
              </a:rPr>
              <a:t>Síntesis de cumplimiento curricular de la rúbrica oficial FIME UANL</a:t>
            </a:r>
          </a:p>
        </p:txBody>
      </p:sp>
      <p:sp>
        <p:nvSpPr>
          <p:cNvPr id="5" name="Rounded Rectangle 4"/>
          <p:cNvSpPr/>
          <p:nvPr/>
        </p:nvSpPr>
        <p:spPr>
          <a:xfrm>
            <a:off x="8503920" y="182880"/>
            <a:ext cx="3337560" cy="685800"/>
          </a:xfrm>
          <a:prstGeom prst="roundRect">
            <a:avLst>
              <a:gd name="adj" fmla="val 3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50" b="1">
                <a:solidFill>
                  <a:srgbClr val="10B981"/>
                </a:solidFill>
                <a:latin typeface="Calibri"/>
              </a:rPr>
              <a:t>DEFENSA FINAL • EQUIPO EXPENDEX</a:t>
            </a:r>
          </a:p>
        </p:txBody>
      </p:sp>
      <p:sp>
        <p:nvSpPr>
          <p:cNvPr id="6" name="Rounded Rectangle 5"/>
          <p:cNvSpPr/>
          <p:nvPr/>
        </p:nvSpPr>
        <p:spPr>
          <a:xfrm>
            <a:off x="457200" y="1188720"/>
            <a:ext cx="6583680" cy="5166360"/>
          </a:xfrm>
          <a:prstGeom prst="roundRect">
            <a:avLst>
              <a:gd name="adj" fmla="val 40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35024"/>
            <a:ext cx="3299155" cy="274320"/>
          </a:xfrm>
          <a:prstGeom prst="roundRect">
            <a:avLst>
              <a:gd name="adj" fmla="val 45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10B981"/>
                </a:solidFill>
                <a:latin typeface="Calibri"/>
              </a:rPr>
              <a:t>SÍNTESIS DE DESARROLLO DEL PROYECTO (PIA)</a:t>
            </a:r>
          </a:p>
        </p:txBody>
      </p:sp>
      <p:sp>
        <p:nvSpPr>
          <p:cNvPr id="8" name="TextBox 7"/>
          <p:cNvSpPr txBox="1"/>
          <p:nvPr/>
        </p:nvSpPr>
        <p:spPr>
          <a:xfrm>
            <a:off x="640080" y="1664207"/>
            <a:ext cx="6217920" cy="347472"/>
          </a:xfrm>
          <a:prstGeom prst="rect">
            <a:avLst/>
          </a:prstGeom>
          <a:noFill/>
        </p:spPr>
        <p:txBody>
          <a:bodyPr wrap="square">
            <a:spAutoFit/>
          </a:bodyPr>
          <a:lstStyle/>
          <a:p>
            <a:r>
              <a:rPr sz="1100" b="1">
                <a:solidFill>
                  <a:srgbClr val="FFFFFF"/>
                </a:solidFill>
                <a:latin typeface="Calibri"/>
              </a:rPr>
              <a:t>Alineación Curricular y Viabilidad Comprobada</a:t>
            </a:r>
          </a:p>
        </p:txBody>
      </p:sp>
      <p:sp>
        <p:nvSpPr>
          <p:cNvPr id="9" name="TextBox 8"/>
          <p:cNvSpPr txBox="1"/>
          <p:nvPr/>
        </p:nvSpPr>
        <p:spPr>
          <a:xfrm>
            <a:off x="640080" y="1993391"/>
            <a:ext cx="6217920" cy="4251960"/>
          </a:xfrm>
          <a:prstGeom prst="rect">
            <a:avLst/>
          </a:prstGeom>
          <a:noFill/>
        </p:spPr>
        <p:txBody>
          <a:bodyPr wrap="square">
            <a:spAutoFit/>
          </a:bodyPr>
          <a:lstStyle/>
          <a:p>
            <a:pPr>
              <a:spcBef>
                <a:spcPts val="250"/>
              </a:spcBef>
              <a:spcAft>
                <a:spcPts val="200"/>
              </a:spcAft>
            </a:pPr>
            <a:r>
              <a:rPr sz="900" b="1">
                <a:solidFill>
                  <a:srgbClr val="06B6D4"/>
                </a:solidFill>
                <a:latin typeface="Calibri"/>
              </a:rPr>
              <a:t>Cumplimiento FIME UANL al 100%: </a:t>
            </a:r>
            <a:r>
              <a:rPr sz="880">
                <a:solidFill>
                  <a:srgbClr val="F1F5F9"/>
                </a:solidFill>
                <a:latin typeface="Calibri"/>
              </a:rPr>
              <a:t>Integración multidisciplinar exitosa de mecánica 3D (Fusion 360), electrónica de potencia (EasyEDA), firmware FreeRTOS (ESP32) y desarrollo web full-stack.</a:t>
            </a:r>
          </a:p>
          <a:p>
            <a:pPr>
              <a:spcBef>
                <a:spcPts val="250"/>
              </a:spcBef>
              <a:spcAft>
                <a:spcPts val="200"/>
              </a:spcAft>
            </a:pPr>
            <a:r>
              <a:rPr sz="900" b="1">
                <a:solidFill>
                  <a:srgbClr val="06B6D4"/>
                </a:solidFill>
                <a:latin typeface="Calibri"/>
              </a:rPr>
              <a:t>Retos Técnicos Superados: </a:t>
            </a:r>
            <a:r>
              <a:rPr sz="880">
                <a:solidFill>
                  <a:srgbClr val="F1F5F9"/>
                </a:solidFill>
                <a:latin typeface="Calibri"/>
              </a:rPr>
              <a:t>Solución analítica al pandeo de charolas (Euler-Bernoulli), supresión de Back-EMF con aislamiento galvánico y refrigeración estricta NOM-251 a 42°C exterior.</a:t>
            </a:r>
          </a:p>
          <a:p>
            <a:pPr>
              <a:spcBef>
                <a:spcPts val="250"/>
              </a:spcBef>
              <a:spcAft>
                <a:spcPts val="200"/>
              </a:spcAft>
            </a:pPr>
            <a:r>
              <a:rPr sz="900" b="1">
                <a:solidFill>
                  <a:srgbClr val="06B6D4"/>
                </a:solidFill>
                <a:latin typeface="Calibri"/>
              </a:rPr>
              <a:t>Manufactura Nacional Factible: </a:t>
            </a:r>
            <a:r>
              <a:rPr sz="880">
                <a:solidFill>
                  <a:srgbClr val="F1F5F9"/>
                </a:solidFill>
                <a:latin typeface="Calibri"/>
              </a:rPr>
              <a:t>BOM de $46,463.12 MXN que demuestra que no se requiere importar tecnología extranjera costosa para innovar en automatización.</a:t>
            </a:r>
          </a:p>
          <a:p>
            <a:pPr>
              <a:spcBef>
                <a:spcPts val="250"/>
              </a:spcBef>
              <a:spcAft>
                <a:spcPts val="200"/>
              </a:spcAft>
            </a:pPr>
            <a:r>
              <a:rPr sz="900" b="1">
                <a:solidFill>
                  <a:srgbClr val="06B6D4"/>
                </a:solidFill>
                <a:latin typeface="Calibri"/>
              </a:rPr>
              <a:t>Impacto Social Comunitario: </a:t>
            </a:r>
            <a:r>
              <a:rPr sz="880">
                <a:solidFill>
                  <a:srgbClr val="F1F5F9"/>
                </a:solidFill>
                <a:latin typeface="Calibri"/>
              </a:rPr>
              <a:t>Dignifica la alimentación estudiantil con comida caliente balanceada a $85 MXN en 10 segundos, beneficiando a loncherías locales.</a:t>
            </a:r>
          </a:p>
        </p:txBody>
      </p:sp>
      <p:sp>
        <p:nvSpPr>
          <p:cNvPr id="10" name="Rounded Rectangle 9"/>
          <p:cNvSpPr/>
          <p:nvPr/>
        </p:nvSpPr>
        <p:spPr>
          <a:xfrm>
            <a:off x="7315200" y="1188720"/>
            <a:ext cx="4389120" cy="5166360"/>
          </a:xfrm>
          <a:prstGeom prst="roundRect">
            <a:avLst>
              <a:gd name="adj" fmla="val 40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59E0B"/>
                </a:solidFill>
                <a:latin typeface="Calibri"/>
              </a:rPr>
              <a:t>REPOSITORIO DIGITAL OFICIAL
</a:t>
            </a:r>
          </a:p>
          <a:p>
            <a:pPr algn="ctr"/>
            <a:r>
              <a:rPr sz="1000" b="1">
                <a:solidFill>
                  <a:srgbClr val="06B6D4"/>
                </a:solidFill>
                <a:latin typeface="Calibri"/>
              </a:rPr>
              <a:t>https://github.com/Anubys6/ExpendeX-Smart-Vending-FIME
</a:t>
            </a:r>
          </a:p>
          <a:p>
            <a:r>
              <a:rPr sz="950" b="1">
                <a:solidFill>
                  <a:srgbClr val="10B981"/>
                </a:solidFill>
                <a:latin typeface="Calibri"/>
              </a:rPr>
              <a:t>DEMOSTRACIONES LISTAS EN VIVO POR INTEGRANTE:
</a:t>
            </a:r>
          </a:p>
          <a:p>
            <a:pPr>
              <a:spcBef>
                <a:spcPts val="250"/>
              </a:spcBef>
            </a:pPr>
            <a:r>
              <a:rPr sz="850" b="1">
                <a:solidFill>
                  <a:srgbClr val="FFFFFF"/>
                </a:solidFill>
                <a:latin typeface="Calibri"/>
              </a:rPr>
              <a:t>• Quiosco Web Touchscreen 10.1" (Emiliano Sánchez): </a:t>
            </a:r>
            <a:r>
              <a:rPr sz="819">
                <a:solidFill>
                  <a:srgbClr val="F1F5F9"/>
                </a:solidFill>
                <a:latin typeface="Calibri"/>
              </a:rPr>
              <a:t>Catálogo interactivo, desglose NOM-051 y modal de cobro QR.</a:t>
            </a:r>
          </a:p>
          <a:p>
            <a:pPr>
              <a:spcBef>
                <a:spcPts val="250"/>
              </a:spcBef>
            </a:pPr>
            <a:r>
              <a:rPr sz="850" b="1">
                <a:solidFill>
                  <a:srgbClr val="FFFFFF"/>
                </a:solidFill>
                <a:latin typeface="Calibri"/>
              </a:rPr>
              <a:t>• Panel Administrativo FIFO (Emiliano Sánchez): </a:t>
            </a:r>
            <a:r>
              <a:rPr sz="819">
                <a:solidFill>
                  <a:srgbClr val="F1F5F9"/>
                </a:solidFill>
                <a:latin typeface="Calibri"/>
              </a:rPr>
              <a:t>Control de stock multi-ranura y telemetría de temperatura.</a:t>
            </a:r>
          </a:p>
          <a:p>
            <a:pPr>
              <a:spcBef>
                <a:spcPts val="250"/>
              </a:spcBef>
            </a:pPr>
            <a:r>
              <a:rPr sz="850" b="1">
                <a:solidFill>
                  <a:srgbClr val="FFFFFF"/>
                </a:solidFill>
                <a:latin typeface="Calibri"/>
              </a:rPr>
              <a:t>• Placa de Potencia EasyEDA (Francisco Reyes): </a:t>
            </a:r>
            <a:r>
              <a:rPr sz="819">
                <a:solidFill>
                  <a:srgbClr val="F1F5F9"/>
                </a:solidFill>
                <a:latin typeface="Calibri"/>
              </a:rPr>
              <a:t>Conmutación matricial High/Low Side y supresión Back-EMF.</a:t>
            </a:r>
          </a:p>
          <a:p>
            <a:pPr>
              <a:spcBef>
                <a:spcPts val="250"/>
              </a:spcBef>
            </a:pPr>
            <a:r>
              <a:rPr sz="850" b="1">
                <a:solidFill>
                  <a:srgbClr val="FFFFFF"/>
                </a:solidFill>
                <a:latin typeface="Calibri"/>
              </a:rPr>
              <a:t>• Simulación Wokwi 36 LEDs (Samuel Tovar): </a:t>
            </a:r>
            <a:r>
              <a:rPr sz="819">
                <a:solidFill>
                  <a:srgbClr val="F1F5F9"/>
                </a:solidFill>
                <a:latin typeface="Calibri"/>
              </a:rPr>
              <a:t>Firmware ESP32 FreeRTOS, tareas concurrentes y cortina IR.</a:t>
            </a:r>
          </a:p>
          <a:p>
            <a:pPr>
              <a:spcBef>
                <a:spcPts val="250"/>
              </a:spcBef>
            </a:pPr>
            <a:r>
              <a:rPr sz="850" b="1">
                <a:solidFill>
                  <a:srgbClr val="FFFFFF"/>
                </a:solidFill>
                <a:latin typeface="Calibri"/>
              </a:rPr>
              <a:t>• Gemelo Digital CAD 3D (Samuel Tovar): </a:t>
            </a:r>
            <a:r>
              <a:rPr sz="819">
                <a:solidFill>
                  <a:srgbClr val="F1F5F9"/>
                </a:solidFill>
                <a:latin typeface="Calibri"/>
              </a:rPr>
              <a:t>Despiece y cinemática de ensamble en Autodesk Fusion 360.</a:t>
            </a:r>
          </a:p>
        </p:txBody>
      </p:sp>
      <p:sp>
        <p:nvSpPr>
          <p:cNvPr id="11" name="Rectangle 10"/>
          <p:cNvSpPr/>
          <p:nvPr/>
        </p:nvSpPr>
        <p:spPr>
          <a:xfrm>
            <a:off x="0" y="6537960"/>
            <a:ext cx="12191695" cy="320040"/>
          </a:xfrm>
          <a:prstGeom prst="rect">
            <a:avLst/>
          </a:prstGeom>
          <a:solidFill>
            <a:srgbClr val="131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6547104"/>
            <a:ext cx="9601200" cy="292608"/>
          </a:xfrm>
          <a:prstGeom prst="rect">
            <a:avLst/>
          </a:prstGeom>
          <a:noFill/>
        </p:spPr>
        <p:txBody>
          <a:bodyPr wrap="none">
            <a:spAutoFit/>
          </a:bodyPr>
          <a:lstStyle/>
          <a:p>
            <a:r>
              <a:rPr sz="819">
                <a:solidFill>
                  <a:srgbClr val="94A3B8"/>
                </a:solidFill>
                <a:latin typeface="Calibri"/>
              </a:rPr>
              <a:t>ExpendeX - Proyecto Integrador de Aprendizaje (PIA) | FIME UANL | Repositorio: https://github.com/Anubys6/ExpendeX-Smart-Vending-FIME</a:t>
            </a:r>
          </a:p>
        </p:txBody>
      </p:sp>
      <p:sp>
        <p:nvSpPr>
          <p:cNvPr id="13" name="TextBox 12"/>
          <p:cNvSpPr txBox="1"/>
          <p:nvPr/>
        </p:nvSpPr>
        <p:spPr>
          <a:xfrm>
            <a:off x="10241280" y="6547104"/>
            <a:ext cx="1645920" cy="292608"/>
          </a:xfrm>
          <a:prstGeom prst="rect">
            <a:avLst/>
          </a:prstGeom>
          <a:noFill/>
        </p:spPr>
        <p:txBody>
          <a:bodyPr wrap="none">
            <a:spAutoFit/>
          </a:bodyPr>
          <a:lstStyle/>
          <a:p>
            <a:pPr algn="r"/>
            <a:r>
              <a:rPr sz="819" b="1">
                <a:solidFill>
                  <a:srgbClr val="06B6D4"/>
                </a:solidFill>
                <a:latin typeface="Calibri"/>
              </a:rPr>
              <a:t>Diapositiva 15 de 15</a:t>
            </a:r>
          </a:p>
        </p:txBody>
      </p:sp>
    </p:spTree>
  </p:cSld>
  <p:clrMapOvr>
    <a:masterClrMapping/>
  </p:clrMapOvr>
  <mc:AlternateContent xmlns:mc="http://schemas.openxmlformats.org/markup-compatibility/2006">
    <mc:Choice xmlns:p14="http://schemas.microsoft.com/office/powerpoint/2010/main" Requires="p14">
      <p:transition spd="med" p14:dur="650">
        <p:cut/>
      </p:transition>
    </mc:Choice>
    <mc:Fallback>
      <p:transition spd="med">
        <p:cu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450"/>
                            </p:stCondLst>
                            <p:childTnLst>
                              <p:par>
                                <p:cTn id="9" presetID="10" presetClass="entr" presetSubtype="0" fill="hold" grpId="0" nodeType="afterEffect">
                                  <p:stCondLst>
                                    <p:cond delay="1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900"/>
                            </p:stCondLst>
                            <p:childTnLst>
                              <p:par>
                                <p:cTn id="13" presetID="10" presetClass="entr" presetSubtype="0" fill="hold" grpId="0" nodeType="afterEffect">
                                  <p:stCondLst>
                                    <p:cond delay="1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350"/>
                                        <p:tgtEl>
                                          <p:spTgt spid="8"/>
                                        </p:tgtEl>
                                      </p:cBhvr>
                                    </p:animEffect>
                                  </p:childTnLst>
                                </p:cTn>
                              </p:par>
                            </p:childTnLst>
                          </p:cTn>
                        </p:par>
                        <p:par>
                          <p:cTn id="16" fill="hold">
                            <p:stCondLst>
                              <p:cond delay="1350"/>
                            </p:stCondLst>
                            <p:childTnLst>
                              <p:par>
                                <p:cTn id="17" presetID="10" presetClass="entr" presetSubtype="0" fill="hold" grpId="0" nodeType="afterEffect">
                                  <p:stCondLst>
                                    <p:cond delay="1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350"/>
                                        <p:tgtEl>
                                          <p:spTgt spid="9"/>
                                        </p:tgtEl>
                                      </p:cBhvr>
                                    </p:animEffect>
                                  </p:childTnLst>
                                </p:cTn>
                              </p:par>
                            </p:childTnLst>
                          </p:cTn>
                        </p:par>
                        <p:par>
                          <p:cTn id="20" fill="hold">
                            <p:stCondLst>
                              <p:cond delay="1800"/>
                            </p:stCondLst>
                            <p:childTnLst>
                              <p:par>
                                <p:cTn id="21" presetID="10" presetClass="entr" presetSubtype="0" fill="hold" grpId="0" nodeType="afterEffect">
                                  <p:stCondLst>
                                    <p:cond delay="1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childTnLst>
                          </p:cTn>
                        </p:par>
                        <p:par>
                          <p:cTn id="24" fill="hold">
                            <p:stCondLst>
                              <p:cond delay="2250"/>
                            </p:stCondLst>
                            <p:childTnLst>
                              <p:par>
                                <p:cTn id="25" presetID="10" presetClass="entr" presetSubtype="0" fill="hold" grpId="0" nodeType="afterEffect">
                                  <p:stCondLst>
                                    <p:cond delay="1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childTnLst>
                          </p:cTn>
                        </p:par>
                        <p:par>
                          <p:cTn id="28" fill="hold">
                            <p:stCondLst>
                              <p:cond delay="2700"/>
                            </p:stCondLst>
                            <p:childTnLst>
                              <p:par>
                                <p:cTn id="29" presetID="10" presetClass="entr" presetSubtype="0" fill="hold" grpId="0" nodeType="afterEffect">
                                  <p:stCondLst>
                                    <p:cond delay="1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350"/>
                                        <p:tgtEl>
                                          <p:spTgt spid="12"/>
                                        </p:tgtEl>
                                      </p:cBhvr>
                                    </p:animEffect>
                                  </p:childTnLst>
                                </p:cTn>
                              </p:par>
                            </p:childTnLst>
                          </p:cTn>
                        </p:par>
                        <p:par>
                          <p:cTn id="32" fill="hold">
                            <p:stCondLst>
                              <p:cond delay="3150"/>
                            </p:stCondLst>
                            <p:childTnLst>
                              <p:par>
                                <p:cTn id="33" presetID="10" presetClass="entr" presetSubtype="0" fill="hold" grpId="0" nodeType="afterEffect">
                                  <p:stCondLst>
                                    <p:cond delay="1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p:bldP spid="10" grpId="0" animBg="1"/>
      <p:bldP spid="11" grpId="0" animBg="1"/>
      <p:bldP spid="12" grpId="0"/>
      <p:bldP spid="1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5840</Words>
  <Application>Microsoft Office PowerPoint</Application>
  <PresentationFormat>Panorámica</PresentationFormat>
  <Paragraphs>396</Paragraphs>
  <Slides>15</Slides>
  <Notes>15</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15</vt:i4>
      </vt:variant>
    </vt:vector>
  </HeadingPairs>
  <TitlesOfParts>
    <vt:vector size="18"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Samuel Tovar Mujica</cp:lastModifiedBy>
  <cp:revision>2</cp:revision>
  <dcterms:created xsi:type="dcterms:W3CDTF">2013-01-27T09:14:16Z</dcterms:created>
  <dcterms:modified xsi:type="dcterms:W3CDTF">2026-10-28T16:44:33Z</dcterms:modified>
  <cp:category/>
</cp:coreProperties>
</file>