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uanl_log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"/>
            <a:ext cx="1005840" cy="640080"/>
          </a:xfrm>
          <a:prstGeom prst="rect">
            <a:avLst/>
          </a:prstGeom>
        </p:spPr>
      </p:pic>
      <p:pic>
        <p:nvPicPr>
          <p:cNvPr id="4" name="Picture 3" descr="fime_logo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91440"/>
            <a:ext cx="100584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26080" y="10972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UNIVERSIDAD AUTÓNOMA DE NUEVO LEÓN | FACULTAD DE INGENIERÍA MECÁNICA Y ELÉCTRICA</a:t>
            </a:r>
          </a:p>
          <a:p>
            <a:r>
              <a:rPr sz="950">
                <a:solidFill>
                  <a:srgbClr val="06B6D4"/>
                </a:solidFill>
                <a:latin typeface="Calibri"/>
              </a:rPr>
              <a:t>Unidad de Aprendizaje: Proyecto de Ingeniería Aplicada | Examen Ordinario Oficial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66751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325880"/>
            <a:ext cx="3474720" cy="320040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10B981"/>
                </a:solidFill>
                <a:latin typeface="Calibri"/>
              </a:rPr>
              <a:t>PROYECTO DE INGENIERÍA APLICADA | FIME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6217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EXPENDEX</a:t>
            </a:r>
          </a:p>
          <a:p>
            <a:r>
              <a:rPr sz="1350" b="1">
                <a:solidFill>
                  <a:srgbClr val="06B6D4"/>
                </a:solidFill>
                <a:latin typeface="Calibri"/>
              </a:rPr>
              <a:t>Micro-Restaurante Automatizado Híbrido con Inocuidad Térmica y Telemetría IoT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6126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1F5F9"/>
                </a:solidFill>
                <a:latin typeface="Calibri"/>
              </a:rPr>
              <a:t>Solución mecatrónica completa que resuelve el desabasto de alimentación saludable y rápida en centros educativos y laborales de Nuevo León mediante manufactura nacional y economía de escala.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0520"/>
            <a:ext cx="6126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59E0B"/>
                </a:solidFill>
                <a:latin typeface="Calibri"/>
              </a:rPr>
              <a:t>EQUIPO DE DESARROLLO E INGENIERÍA:
</a:t>
            </a:r>
          </a:p>
          <a:p>
            <a:r>
              <a:rPr sz="900" b="1">
                <a:solidFill>
                  <a:srgbClr val="06B6D4"/>
                </a:solidFill>
                <a:latin typeface="Calibri"/>
              </a:rPr>
              <a:t>• Samuel Tovar Mújica (Mat. 2077933): </a:t>
            </a:r>
            <a:r>
              <a:rPr sz="880">
                <a:solidFill>
                  <a:srgbClr val="F1F5F9"/>
                </a:solidFill>
                <a:latin typeface="Calibri"/>
              </a:rPr>
              <a:t>Jefe del Proyecto. Modelado 3D CAD en Fusion 360, Renders Oficiales, Electrónica Digital y Documentación Técnica.</a:t>
            </a:r>
          </a:p>
          <a:p>
            <a:r>
              <a:rPr sz="900" b="1">
                <a:solidFill>
                  <a:srgbClr val="06B6D4"/>
                </a:solidFill>
                <a:latin typeface="Calibri"/>
              </a:rPr>
              <a:t>• Compañero de Equipo: </a:t>
            </a:r>
            <a:r>
              <a:rPr sz="880">
                <a:solidFill>
                  <a:srgbClr val="F1F5F9"/>
                </a:solidFill>
                <a:latin typeface="Calibri"/>
              </a:rPr>
              <a:t>Desarrollo de Plataforma Web (Quiosco y Panel Admin) y Simulación de Electrónica de Potencia en EasyEDA.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097280"/>
            <a:ext cx="42976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2_Vista_Isometrica_Frontal_Derecha_CAD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234440"/>
            <a:ext cx="3931920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06640" y="58521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6B6D4"/>
                </a:solidFill>
                <a:latin typeface="Calibri"/>
              </a:rPr>
              <a:t>Modelo CAD Oficial Fusion 360 | Copete Superior HMI 10.1"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3" grpId="0"/>
      <p:bldP spid="14" grpId="0" animBg="1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ORIGEN Y MOTIVACIÓN: ¿QUÉ NOS IMPULSÓ A CREAR ESTA MÁQUINA?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La vivencia cotidiana del estudiante y trabajador en Nuevo León frente a la barrera de alimentación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MOTIVACIÓN Y PROPÓSITO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414015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43F5E"/>
                </a:solidFill>
                <a:latin typeface="Calibri"/>
              </a:rPr>
              <a:t>1. LA VIVENCIA EN CARNE PROPIA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El Dilema del Horario Quebrado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Horarios Continuos: </a:t>
            </a:r>
            <a:r>
              <a:rPr sz="919">
                <a:solidFill>
                  <a:srgbClr val="F1F5F9"/>
                </a:solidFill>
                <a:latin typeface="Calibri"/>
              </a:rPr>
              <a:t>Como estudiantes de la FIME UANL con jornadas de 7:00 a 21:00 hrs, experimentamos a diario la imposibilidad de conseguir comida real y caliente en recesos de 15 a 20 minutos.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Colapso de Cafeterías: </a:t>
            </a:r>
            <a:r>
              <a:rPr sz="919">
                <a:solidFill>
                  <a:srgbClr val="F1F5F9"/>
                </a:solidFill>
                <a:latin typeface="Calibri"/>
              </a:rPr>
              <a:t>Las filas en cafeterías y locales tradicionales superan los 35 minutos en horas pico, consumiendo todo el tiempo libre del alumno.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Sobrecosto de Delivery: </a:t>
            </a:r>
            <a:r>
              <a:rPr sz="919">
                <a:solidFill>
                  <a:srgbClr val="F1F5F9"/>
                </a:solidFill>
                <a:latin typeface="Calibri"/>
              </a:rPr>
              <a:t>Pedir por aplicaciones en campus resulta inviable por costos de envío, propinas y tiempos de espera de más de 45 minutos.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0560" y="1325880"/>
            <a:ext cx="2172614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2. LA TRAMPA DE LA CHATARRA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Monopolio de Ultraprocesados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Vending Convencional: </a:t>
            </a:r>
            <a:r>
              <a:rPr sz="919">
                <a:solidFill>
                  <a:srgbClr val="F1F5F9"/>
                </a:solidFill>
                <a:latin typeface="Calibri"/>
              </a:rPr>
              <a:t>El 100% de las máquinas vending en el campus ofrecen únicamente papas fritas, galletas y refrescos azucarados con múltiples sellos negros.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Deterioro Físico y Mental: </a:t>
            </a:r>
            <a:r>
              <a:rPr sz="919">
                <a:solidFill>
                  <a:srgbClr val="F1F5F9"/>
                </a:solidFill>
                <a:latin typeface="Calibri"/>
              </a:rPr>
              <a:t>La dependencia forzada a carbohidratos simples provoca picos de glucosa seguidos de somnolencia, fatiga crónica y menor rendimiento académico.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Gasto Fantasma: </a:t>
            </a:r>
            <a:r>
              <a:rPr sz="919">
                <a:solidFill>
                  <a:srgbClr val="F1F5F9"/>
                </a:solidFill>
                <a:latin typeface="Calibri"/>
              </a:rPr>
              <a:t>Comprar snacks y café varias veces al día acumula un gasto de $90 a $120 MXN diarios sin saciedad ni aporte nutritivo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21040" y="1325880"/>
            <a:ext cx="1850745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3. LA VISIÓN INGENIERIL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Mecatrónica con Propósito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Más que una Maqueta: </a:t>
            </a:r>
            <a:r>
              <a:rPr sz="919">
                <a:solidFill>
                  <a:srgbClr val="F1F5F9"/>
                </a:solidFill>
                <a:latin typeface="Calibri"/>
              </a:rPr>
              <a:t>Rechazamos la idea de un proyecto puramente teórico o un dispensador de dulces de juguete.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Solución de Alto Nivel: </a:t>
            </a:r>
            <a:r>
              <a:rPr sz="919">
                <a:solidFill>
                  <a:srgbClr val="F1F5F9"/>
                </a:solidFill>
                <a:latin typeface="Calibri"/>
              </a:rPr>
              <a:t>Diseñamos un micro-restaurante automatizado de manufactura nacional, robusto, refrigerado e higiénico.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Impacto Social Directo: </a:t>
            </a:r>
            <a:r>
              <a:rPr sz="919">
                <a:solidFill>
                  <a:srgbClr val="F1F5F9"/>
                </a:solidFill>
                <a:latin typeface="Calibri"/>
              </a:rPr>
              <a:t>Democratizar el acceso a guisos recién preparados y bebidas frías a precios accesibles ($65-$85 MXN) las 24 horas del día.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2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EL PROBLEMA: 'DESIERTOS ALIMENTARIOS' Y COMIDA CHATARRA FORZADA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Diagnóstico cuantitativo del impacto en salud, economía y productividad en Nuevo León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DIAGNÓSTICO CRÍTICO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43F5E"/>
                </a:solidFill>
                <a:latin typeface="Calibri"/>
              </a:rPr>
              <a:t>CRISIS METABÓLICA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43F5E"/>
                </a:solidFill>
                <a:latin typeface="Calibri"/>
              </a:rPr>
              <a:t>73.6% </a:t>
            </a:r>
            <a:r>
              <a:rPr sz="1200">
                <a:solidFill>
                  <a:srgbClr val="94A3B8"/>
                </a:solidFill>
                <a:latin typeface="Calibri"/>
              </a:rPr>
              <a:t>Adultos en 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Sobrepeso y Obesidad en NL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320040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Causa Raíz: </a:t>
            </a:r>
            <a:r>
              <a:rPr sz="919">
                <a:solidFill>
                  <a:srgbClr val="F1F5F9"/>
                </a:solidFill>
                <a:latin typeface="Calibri"/>
              </a:rPr>
              <a:t>La falta de acceso a comida balanceada en turnos continuos obliga al consumo de comida rápida ultraprocesada.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Impacto en Jóvenes: </a:t>
            </a:r>
            <a:r>
              <a:rPr sz="919">
                <a:solidFill>
                  <a:srgbClr val="F1F5F9"/>
                </a:solidFill>
                <a:latin typeface="Calibri"/>
              </a:rPr>
              <a:t>Nuevo León presenta una de las tasas de diabetes juvenil y síndrome metabólico más altas del país.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Costo a Largo Plazo: </a:t>
            </a:r>
            <a:r>
              <a:rPr sz="919">
                <a:solidFill>
                  <a:srgbClr val="F1F5F9"/>
                </a:solidFill>
                <a:latin typeface="Calibri"/>
              </a:rPr>
              <a:t>Gastos médicos catastróficos y reducción en la calidad de vida de la fuerza laboral técnica.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80560" y="1325880"/>
            <a:ext cx="1689811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INEFICIENCIA TEMPORAL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73352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59E0B"/>
                </a:solidFill>
                <a:latin typeface="Calibri"/>
              </a:rPr>
              <a:t>42 min </a:t>
            </a:r>
            <a:r>
              <a:rPr sz="1200">
                <a:solidFill>
                  <a:srgbClr val="94A3B8"/>
                </a:solidFill>
                <a:latin typeface="Calibri"/>
              </a:rPr>
              <a:t>Tiempo Promedio Fila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037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Colapso en Horas Pico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51176"/>
            <a:ext cx="320040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Tiempo Perdido: </a:t>
            </a:r>
            <a:r>
              <a:rPr sz="919">
                <a:solidFill>
                  <a:srgbClr val="F1F5F9"/>
                </a:solidFill>
                <a:latin typeface="Calibri"/>
              </a:rPr>
              <a:t>El promedio de espera en cafeterías universitarias es de 35 a 50 minutos entre las 12:00 y 15:00 hrs.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Pérdida de Clases: </a:t>
            </a:r>
            <a:r>
              <a:rPr sz="919">
                <a:solidFill>
                  <a:srgbClr val="F1F5F9"/>
                </a:solidFill>
                <a:latin typeface="Calibri"/>
              </a:rPr>
              <a:t>El 42% de los estudiantes admite llegar tarde a laboratorios o saltarse comidas para no faltar a clase.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Estrés Cotidiano: </a:t>
            </a:r>
            <a:r>
              <a:rPr sz="919">
                <a:solidFill>
                  <a:srgbClr val="F1F5F9"/>
                </a:solidFill>
                <a:latin typeface="Calibri"/>
              </a:rPr>
              <a:t>La fricción de compra genera malestar constante en la comunidad estudiantil y docente.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2104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SOBRECOSTO LOGÍSTICO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673352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6B6D4"/>
                </a:solidFill>
                <a:latin typeface="Calibri"/>
              </a:rPr>
              <a:t>+85% </a:t>
            </a:r>
            <a:r>
              <a:rPr sz="1200">
                <a:solidFill>
                  <a:srgbClr val="94A3B8"/>
                </a:solidFill>
                <a:latin typeface="Calibri"/>
              </a:rPr>
              <a:t>Sobrecosto de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037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Tarifas de Delivery Abusivas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551176"/>
            <a:ext cx="320040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Comisiones de Apps: </a:t>
            </a:r>
            <a:r>
              <a:rPr sz="919">
                <a:solidFill>
                  <a:srgbClr val="F1F5F9"/>
                </a:solidFill>
                <a:latin typeface="Calibri"/>
              </a:rPr>
              <a:t>Plataformas como UberEats o Didi cobran entre 28% y 34% de comisión a los restaurantes.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Sobrecosto al Usuario: </a:t>
            </a:r>
            <a:r>
              <a:rPr sz="919">
                <a:solidFill>
                  <a:srgbClr val="F1F5F9"/>
                </a:solidFill>
                <a:latin typeface="Calibri"/>
              </a:rPr>
              <a:t>Un platillo de $90 MXN termina costando hasta $175 MXN con tarifa de servicio, envío y propina.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Restricción de Acceso: </a:t>
            </a:r>
            <a:r>
              <a:rPr sz="919">
                <a:solidFill>
                  <a:srgbClr val="F1F5F9"/>
                </a:solidFill>
                <a:latin typeface="Calibri"/>
              </a:rPr>
              <a:t>Los repartidores no tienen acceso al interior de facultades o plantas de manufactura.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3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LA COMPETENCIA Y EL ESTADO DEL MERCADO: ¿POR QUÉ FRACASAN?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Análisis crítico de las 4 soluciones actuales y sus barreras técnicas, logísticas y de costo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ANÁLISIS COMPETITIVO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43F5E"/>
                </a:solidFill>
                <a:latin typeface="Calibri"/>
              </a:rPr>
              <a:t>VENDING CONVENCIONAL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Máquinas de Snacks Tradicionales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233172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Falla Crítica: </a:t>
            </a:r>
            <a:r>
              <a:rPr sz="919">
                <a:solidFill>
                  <a:srgbClr val="F1F5F9"/>
                </a:solidFill>
                <a:latin typeface="Calibri"/>
              </a:rPr>
              <a:t>0% oferta de alimentos frescos o calientes. Solo comida chatarra de anaquel.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Hardware Obsoleto: </a:t>
            </a:r>
            <a:r>
              <a:rPr sz="919">
                <a:solidFill>
                  <a:srgbClr val="F1F5F9"/>
                </a:solidFill>
                <a:latin typeface="Calibri"/>
              </a:rPr>
              <a:t>Monederos electromecánicos que se traban frecuentemente.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Sin Telemetría: </a:t>
            </a:r>
            <a:r>
              <a:rPr sz="919">
                <a:solidFill>
                  <a:srgbClr val="F1F5F9"/>
                </a:solidFill>
                <a:latin typeface="Calibri"/>
              </a:rPr>
              <a:t>Cero control de stock o caducidad remota.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7472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CAFETERÍAS Y FONDAS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67335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Locales de Comida Física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20824"/>
            <a:ext cx="233172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Falla Crítica: </a:t>
            </a:r>
            <a:r>
              <a:rPr sz="919">
                <a:solidFill>
                  <a:srgbClr val="F1F5F9"/>
                </a:solidFill>
                <a:latin typeface="Calibri"/>
              </a:rPr>
              <a:t>Capacidad instalada saturada. Filas intolerables en hora pico.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Horarios Restringidos: </a:t>
            </a:r>
            <a:r>
              <a:rPr sz="919">
                <a:solidFill>
                  <a:srgbClr val="F1F5F9"/>
                </a:solidFill>
                <a:latin typeface="Calibri"/>
              </a:rPr>
              <a:t>Cierran a las 18:00 hrs, abandonando el turno nocturno.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Altos Costos Fijos: </a:t>
            </a:r>
            <a:r>
              <a:rPr sz="919">
                <a:solidFill>
                  <a:srgbClr val="F1F5F9"/>
                </a:solidFill>
                <a:latin typeface="Calibri"/>
              </a:rPr>
              <a:t>Rentas comerciales elevadas y nómina de personal de cocina y cobro.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0936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APPS DE 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67335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UberEats, Didi Food, Rappi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020824"/>
            <a:ext cx="233172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Falla Crítica: </a:t>
            </a:r>
            <a:r>
              <a:rPr sz="919">
                <a:solidFill>
                  <a:srgbClr val="F1F5F9"/>
                </a:solidFill>
                <a:latin typeface="Calibri"/>
              </a:rPr>
              <a:t>Tiempos de entrega erráticos de 45 a 65 minutos.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Tarifas Abusivas: </a:t>
            </a:r>
            <a:r>
              <a:rPr sz="919">
                <a:solidFill>
                  <a:srgbClr val="F1F5F9"/>
                </a:solidFill>
                <a:latin typeface="Calibri"/>
              </a:rPr>
              <a:t>Inaccesible para el presupuesto diario de un estudiante.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Vulnerabilidad Climática: </a:t>
            </a:r>
            <a:r>
              <a:rPr sz="919">
                <a:solidFill>
                  <a:srgbClr val="F1F5F9"/>
                </a:solidFill>
                <a:latin typeface="Calibri"/>
              </a:rPr>
              <a:t>Lluvia o calor extremo paralizan el servicio en Monterrey.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4400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8B5CF6"/>
                </a:solidFill>
                <a:latin typeface="Calibri"/>
              </a:rPr>
              <a:t>VENDING IMPORTADO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67335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Máquinas Smart USA / China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020824"/>
            <a:ext cx="233172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Falla Crítica: </a:t>
            </a:r>
            <a:r>
              <a:rPr sz="919">
                <a:solidFill>
                  <a:srgbClr val="F1F5F9"/>
                </a:solidFill>
                <a:latin typeface="Calibri"/>
              </a:rPr>
              <a:t>Costo exorbitante: $180,000 a $240,000 MXN por máquina.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Falta de Refacciones: </a:t>
            </a:r>
            <a:r>
              <a:rPr sz="919">
                <a:solidFill>
                  <a:srgbClr val="F1F5F9"/>
                </a:solidFill>
                <a:latin typeface="Calibri"/>
              </a:rPr>
              <a:t>Semanas de paro técnico por componentes extranjeros no homologados.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SaaS Mensual en Dólares: </a:t>
            </a:r>
            <a:r>
              <a:rPr sz="919">
                <a:solidFill>
                  <a:srgbClr val="F1F5F9"/>
                </a:solidFill>
                <a:latin typeface="Calibri"/>
              </a:rPr>
              <a:t>Cobros recurrentes que destruyen la rentabilidad local.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4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MATRIZ DE BENCHMARKING: EXPENDEX FRENTE A TODAS LAS ALTERNATIVAS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Comparativa cuantitativa multidimensional de costos, tiempos, inocuidad y accesibilidad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BENCHMARKING 10X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Criterio Evaluado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0B981"/>
                          </a:solidFill>
                          <a:latin typeface="Calibri"/>
                        </a:rPr>
                        <a:t>ExpendeX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Vending Común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Cafetería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Delivery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Importada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Tiempo de Despacho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0B981"/>
                          </a:solidFill>
                          <a:latin typeface="Calibri"/>
                        </a:rPr>
                        <a:t>8 - 12 seg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25 seg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35 - 50 min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45 - 65 min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15 - 20 seg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Precio Combo Completo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0B981"/>
                          </a:solidFill>
                          <a:latin typeface="Calibri"/>
                        </a:rPr>
                        <a:t>$85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N/A (Sólo snacks)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$95 - $115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$160 - $210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$130 - $160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Inocuidad Térmica (4-6°C)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0B981"/>
                          </a:solidFill>
                          <a:latin typeface="Calibri"/>
                        </a:rPr>
                        <a:t>NOM-251 + 14h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Sin sensor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Manual variable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En motocicleta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Estándar USA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Métodos de Pago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0B981"/>
                          </a:solidFill>
                          <a:latin typeface="Calibri"/>
                        </a:rPr>
                        <a:t>QR, Tarjeta, CoDi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Monedas sucias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Efectivo / Terminal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Tarjeta online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Tarjeta / App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Disponibilidad Horaria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0B981"/>
                          </a:solidFill>
                          <a:latin typeface="Calibri"/>
                        </a:rPr>
                        <a:t>24 / 7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24 / 7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7:00 - 18:00 hrs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24 / 7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805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Costo de Hardware (BOM)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0B981"/>
                          </a:solidFill>
                          <a:latin typeface="Calibri"/>
                        </a:rPr>
                        <a:t>$46,463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$65,000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$350,000+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N/A (Plataforma)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$180,000+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98079" y="1188720"/>
            <a:ext cx="42062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competencia_costo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1" y="1261872"/>
            <a:ext cx="4059935" cy="5020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5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ESTUDIO SOCIOECONÓMICO: RADIOGRAFÍA DEL PÚBLICO OBJETIVO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Validación demográfica, capacidad de gasto y adopción tecnológica en Nuevo León (INEGI)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ESTUDIO SOCIOECONÓMICO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UNIVERSO ESTUDIANTIL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6B6D4"/>
                </a:solidFill>
                <a:latin typeface="Calibri"/>
              </a:rPr>
              <a:t>24,000+ </a:t>
            </a:r>
            <a:r>
              <a:rPr sz="1200">
                <a:solidFill>
                  <a:srgbClr val="94A3B8"/>
                </a:solidFill>
                <a:latin typeface="Calibri"/>
              </a:rPr>
              <a:t>Alumnos en FIME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Población en Campus FIME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320040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Matrícula Directa: </a:t>
            </a:r>
            <a:r>
              <a:rPr sz="919">
                <a:solidFill>
                  <a:srgbClr val="F1F5F9"/>
                </a:solidFill>
                <a:latin typeface="Calibri"/>
              </a:rPr>
              <a:t>Más de 24,000 estudiantes activos en FIME y más de 216,000 en toda la UANL.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Permanencia Prolongada: </a:t>
            </a:r>
            <a:r>
              <a:rPr sz="919">
                <a:solidFill>
                  <a:srgbClr val="F1F5F9"/>
                </a:solidFill>
                <a:latin typeface="Calibri"/>
              </a:rPr>
              <a:t>El 68% de los alumnos pasa más de 8 horas continuas en Ciudad Universitaria.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Horarios Quebrados: </a:t>
            </a:r>
            <a:r>
              <a:rPr sz="919">
                <a:solidFill>
                  <a:srgbClr val="F1F5F9"/>
                </a:solidFill>
                <a:latin typeface="Calibri"/>
              </a:rPr>
              <a:t>Clases matutinas y nocturnas con recesos breves entre bloques.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8056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PRESUPUESTO DIARIO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73352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59E0B"/>
                </a:solidFill>
                <a:latin typeface="Calibri"/>
              </a:rPr>
              <a:t>$85 MXN </a:t>
            </a:r>
            <a:r>
              <a:rPr sz="1200">
                <a:solidFill>
                  <a:srgbClr val="94A3B8"/>
                </a:solidFill>
                <a:latin typeface="Calibri"/>
              </a:rPr>
              <a:t>Presupuesto Combo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037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Capacidad de Gasto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51176"/>
            <a:ext cx="320040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Gasto Diario Promedio: </a:t>
            </a:r>
            <a:r>
              <a:rPr sz="919">
                <a:solidFill>
                  <a:srgbClr val="F1F5F9"/>
                </a:solidFill>
                <a:latin typeface="Calibri"/>
              </a:rPr>
              <a:t>El 82% de los encuestados destina entre $70 y $110 MXN al día en alimentación en campus.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Sweet Spot de Precio: </a:t>
            </a:r>
            <a:r>
              <a:rPr sz="919">
                <a:solidFill>
                  <a:srgbClr val="F1F5F9"/>
                </a:solidFill>
                <a:latin typeface="Calibri"/>
              </a:rPr>
              <a:t>El combo ExpendeX de $85 MXN (Guiso + Bebida) se posiciona exactamente en el rango óptimo de gasto.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Ahorro Percibido: </a:t>
            </a:r>
            <a:r>
              <a:rPr sz="919">
                <a:solidFill>
                  <a:srgbClr val="F1F5F9"/>
                </a:solidFill>
                <a:latin typeface="Calibri"/>
              </a:rPr>
              <a:t>Representa un ahorro de $25 a $35 MXN diarios comparado con cafeterías privadas.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2104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ADOPCIÓN TECNOLÓGICA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673352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0B981"/>
                </a:solidFill>
                <a:latin typeface="Calibri"/>
              </a:rPr>
              <a:t>94.2% </a:t>
            </a:r>
            <a:r>
              <a:rPr sz="1200">
                <a:solidFill>
                  <a:srgbClr val="94A3B8"/>
                </a:solidFill>
                <a:latin typeface="Calibri"/>
              </a:rPr>
              <a:t>Usuarios Digitales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037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Digitalización Bancaria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551176"/>
            <a:ext cx="320040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Penetración de Smartphones: </a:t>
            </a:r>
            <a:r>
              <a:rPr sz="919">
                <a:solidFill>
                  <a:srgbClr val="F1F5F9"/>
                </a:solidFill>
                <a:latin typeface="Calibri"/>
              </a:rPr>
              <a:t>98.7% de penetración móvil entre la comunidad universitaria.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Bancarización Digital: </a:t>
            </a:r>
            <a:r>
              <a:rPr sz="919">
                <a:solidFill>
                  <a:srgbClr val="F1F5F9"/>
                </a:solidFill>
                <a:latin typeface="Calibri"/>
              </a:rPr>
              <a:t>94.2% utiliza tarjetas de débito, MercadoPago, Spin OXXO, Nu o Hey Banco.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Cero Resistencia a QR: </a:t>
            </a:r>
            <a:r>
              <a:rPr sz="919">
                <a:solidFill>
                  <a:srgbClr val="F1F5F9"/>
                </a:solidFill>
                <a:latin typeface="Calibri"/>
              </a:rPr>
              <a:t>Hábitos de consumo 100% digitalizados tras la pandemia.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6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¿PARA QUIÉN ES ESTA MÁQUINA? - MERCADO DE DOBLE CARA (DUAL TARGET)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Un modelo virtuoso que articula beneficios simultáneos para consumidores y productores locales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MERCADO DUAL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057753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SEGMENTO A: CONSUMIDORES FINALES (B2C)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Comunidad Universitaria y Empleados de Turno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512064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Estudiantes Universitarios: </a:t>
            </a:r>
            <a:r>
              <a:rPr sz="919">
                <a:solidFill>
                  <a:srgbClr val="F1F5F9"/>
                </a:solidFill>
                <a:latin typeface="Calibri"/>
              </a:rPr>
              <a:t>Acceden en 10 segundos a comida caliente casera y balanceada, sin perder tiempo en filas ni arriesgar su salud con papas fritas.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Docentes y Administrativos: </a:t>
            </a:r>
            <a:r>
              <a:rPr sz="919">
                <a:solidFill>
                  <a:srgbClr val="F1F5F9"/>
                </a:solidFill>
                <a:latin typeface="Calibri"/>
              </a:rPr>
              <a:t>Disponen de una alternativa práctica y nutritiva dentro de su mismo edificio sin necesidad de salir del campus.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Operadores Industriales y Turnos Nocturnos: </a:t>
            </a:r>
            <a:r>
              <a:rPr sz="919">
                <a:solidFill>
                  <a:srgbClr val="F1F5F9"/>
                </a:solidFill>
                <a:latin typeface="Calibri"/>
              </a:rPr>
              <a:t>Solución alimentaria higiénica para turnos de madrugada (2:00 a 6:00 AM) cuando las cafeterías y restaurantes están totalmente cerrados.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0" y="1325880"/>
            <a:ext cx="2977286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SEGMENTO B: PRODUCTORES LOCALES (B2B)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Loncherías Familiares y Emprendedores Food-Prep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20824"/>
            <a:ext cx="512064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Canal de Venta Automatizado: </a:t>
            </a:r>
            <a:r>
              <a:rPr sz="919">
                <a:solidFill>
                  <a:srgbClr val="F1F5F9"/>
                </a:solidFill>
                <a:latin typeface="Calibri"/>
              </a:rPr>
              <a:t>Colocan entre 20 y 40 porciones diarias en cada máquina sin pagar rentas comerciales ni sueldos de meseros.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Ingresos Diarios Garantizados: </a:t>
            </a:r>
            <a:r>
              <a:rPr sz="919">
                <a:solidFill>
                  <a:srgbClr val="F1F5F9"/>
                </a:solidFill>
                <a:latin typeface="Calibri"/>
              </a:rPr>
              <a:t>Reciben el pago directo de sus platillos a contra-entrega o liquidación diaria, con cero intermediarios abusivos.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Economía Circular Local: </a:t>
            </a:r>
            <a:r>
              <a:rPr sz="919">
                <a:solidFill>
                  <a:srgbClr val="F1F5F9"/>
                </a:solidFill>
                <a:latin typeface="Calibri"/>
              </a:rPr>
              <a:t>El dinero se queda en los negocios familiares del municipio de San Nicolás de los Garza y zonas industriales aledañas.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7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LA SOLUCIÓN: PROTOTIPO REAL EXPENDEX (MODELO CAD 3D FUSION 360)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Arquitectura híbrida 1+4+1, chasis gris industrial y consola HMI superior de 10.1 pulgadas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MODELO 3D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494483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INGENIERÍA MECATRÓNICA INTEGRAL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Arquitectura Estructural y Mecanismos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4937759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Chasis y Carrocería: </a:t>
            </a:r>
            <a:r>
              <a:rPr sz="919">
                <a:solidFill>
                  <a:srgbClr val="F1F5F9"/>
                </a:solidFill>
                <a:latin typeface="Calibri"/>
              </a:rPr>
              <a:t>Diseño en chapa de acero al carbón calibre 18 cortada por láser y doblada en CNC. Acabado en pintura electrostática gris industrial.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Copete Superior Ergonómico: </a:t>
            </a:r>
            <a:r>
              <a:rPr sz="919">
                <a:solidFill>
                  <a:srgbClr val="F1F5F9"/>
                </a:solidFill>
                <a:latin typeface="Calibri"/>
              </a:rPr>
              <a:t>Alojamiento frontal superior inclinado que alberga la pantalla táctil de 10.1 pulgadas, cámara/lector QR y bocina de asistencia auditiva.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Bandejas Asimétricas Híbridas 1+4+1: </a:t>
            </a:r>
            <a:r>
              <a:rPr sz="919">
                <a:solidFill>
                  <a:srgbClr val="F1F5F9"/>
                </a:solidFill>
                <a:latin typeface="Calibri"/>
              </a:rPr>
              <a:t>5 charolas deslizables con guías telescópicas. En los extremos, espirales gigantes helicoidales (Ø 144 mm) para comida caliente de hasta 850 g; en el centro, 4 canales para bebidas frías.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Refrigeración Grado Alimento (NOM-251): </a:t>
            </a:r>
            <a:r>
              <a:rPr sz="919">
                <a:solidFill>
                  <a:srgbClr val="F1F5F9"/>
                </a:solidFill>
                <a:latin typeface="Calibri"/>
              </a:rPr>
              <a:t>Aislamiento de espuma de poliuretano inyectada de 50 mm, compresor Embraco de 1/4 HP y control digital de temperatura entre 4°C y 6°C.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188720"/>
            <a:ext cx="571500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02_Vista_Isometrica_Frontal_Derecha_CAD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1261872"/>
            <a:ext cx="5568696" cy="236829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89320" y="3794760"/>
            <a:ext cx="5715000" cy="25603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ExpendeX_Render_CAD_Detalle_Pantalla_10pulga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3867912"/>
            <a:ext cx="5568696" cy="241401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8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2" grpId="0" animBg="1"/>
      <p:bldP spid="14" grpId="0" animBg="1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CICLO DE FUNCIONAMIENTO (1/3): SELECCIÓN TÁCTIL 10.1" Y PAGO DIGITAL QR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Interacción amigable de usuario, consulta nutrimental NOM-051 y validación de cobro en &lt; 1.5 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PASO A PASO: ETAPAS 1 Y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379622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PASO 1: SELECCIÓN EN PANTALLA TÁCTIL 10.1"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Catálogo Digital Interactivo y Combos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512064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Navegación Intuitiva: </a:t>
            </a:r>
            <a:r>
              <a:rPr sz="919">
                <a:solidFill>
                  <a:srgbClr val="F1F5F9"/>
                </a:solidFill>
                <a:latin typeface="Calibri"/>
              </a:rPr>
              <a:t>El usuario explora el menú en la pantalla táctil capacitiva de 10.1 pulgadas. Visualiza fotos reales de los guisos y bebidas.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Transparencia Nutrimental: </a:t>
            </a:r>
            <a:r>
              <a:rPr sz="919">
                <a:solidFill>
                  <a:srgbClr val="F1F5F9"/>
                </a:solidFill>
                <a:latin typeface="Calibri"/>
              </a:rPr>
              <a:t>Desglose obligatorio conforme a la NOM-051 (sellos, calorías, proteínas, alérgenos). Selecciona combo (ej. Guiso caliente + Refresco por $85 MXN).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66160"/>
            <a:ext cx="5486400" cy="27889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g03_ExpendeX_Kiosco_10pulg_Catalogo_Comb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639312"/>
            <a:ext cx="5340096" cy="264261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118872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0" y="1325880"/>
            <a:ext cx="2977286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PASO 2: GENERACIÓN DE ORDEN Y PAGO 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Cobro Sin Contacto Instantáneo (MercadoPago / SPEI)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20824"/>
            <a:ext cx="512064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Código QR Dinámico: </a:t>
            </a:r>
            <a:r>
              <a:rPr sz="919">
                <a:solidFill>
                  <a:srgbClr val="F1F5F9"/>
                </a:solidFill>
                <a:latin typeface="Calibri"/>
              </a:rPr>
              <a:t>El quiosco genera en pantalla un código QR con ID único de transacción y monto exacto ($85.00 MXN).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Validación Ultrasensible: </a:t>
            </a:r>
            <a:r>
              <a:rPr sz="919">
                <a:solidFill>
                  <a:srgbClr val="F1F5F9"/>
                </a:solidFill>
                <a:latin typeface="Calibri"/>
              </a:rPr>
              <a:t>El usuario escanea con MercadoPago, CoDi o app bancaria. La transacción se valida en 1.5 segundos con confirmación acústica y visual.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566160"/>
            <a:ext cx="5486400" cy="27889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g04_ExpendeX_Kiosco_10pulg_Modal_Pago_QR_MercadoPago_Comb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639312"/>
            <a:ext cx="5340096" cy="264261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9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2" grpId="0" animBg="1"/>
      <p:bldP spid="13" grpId="0" animBg="1"/>
      <p:bldP spid="14" grpId="0"/>
      <p:bldP spid="1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CICLO DE FUNCIONAMIENTO (2/3): CÓMPUTO RASPBERRY PI Y POTENCIA MATRICIAL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Traducción de coordenadas, aislamiento galvánico y conmutación de motorreductores en EasyEDA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PASO A PASO: ETAPAS 3 Y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299155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PASO 3: TRADUCCIÓN DE ORDEN Y PUENTE UART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Procesamiento Central en Raspberry Pi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512064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Mapeo de Coordenadas: </a:t>
            </a:r>
            <a:r>
              <a:rPr sz="919">
                <a:solidFill>
                  <a:srgbClr val="F1F5F9"/>
                </a:solidFill>
                <a:latin typeface="Calibri"/>
              </a:rPr>
              <a:t>El servidor Node.js en Raspberry Pi recibe el webhook de pago. Traduce el combo a coordenadas físicas (ej. Comida A6 y Bebida C2).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Transmisión Segura al ESP32: </a:t>
            </a:r>
            <a:r>
              <a:rPr sz="919">
                <a:solidFill>
                  <a:srgbClr val="F1F5F9"/>
                </a:solidFill>
                <a:latin typeface="Calibri"/>
              </a:rPr>
              <a:t>Envía la trama de ejecución cifrada por puerto serial/UART a 115200 baudios al microcontrolador de potencia ESP32.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66160"/>
            <a:ext cx="5486400" cy="27889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g10_CAD_Fusion360_Detalle_Copete_HMI_RaspberryPi_Altavo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639312"/>
            <a:ext cx="5340096" cy="264261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118872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0" y="1325880"/>
            <a:ext cx="3460089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PASO 4: CONMUTACIÓN MATRICIAL 6X6 (EASYEDA)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Electrónica de Potencia High-Side y Low-Side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20824"/>
            <a:ext cx="512064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Multiplexación Matricial: </a:t>
            </a:r>
            <a:r>
              <a:rPr sz="919">
                <a:solidFill>
                  <a:srgbClr val="F1F5F9"/>
                </a:solidFill>
                <a:latin typeface="Calibri"/>
              </a:rPr>
              <a:t>Control de 36 motores mediante 6 columnas y 6 filas. Ahorro de 72 a solo 12 cables de potencia en arnés.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Aislamiento Galvánico: </a:t>
            </a:r>
            <a:r>
              <a:rPr sz="919">
                <a:solidFill>
                  <a:srgbClr val="F1F5F9"/>
                </a:solidFill>
                <a:latin typeface="Calibri"/>
              </a:rPr>
              <a:t>MOSFETs Canal P activan la columna de 24V; optoacopladores y MOSFETs Canal N cierran fila a tierra con diodos flyback anti-inductivos.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566160"/>
            <a:ext cx="5486400" cy="27889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g17_EasyEDA_Simulador_Web_Interactivo_Matriz_MOSFET_6x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639312"/>
            <a:ext cx="5340096" cy="264261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10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2" grpId="0" animBg="1"/>
      <p:bldP spid="13" grpId="0" animBg="1"/>
      <p:bldP spid="14" grpId="0"/>
      <p:bldP spid="1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CICLO DE FUNCIONAMIENTO (3/3): DESPACHO, RETIRO SEGURO Y TELEMETRÍA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Giro secuencial en Wokwi, trampa antirrobo y actualización contable en tiempo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PASO A PASO: ETAPAS 5, 6 Y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092147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PASO 5: DESPACHO 2 TIEMPOS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Firmware ESP32 / Wokwi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320040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Tiempo 1 (Comida): </a:t>
            </a:r>
            <a:r>
              <a:rPr sz="919">
                <a:solidFill>
                  <a:srgbClr val="F1F5F9"/>
                </a:solidFill>
                <a:latin typeface="Calibri"/>
              </a:rPr>
              <a:t>Espiral de 144 mm gira 360° y empuja el platillo caliente de 850 g.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Tiempo 2 (Bebida): </a:t>
            </a:r>
            <a:r>
              <a:rPr sz="919">
                <a:solidFill>
                  <a:srgbClr val="F1F5F9"/>
                </a:solidFill>
                <a:latin typeface="Calibri"/>
              </a:rPr>
              <a:t>Espiral de 70 mm gira 360° para liberar el refresco frío.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Validación IR: </a:t>
            </a:r>
            <a:r>
              <a:rPr sz="919">
                <a:solidFill>
                  <a:srgbClr val="F1F5F9"/>
                </a:solidFill>
                <a:latin typeface="Calibri"/>
              </a:rPr>
              <a:t>Cortina infrarroja confirma caída física.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66160"/>
            <a:ext cx="3566160" cy="27889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g07_ExpendeX_Wokwi_VSCode_Despacho_Paso1_Comida_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639312"/>
            <a:ext cx="3419856" cy="264261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97680" y="118872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80560" y="1325880"/>
            <a:ext cx="1689811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PASO 6: RETIRO SEGURO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Compuerta Basculante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20824"/>
            <a:ext cx="320040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Recepción Amortiguada: </a:t>
            </a:r>
            <a:r>
              <a:rPr sz="919">
                <a:solidFill>
                  <a:srgbClr val="F1F5F9"/>
                </a:solidFill>
                <a:latin typeface="Calibri"/>
              </a:rPr>
              <a:t>Rampa inclinada de goma grado alimenticio absorbe el impacto.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Trampa Antivandalismo: </a:t>
            </a:r>
            <a:r>
              <a:rPr sz="919">
                <a:solidFill>
                  <a:srgbClr val="F1F5F9"/>
                </a:solidFill>
                <a:latin typeface="Calibri"/>
              </a:rPr>
              <a:t>Deflector interior basculante impide acceso manual hacia las bandejas superiores.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Tiempo Total: </a:t>
            </a:r>
            <a:r>
              <a:rPr sz="919">
                <a:solidFill>
                  <a:srgbClr val="F1F5F9"/>
                </a:solidFill>
                <a:latin typeface="Calibri"/>
              </a:rPr>
              <a:t>¡Ciclo completo en 8 a 12 segundos!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566160"/>
            <a:ext cx="3566160" cy="27889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g12_CAD_Fusion360_Compuerta_Inferior_Rejilla_Ventilacion_Rue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3639312"/>
            <a:ext cx="3419856" cy="264261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138160" y="118872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21040" y="1325880"/>
            <a:ext cx="2011679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PASO 7: TELEMETRÍA Y FIFO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Panel Admin en Tiempo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20824"/>
            <a:ext cx="320040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Actualización de Stock: </a:t>
            </a:r>
            <a:r>
              <a:rPr sz="919">
                <a:solidFill>
                  <a:srgbClr val="F1F5F9"/>
                </a:solidFill>
                <a:latin typeface="Calibri"/>
              </a:rPr>
              <a:t>Resta inmediata en la base de datos SQLite con regla estricta FIFO.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Control de 14 Horas: </a:t>
            </a:r>
            <a:r>
              <a:rPr sz="919">
                <a:solidFill>
                  <a:srgbClr val="F1F5F9"/>
                </a:solidFill>
                <a:latin typeface="Calibri"/>
              </a:rPr>
              <a:t>El reloj RTC bloquea espirales si el alimento cumple 14 horas de vigencia térmica.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Dashboard Cloud: </a:t>
            </a:r>
            <a:r>
              <a:rPr sz="919">
                <a:solidFill>
                  <a:srgbClr val="F1F5F9"/>
                </a:solidFill>
                <a:latin typeface="Calibri"/>
              </a:rPr>
              <a:t>Registro contable y alertas vía MQTT.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3566160"/>
            <a:ext cx="3566160" cy="27889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g01_ExpendeX_Admin_KPIs_Financieros_60Di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3639312"/>
            <a:ext cx="3419856" cy="2642615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11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2" grpId="0" animBg="1"/>
      <p:bldP spid="13" grpId="0" animBg="1"/>
      <p:bldP spid="14" grpId="0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INOCUIDAD SANITARIA: PROTOCOLO DE FRESCURA Y BLOQUEO AUTOMÁTICO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Algoritmo de rotación diaria que garantiza alimentos 100% frescos y elimina mermas biológicas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INOCUIDAD SANITARIA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011679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CARGA MATUTINA (06:00 AM)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Alimentos Recién Preparados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Elaboración Diaria: </a:t>
            </a:r>
            <a:r>
              <a:rPr sz="919">
                <a:solidFill>
                  <a:srgbClr val="F1F5F9"/>
                </a:solidFill>
                <a:latin typeface="Calibri"/>
              </a:rPr>
              <a:t>La lonchería aliada elabora los guisos esa misma mañana bajo normas de higiene estricta.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Registro por Código QR: </a:t>
            </a:r>
            <a:r>
              <a:rPr sz="919">
                <a:solidFill>
                  <a:srgbClr val="F1F5F9"/>
                </a:solidFill>
                <a:latin typeface="Calibri"/>
              </a:rPr>
              <a:t>Cada lote de platillos ingresa a la máquina escaneando su hora exacta de preparación.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Acondicionamiento Térmico: </a:t>
            </a:r>
            <a:r>
              <a:rPr sz="919">
                <a:solidFill>
                  <a:srgbClr val="F1F5F9"/>
                </a:solidFill>
                <a:latin typeface="Calibri"/>
              </a:rPr>
              <a:t>La cámara refrigerada mantiene los contenedores entre 4°C y 6°C cumpliendo la NOM-251-SSA1.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0560" y="1325880"/>
            <a:ext cx="2494483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PICO DE CONSUMO (12:00 - 15:00)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Rotación Acelerada de Stock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Despacho en Segundos: </a:t>
            </a:r>
            <a:r>
              <a:rPr sz="919">
                <a:solidFill>
                  <a:srgbClr val="F1F5F9"/>
                </a:solidFill>
                <a:latin typeface="Calibri"/>
              </a:rPr>
              <a:t>En el pico del almuerzo se despacha más del 70% del inventario diario sin cuellos de botella.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Control Digital de Temperatura: </a:t>
            </a:r>
            <a:r>
              <a:rPr sz="919">
                <a:solidFill>
                  <a:srgbClr val="F1F5F9"/>
                </a:solidFill>
                <a:latin typeface="Calibri"/>
              </a:rPr>
              <a:t>El sensor DS18B20 monitorea la cámara en tiempo real; si la temperatura sube a 8°C, se activa alerta automática.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Frescura Garantizada: </a:t>
            </a:r>
            <a:r>
              <a:rPr sz="919">
                <a:solidFill>
                  <a:srgbClr val="F1F5F9"/>
                </a:solidFill>
                <a:latin typeface="Calibri"/>
              </a:rPr>
              <a:t>El platillo conserva su textura, humedad y valor nutricional intacto.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21040" y="1325880"/>
            <a:ext cx="2011679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43F5E"/>
                </a:solidFill>
                <a:latin typeface="Calibri"/>
              </a:rPr>
              <a:t>BLOQUEO FÍSICO (20:00 PM)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Cero Comida Caducada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Regla Máxima de 14 Horas: </a:t>
            </a:r>
            <a:r>
              <a:rPr sz="919">
                <a:solidFill>
                  <a:srgbClr val="F1F5F9"/>
                </a:solidFill>
                <a:latin typeface="Calibri"/>
              </a:rPr>
              <a:t>Al cumplirse 14 horas de permanencia térmica, el microcontrolador deshabilita la compra del producto.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Bloqueo de Motor: </a:t>
            </a:r>
            <a:r>
              <a:rPr sz="919">
                <a:solidFill>
                  <a:srgbClr val="F1F5F9"/>
                </a:solidFill>
                <a:latin typeface="Calibri"/>
              </a:rPr>
              <a:t>La espiral se bloquea físicamente y el quiosco oculta el platillo del catálogo digital.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Retiro por el Proveedor: </a:t>
            </a:r>
            <a:r>
              <a:rPr sz="919">
                <a:solidFill>
                  <a:srgbClr val="F1F5F9"/>
                </a:solidFill>
                <a:latin typeface="Calibri"/>
              </a:rPr>
              <a:t>El proveedor retira los sobrantes a las 20:30 hrs para merma cero o compostaje. ¡Garantía de frescura absoluta!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12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¿EN QUÉ MERCADOS PODEMOS ESTABLECERNOS? - RUTA DE EXPANSIÓN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Estrategia de penetración por fases en centros de alta densidad y demanda desatendida en NL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RUTA DE EXPANSIÓN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253081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FASE 1: CIUDAD UNIVERSITARIA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Campus UANL San Nicolás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Puntos Piloto: </a:t>
            </a:r>
            <a:r>
              <a:rPr sz="919">
                <a:solidFill>
                  <a:srgbClr val="F1F5F9"/>
                </a:solidFill>
                <a:latin typeface="Calibri"/>
              </a:rPr>
              <a:t>Edificio 1, Edificio 4 y Polivalente de FIME. Población de 24,000 alumnos y docentes.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Meta Inmediata: </a:t>
            </a:r>
            <a:r>
              <a:rPr sz="919">
                <a:solidFill>
                  <a:srgbClr val="F1F5F9"/>
                </a:solidFill>
                <a:latin typeface="Calibri"/>
              </a:rPr>
              <a:t>Despliegue de 3 unidades en alianza con 2 loncherías locales consolidadas.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Validación en Campo: </a:t>
            </a:r>
            <a:r>
              <a:rPr sz="919">
                <a:solidFill>
                  <a:srgbClr val="F1F5F9"/>
                </a:solidFill>
                <a:latin typeface="Calibri"/>
              </a:rPr>
              <a:t>Ajuste fino de algoritmos de reposición y tiempos de despacho en ambiente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0560" y="1325880"/>
            <a:ext cx="2253081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FASE 2: RED UNIVERSITARIA NL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Mederos, Ciencias de la Salud y TEC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Expansión a Nuevos Campus: </a:t>
            </a:r>
            <a:r>
              <a:rPr sz="919">
                <a:solidFill>
                  <a:srgbClr val="F1F5F9"/>
                </a:solidFill>
                <a:latin typeface="Calibri"/>
              </a:rPr>
              <a:t>Facultades de Medicina, Odontología, Campus Mederos y convenios con universidades privadas.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Población Potencial: </a:t>
            </a:r>
            <a:r>
              <a:rPr sz="919">
                <a:solidFill>
                  <a:srgbClr val="F1F5F9"/>
                </a:solidFill>
                <a:latin typeface="Calibri"/>
              </a:rPr>
              <a:t>Más de 85,000 usuarios con horarios quebrados y alto flujo continuo.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Flota Interconectada: </a:t>
            </a:r>
            <a:r>
              <a:rPr sz="919">
                <a:solidFill>
                  <a:srgbClr val="F1F5F9"/>
                </a:solidFill>
                <a:latin typeface="Calibri"/>
              </a:rPr>
              <a:t>15 a 20 máquinas operando bajo el panel de control administrativo unificado.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21040" y="1325880"/>
            <a:ext cx="2172614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FASE 3: CORREDOR INDUSTRIAL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Parques Industriales y Nearshoring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Corredores de Manufactura: </a:t>
            </a:r>
            <a:r>
              <a:rPr sz="919">
                <a:solidFill>
                  <a:srgbClr val="F1F5F9"/>
                </a:solidFill>
                <a:latin typeface="Calibri"/>
              </a:rPr>
              <a:t>Apodaca, Pesquería, Ciénega de Flores y Santa Catarina.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Turnos Nocturnos: </a:t>
            </a:r>
            <a:r>
              <a:rPr sz="919">
                <a:solidFill>
                  <a:srgbClr val="F1F5F9"/>
                </a:solidFill>
                <a:latin typeface="Calibri"/>
              </a:rPr>
              <a:t>Atención prioritaria a operadores de 2do y 3er turno donde no hay comedores abiertos.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Modelo Corporativo B2B: </a:t>
            </a:r>
            <a:r>
              <a:rPr sz="919">
                <a:solidFill>
                  <a:srgbClr val="F1F5F9"/>
                </a:solidFill>
                <a:latin typeface="Calibri"/>
              </a:rPr>
              <a:t>Convenios institucionales con empresas para subsidio parcial de alimentación al obrero.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13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TAMAÑO DE MERCADO: TAM, SAM Y SOM EN NUEVO LEÓN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Dimensionamiento del valor de mercado potencial en vending de comida y bebidas preparadas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TAMAÑO DE MERCADO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253081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MÉTRICAS FORMALES DE MERCADO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Dimensionamiento en Zona Metropolitana de Monterrey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512064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TAM (Mercado Total Direccionable): </a:t>
            </a:r>
            <a:r>
              <a:rPr sz="919">
                <a:solidFill>
                  <a:srgbClr val="F1F5F9"/>
                </a:solidFill>
                <a:latin typeface="Calibri"/>
              </a:rPr>
              <a:t>$4,200 MDP anuales. Gasto total en comida rápida, cafeterías y colaciones dentro de universidades y empresas en NL.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SAM (Mercado Disponible Útil): </a:t>
            </a:r>
            <a:r>
              <a:rPr sz="919">
                <a:solidFill>
                  <a:srgbClr val="F1F5F9"/>
                </a:solidFill>
                <a:latin typeface="Calibri"/>
              </a:rPr>
              <a:t>$380 MDP anuales. Comunidades universitarias (UANL, TEC, UDEM) y parques industriales con alta bancarización y recesos cortos.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SOM (Mercado Obtenible Objetivo Año 1-2): </a:t>
            </a:r>
            <a:r>
              <a:rPr sz="919">
                <a:solidFill>
                  <a:srgbClr val="F1F5F9"/>
                </a:solidFill>
                <a:latin typeface="Calibri"/>
              </a:rPr>
              <a:t>$18.5 MDP anuales. Captura del 4.8% del SAM con una flota inicial de 12 a 15 máquinas operando en campus UANL a plena capacidad.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hart_tam_sam_s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61872"/>
            <a:ext cx="5340096" cy="5020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14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2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ARQUITECTURA MECATRÓNICA: EL SOPORTE QUE HACE VIABLE EL NEGOCIO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Diseño paramétrico 3D, electrónica matricial de potencia EasyEDA y control en tiempo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INGENIERÍA MECATRÓNICA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057753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SUBSISTEMAS MECATRÓNICOS DE INGENIERÍA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Integración Multidisciplinaria Validada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512064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Diseño Mecánico y Estructural: </a:t>
            </a:r>
            <a:r>
              <a:rPr sz="919">
                <a:solidFill>
                  <a:srgbClr val="F1F5F9"/>
                </a:solidFill>
                <a:latin typeface="Calibri"/>
              </a:rPr>
              <a:t>Chasis paramétrico en Fusion 360, corte láser en acero calibre 18, guías telescópicas reforzadas y aislamiento térmico de poliuretano inyectado de 50 mm.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Electrónica Matricial de Potencia (EasyEDA): </a:t>
            </a:r>
            <a:r>
              <a:rPr sz="919">
                <a:solidFill>
                  <a:srgbClr val="F1F5F9"/>
                </a:solidFill>
                <a:latin typeface="Calibri"/>
              </a:rPr>
              <a:t>PCB personalizada de control matricial 6x6. Manejo de 36 motorreductores con drivers MOSFET High/Low Side y aislamiento galvánico por optoacopladores.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Firmware y Cómputo Embebido: </a:t>
            </a:r>
            <a:r>
              <a:rPr sz="919">
                <a:solidFill>
                  <a:srgbClr val="F1F5F9"/>
                </a:solidFill>
                <a:latin typeface="Calibri"/>
              </a:rPr>
              <a:t>ESP32 con FreeRTOS y Wokwi gestionando el lazo de control, lectura de temperatura DS18B20 y comunicación serial UART hacia Raspberry Pi 4.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Plataforma Web Full-Stack: </a:t>
            </a:r>
            <a:r>
              <a:rPr sz="919">
                <a:solidFill>
                  <a:srgbClr val="F1F5F9"/>
                </a:solidFill>
                <a:latin typeface="Calibri"/>
              </a:rPr>
              <a:t>Quiosco interactivo en React/Node.js, base de datos SQLite y panel administrativo con telemetría MQTT en tiempo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g18_EasyEDA_Esquematico_General_Electronica_Potencia_Matriz_6x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61872"/>
            <a:ext cx="5340096" cy="5020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15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2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COSTOS DE FABRICACIÓN (BOM INDUSTRIAL DETALLADO)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Desglose de inversión física por máquina: $46,463.12 MXN frente a $180,000+ MXN importada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COSTOS INDUSTRIALES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0B981"/>
                          </a:solidFill>
                          <a:latin typeface="Calibri"/>
                        </a:rPr>
                        <a:t>Subsistema Mecatrónico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0B981"/>
                          </a:solidFill>
                          <a:latin typeface="Calibri"/>
                        </a:rPr>
                        <a:t>Componentes Principales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0B981"/>
                          </a:solidFill>
                          <a:latin typeface="Calibri"/>
                        </a:rPr>
                        <a:t>Costo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0B981"/>
                          </a:solidFill>
                          <a:latin typeface="Calibri"/>
                        </a:rPr>
                        <a:t>% Total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Chasis y Carrocería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Chapa acero cal 18, corte láser, pintura electrostática, ruedas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$14,250.00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30.7%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Refrigeración Grado Alimento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Compresor Embraco 1/4 HP R134a, evaporador ventilado, control digital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$9,800.00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21.1%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Mecanismos de Despacho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36 motorreductores 24V, 5 bandejas inox, 36 espirales helicoidales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$8,950.00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19.3%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Consola HMI y Cómputo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Touchscreen 10.1", Raspberry Pi 4, lector QR óptico, bocina guía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$7,150.00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15.4%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Electrónica de Potencia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PCB EasyEDA matriz 6x6, fuente industrial 24V/5V, ESP32, relevadores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$4,120.00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Tornillería y Ensamble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Arneses automotrices, empaques magnéticos, herrajes de seguridad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$2,193.12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TOTAL BOM FABRICACIÓN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Unidad ExpendeX 100% Funcional y Lista para Despliegue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$46,463.12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98079" y="1188720"/>
            <a:ext cx="42062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680959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VENTAJA EN COSTOS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59" y="1673352"/>
            <a:ext cx="38404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6B6D4"/>
                </a:solidFill>
                <a:latin typeface="Calibri"/>
              </a:rPr>
              <a:t>3.9x </a:t>
            </a:r>
            <a:r>
              <a:rPr sz="1200">
                <a:solidFill>
                  <a:srgbClr val="94A3B8"/>
                </a:solidFill>
                <a:latin typeface="Calibri"/>
              </a:rPr>
              <a:t>Más Económica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59" y="2203704"/>
            <a:ext cx="3840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Disrupción en Fabricación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2551176"/>
            <a:ext cx="3840479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Ahorro Radical: </a:t>
            </a:r>
            <a:r>
              <a:rPr sz="919">
                <a:solidFill>
                  <a:srgbClr val="F1F5F9"/>
                </a:solidFill>
                <a:latin typeface="Calibri"/>
              </a:rPr>
              <a:t>Fabricar en Nuevo León cuesta solo $46,463 MXN frente a los $180,000+ MXN de importar un equipo extranjero.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Multiplicador de Flota: </a:t>
            </a:r>
            <a:r>
              <a:rPr sz="919">
                <a:solidFill>
                  <a:srgbClr val="F1F5F9"/>
                </a:solidFill>
                <a:latin typeface="Calibri"/>
              </a:rPr>
              <a:t>Con la inversión requerida para 1 sola máquina importada, ExpendeX construye casi 4 unidades completas.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Disponibilidad Inmediata: </a:t>
            </a:r>
            <a:r>
              <a:rPr sz="919">
                <a:solidFill>
                  <a:srgbClr val="F1F5F9"/>
                </a:solidFill>
                <a:latin typeface="Calibri"/>
              </a:rPr>
              <a:t>Cero aranceles, fletes marítimos o retrasos aduanales.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16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ESTRUCTURA DE PRECIOS Y UNIT ECONOMICS POR PRODUCTO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Ecuación financiera de cada venta: márgenes atractivos para la lonchería y para ExpendeX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UNIT ECONOMICS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218687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COMBO ESTRELLA: GUISO + BEBIDA ($85 MXN)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0B981"/>
                </a:solidFill>
                <a:latin typeface="Calibri"/>
              </a:rPr>
              <a:t>30.6% </a:t>
            </a:r>
            <a:r>
              <a:rPr sz="1200">
                <a:solidFill>
                  <a:srgbClr val="94A3B8"/>
                </a:solidFill>
                <a:latin typeface="Calibri"/>
              </a:rPr>
              <a:t>Margen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Desglose Financiero por Unidad Vendida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512064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Precio Final al Consumidor: </a:t>
            </a:r>
            <a:r>
              <a:rPr sz="919">
                <a:solidFill>
                  <a:srgbClr val="F1F5F9"/>
                </a:solidFill>
                <a:latin typeface="Calibri"/>
              </a:rPr>
              <a:t>$85.00 MXN (Guiso casero caliente + Bebida fría de 500 ml).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Pago a Lonchería Aliada: </a:t>
            </a:r>
            <a:r>
              <a:rPr sz="919">
                <a:solidFill>
                  <a:srgbClr val="F1F5F9"/>
                </a:solidFill>
                <a:latin typeface="Calibri"/>
              </a:rPr>
              <a:t>$45.00 MXN (52.9% del precio). Cubre insumos y deja ganancia limpia al cocinero.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Costo Mayoreo de Bebida: </a:t>
            </a:r>
            <a:r>
              <a:rPr sz="919">
                <a:solidFill>
                  <a:srgbClr val="F1F5F9"/>
                </a:solidFill>
                <a:latin typeface="Calibri"/>
              </a:rPr>
              <a:t>$14.00 MXN (16.5% del precio). Adquirida en paquetes institucionales.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Comisión Pasarela Digital: </a:t>
            </a:r>
            <a:r>
              <a:rPr sz="919">
                <a:solidFill>
                  <a:srgbClr val="F1F5F9"/>
                </a:solidFill>
                <a:latin typeface="Calibri"/>
              </a:rPr>
              <a:t>$2.55 MXN (3.0% del precio). Cobro MercadoPago / SPEI.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Margen Bruto ExpendeX: </a:t>
            </a:r>
            <a:r>
              <a:rPr sz="919">
                <a:solidFill>
                  <a:srgbClr val="F1F5F9"/>
                </a:solidFill>
                <a:latin typeface="Calibri"/>
              </a:rPr>
              <a:t>$23.45 MXN por combo (30.6% de margen bruto). Permite cubrir energía eléctrica, mantenimiento y utilidad neta.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art_unit_economic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61872"/>
            <a:ext cx="5340096" cy="502005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17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3" grpId="0" animBg="1"/>
      <p:bldP spid="14" grpId="0"/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¿CUÁNTO RENDIMIENTO GENERA ESTA MÁQUINA? - FLUJOS MENSUALES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Modelación financiera de 3 escenarios operativos reales: Conservador, Base y Alta Demanda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RENDIMIENTO FINANCIERO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Parámetro Operativo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Conservador (50)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0B981"/>
                          </a:solidFill>
                          <a:latin typeface="Calibri"/>
                        </a:rPr>
                        <a:t>Base (85)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Alta Demanda (130)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Ventas Diarias (Combos)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50 combos/día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85 combos/día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130 combos/día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Ingreso Bruto Mensual (25d)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$106,250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$180,625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$276,250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Costo Alimentos y Bebidas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-$73,750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-$125,375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-$191,750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Energía Eléctrica (CFE Tarifa 2)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-$1,150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-$1,250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-$1,400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Mantenimiento y Conectividad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-$1,200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-$1,500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-$1,800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805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UTILIDAD NETA MENSUAL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$30,150 MXN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$52,500 MXN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$81,300 MXN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98079" y="1188720"/>
            <a:ext cx="42062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flujo_acumulado_e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1" y="1261872"/>
            <a:ext cx="4059935" cy="5020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18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MÉTRICAS FINANCIERAS DE INVERSIÓN: VAN, TIR Y RETORNO ROI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Evaluación económica formal a 12 meses sobre la inversión inicial de $46,463.12 MXN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EVALUACIÓN DE INVERSIÓN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VALOR PRESENTE NETO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2331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0B981"/>
                </a:solidFill>
                <a:latin typeface="Calibri"/>
              </a:rPr>
              <a:t>$138,420 MXN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VAN (Tasa 12%)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233172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Riqueza Neta Creada: </a:t>
            </a:r>
            <a:r>
              <a:rPr sz="919">
                <a:solidFill>
                  <a:srgbClr val="F1F5F9"/>
                </a:solidFill>
                <a:latin typeface="Calibri"/>
              </a:rPr>
              <a:t>Ganancia excedente tras pagar la inversión y el costo del capital.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Flujo Anualizado: </a:t>
            </a:r>
            <a:r>
              <a:rPr sz="919">
                <a:solidFill>
                  <a:srgbClr val="F1F5F9"/>
                </a:solidFill>
                <a:latin typeface="Calibri"/>
              </a:rPr>
              <a:t>Sustentado en la alta rotación de 85 combos diarios.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74720" y="1325880"/>
            <a:ext cx="1850745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TASA INTERNA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673352"/>
            <a:ext cx="2331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6B6D4"/>
                </a:solidFill>
                <a:latin typeface="Calibri"/>
              </a:rPr>
              <a:t>182.4%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203704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TIR 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551176"/>
            <a:ext cx="233172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Rentabilidad Sobresaliente: </a:t>
            </a:r>
            <a:r>
              <a:rPr sz="919">
                <a:solidFill>
                  <a:srgbClr val="F1F5F9"/>
                </a:solidFill>
                <a:latin typeface="Calibri"/>
              </a:rPr>
              <a:t>Supera con creces tasas de interés bancarias (Cetes ~11%).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Bajo Riesgo Físico: </a:t>
            </a:r>
            <a:r>
              <a:rPr sz="919">
                <a:solidFill>
                  <a:srgbClr val="F1F5F9"/>
                </a:solidFill>
                <a:latin typeface="Calibri"/>
              </a:rPr>
              <a:t>El inventario se desplaza y cobra en el mismo día.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1325880"/>
            <a:ext cx="1850745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PERIODO DE RECUPERACIÓN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673352"/>
            <a:ext cx="2331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59E0B"/>
                </a:solidFill>
                <a:latin typeface="Calibri"/>
              </a:rPr>
              <a:t>4.2 Meses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203704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Payback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551176"/>
            <a:ext cx="233172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Retorno de Capital Acelerado: </a:t>
            </a:r>
            <a:r>
              <a:rPr sz="919">
                <a:solidFill>
                  <a:srgbClr val="F1F5F9"/>
                </a:solidFill>
                <a:latin typeface="Calibri"/>
              </a:rPr>
              <a:t>La máquina amortiza su costo de fabricación antes del 5to mes.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Reversibilidad: </a:t>
            </a:r>
            <a:r>
              <a:rPr sz="919">
                <a:solidFill>
                  <a:srgbClr val="F1F5F9"/>
                </a:solidFill>
                <a:latin typeface="Calibri"/>
              </a:rPr>
              <a:t>Flujo de caja libre positivo a partir del mes 5.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44000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8B5CF6"/>
                </a:solidFill>
                <a:latin typeface="Calibri"/>
              </a:rPr>
              <a:t>RETORNO DE INVERSIÓN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1673352"/>
            <a:ext cx="2331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5CF6"/>
                </a:solidFill>
                <a:latin typeface="Calibri"/>
              </a:rPr>
              <a:t>298%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203704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ROI Año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551176"/>
            <a:ext cx="233172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Multiplicador del Capital: </a:t>
            </a:r>
            <a:r>
              <a:rPr sz="919">
                <a:solidFill>
                  <a:srgbClr val="F1F5F9"/>
                </a:solidFill>
                <a:latin typeface="Calibri"/>
              </a:rPr>
              <a:t>Cada peso invertido genera $2.98 pesos netos en el primer año.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Capacidad de Reinversión: </a:t>
            </a:r>
            <a:r>
              <a:rPr sz="919">
                <a:solidFill>
                  <a:srgbClr val="F1F5F9"/>
                </a:solidFill>
                <a:latin typeface="Calibri"/>
              </a:rPr>
              <a:t>Permite financiar la 2da y 3ra máquina con utilidades propias.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19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MODELOS DE COMERCIALIZACIÓN Y MONETIZACIÓN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Tres esquemas comerciales complementarios para expandir y escalar el proyecto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MODELOS DE NEGOCIO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770278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MODELO 1: FLOTA PROPIA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Operador Directo ExpendeX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Esquema: </a:t>
            </a:r>
            <a:r>
              <a:rPr sz="919">
                <a:solidFill>
                  <a:srgbClr val="F1F5F9"/>
                </a:solidFill>
                <a:latin typeface="Calibri"/>
              </a:rPr>
              <a:t>La empresa es propietaria del equipo y gestiona los puntos de venta en campus.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Ingresos: </a:t>
            </a:r>
            <a:r>
              <a:rPr sz="919">
                <a:solidFill>
                  <a:srgbClr val="F1F5F9"/>
                </a:solidFill>
                <a:latin typeface="Calibri"/>
              </a:rPr>
              <a:t>Margen completo por cada combo y bebida vendida.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Rentabilidad: </a:t>
            </a:r>
            <a:r>
              <a:rPr sz="919">
                <a:solidFill>
                  <a:srgbClr val="F1F5F9"/>
                </a:solidFill>
                <a:latin typeface="Calibri"/>
              </a:rPr>
              <a:t>Máxima utilidad neta mensual ($52,500 MXN por unidad en escenario base).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Enfoque: </a:t>
            </a:r>
            <a:r>
              <a:rPr sz="919">
                <a:solidFill>
                  <a:srgbClr val="F1F5F9"/>
                </a:solidFill>
                <a:latin typeface="Calibri"/>
              </a:rPr>
              <a:t>Control total del servicio y optimización del prototipo en FIME.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0560" y="1325880"/>
            <a:ext cx="2172614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MODELO 2: FRANQUICIA SOCIAL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Alianza con Fondas y Loncherías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Esquema: </a:t>
            </a:r>
            <a:r>
              <a:rPr sz="919">
                <a:solidFill>
                  <a:srgbClr val="F1F5F9"/>
                </a:solidFill>
                <a:latin typeface="Calibri"/>
              </a:rPr>
              <a:t>Arrendamiento o venta financiada de la máquina a dueños de negocios de comida corrida.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Inversión del Socio: </a:t>
            </a:r>
            <a:r>
              <a:rPr sz="919">
                <a:solidFill>
                  <a:srgbClr val="F1F5F9"/>
                </a:solidFill>
                <a:latin typeface="Calibri"/>
              </a:rPr>
              <a:t>Enganche accesible (30%) y mensualidades cubiertas con las mismas ventas.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Ingresos ExpendeX: </a:t>
            </a:r>
            <a:r>
              <a:rPr sz="919">
                <a:solidFill>
                  <a:srgbClr val="F1F5F9"/>
                </a:solidFill>
                <a:latin typeface="Calibri"/>
              </a:rPr>
              <a:t>Suscripción mensual al software de telemetría ($1,800 MXN/mes) + 5% de regalía transaccional.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Enfoque: </a:t>
            </a:r>
            <a:r>
              <a:rPr sz="919">
                <a:solidFill>
                  <a:srgbClr val="F1F5F9"/>
                </a:solidFill>
                <a:latin typeface="Calibri"/>
              </a:rPr>
              <a:t>Crecimiento acelerado sin requerir capital de trabajo propio.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21040" y="1325880"/>
            <a:ext cx="2011679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8B5CF6"/>
                </a:solidFill>
                <a:latin typeface="Calibri"/>
              </a:rPr>
              <a:t>MODELO 3: B2B CORPORATIVO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Comedor Institucional 24/7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Esquema: </a:t>
            </a:r>
            <a:r>
              <a:rPr sz="919">
                <a:solidFill>
                  <a:srgbClr val="F1F5F9"/>
                </a:solidFill>
                <a:latin typeface="Calibri"/>
              </a:rPr>
              <a:t>Instalación en naves industriales, centros de distribución y maquiladoras.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Beneficio a la Empresa: </a:t>
            </a:r>
            <a:r>
              <a:rPr sz="919">
                <a:solidFill>
                  <a:srgbClr val="F1F5F9"/>
                </a:solidFill>
                <a:latin typeface="Calibri"/>
              </a:rPr>
              <a:t>Prestación laboral de comida caliente para empleados sin costo fijo de comedor.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Subsidio Empresarial: </a:t>
            </a:r>
            <a:r>
              <a:rPr sz="919">
                <a:solidFill>
                  <a:srgbClr val="F1F5F9"/>
                </a:solidFill>
                <a:latin typeface="Calibri"/>
              </a:rPr>
              <a:t>La compañía puede subsidiar el 50% del platillo mediante tarjetas de vales o ID.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Enfoque: </a:t>
            </a:r>
            <a:r>
              <a:rPr sz="919">
                <a:solidFill>
                  <a:srgbClr val="F1F5F9"/>
                </a:solidFill>
                <a:latin typeface="Calibri"/>
              </a:rPr>
              <a:t>Volumen constante y contratos a largo plazo (24 a 36 meses).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20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BARRERAS DE ENTRADA Y VENTAJA COMPETITIVA (DEFENSIBILIDAD / MOAT)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Los factores tecnológicos, de costo y de red que protegen a ExpendeX frente a imitadores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BARRERAS DE ENTRADA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770278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1. COSTO BOM 75% MENOR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Ventaja en Costos Nacional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233172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Ingeniería Propia: </a:t>
            </a:r>
            <a:r>
              <a:rPr sz="919">
                <a:solidFill>
                  <a:srgbClr val="F1F5F9"/>
                </a:solidFill>
                <a:latin typeface="Calibri"/>
              </a:rPr>
              <a:t>La integración local de chasis y electrónica matricial abate el costo a $46,463 MXN.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Barrera Infranqueable: </a:t>
            </a:r>
            <a:r>
              <a:rPr sz="919">
                <a:solidFill>
                  <a:srgbClr val="F1F5F9"/>
                </a:solidFill>
                <a:latin typeface="Calibri"/>
              </a:rPr>
              <a:t>Cualquier competidor que importe equipos de China o EE.UU. entra con un costo 4 veces mayor.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74720" y="1325880"/>
            <a:ext cx="2092147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2. PROTOCOLO 14H Y BLOQUEO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67335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Propiedad Intelectual y Firmware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20824"/>
            <a:ext cx="233172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Algoritmo de Inocuidad: </a:t>
            </a:r>
            <a:r>
              <a:rPr sz="919">
                <a:solidFill>
                  <a:srgbClr val="F1F5F9"/>
                </a:solidFill>
                <a:latin typeface="Calibri"/>
              </a:rPr>
              <a:t>Vínculo directo entre el reloj térmico y el bloqueo electromecánico de motor.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Seguridad Alimentaria: </a:t>
            </a:r>
            <a:r>
              <a:rPr sz="919">
                <a:solidFill>
                  <a:srgbClr val="F1F5F9"/>
                </a:solidFill>
                <a:latin typeface="Calibri"/>
              </a:rPr>
              <a:t>Ninguna máquina genérica cuenta con salvaguarda algorítmica para productos perecederos.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09360" y="1325880"/>
            <a:ext cx="1770278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3. EFECTO DE RED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67335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Alianzas Comunitarias Exclusivas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020824"/>
            <a:ext cx="233172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Proximidad Logística: </a:t>
            </a:r>
            <a:r>
              <a:rPr sz="919">
                <a:solidFill>
                  <a:srgbClr val="F1F5F9"/>
                </a:solidFill>
                <a:latin typeface="Calibri"/>
              </a:rPr>
              <a:t>Convenios con cocinas ubicadas a menos de 10 minutos de los puntos de despacho.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Fidelidad de Proveedores: </a:t>
            </a:r>
            <a:r>
              <a:rPr sz="919">
                <a:solidFill>
                  <a:srgbClr val="F1F5F9"/>
                </a:solidFill>
                <a:latin typeface="Calibri"/>
              </a:rPr>
              <a:t>Relación de confianza mutua y contratos de abastecimiento diario exclusivo.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188720"/>
            <a:ext cx="26974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44000" y="1325880"/>
            <a:ext cx="1931212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8B5CF6"/>
                </a:solidFill>
                <a:latin typeface="Calibri"/>
              </a:rPr>
              <a:t>4. SOBERANÍA DE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67335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Stack Tecnológico Propio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020824"/>
            <a:ext cx="233172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Cero Dependencia: </a:t>
            </a:r>
            <a:r>
              <a:rPr sz="919">
                <a:solidFill>
                  <a:srgbClr val="F1F5F9"/>
                </a:solidFill>
                <a:latin typeface="Calibri"/>
              </a:rPr>
              <a:t>Quiosco React, backend Node.js, firmware ESP32 en C++ y esquemáticos EasyEDA desarrollados desde cero.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Cero Regalías en Dólares: </a:t>
            </a:r>
            <a:r>
              <a:rPr sz="919">
                <a:solidFill>
                  <a:srgbClr val="F1F5F9"/>
                </a:solidFill>
                <a:latin typeface="Calibri"/>
              </a:rPr>
              <a:t>Sin suscripciones a plataformas extranjeras de vending.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21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IMPACTO SOCIAL, ACADÉMICO Y ALIANZA COMUNITARIA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El valor compartido entre la universidad, los estudiantes, los microempresarios y la sociedad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IMPACTO SOCIAL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253081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ODS 2 Y 3: SALUD Y BIENESTAR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Nutrición Digna al Estudiante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Erradicación de Chatarra: </a:t>
            </a:r>
            <a:r>
              <a:rPr sz="919">
                <a:solidFill>
                  <a:srgbClr val="F1F5F9"/>
                </a:solidFill>
                <a:latin typeface="Calibri"/>
              </a:rPr>
              <a:t>Disminuye la ingesta forzada de ultraprocesados en jornadas escolares intensas.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Prevención Gastrointestinal: </a:t>
            </a:r>
            <a:r>
              <a:rPr sz="919">
                <a:solidFill>
                  <a:srgbClr val="F1F5F9"/>
                </a:solidFill>
                <a:latin typeface="Calibri"/>
              </a:rPr>
              <a:t>Evita ayunos prolongados y gastritis en alumnos foráneos de escasos recursos.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Salud Preventiva: </a:t>
            </a:r>
            <a:r>
              <a:rPr sz="919">
                <a:solidFill>
                  <a:srgbClr val="F1F5F9"/>
                </a:solidFill>
                <a:latin typeface="Calibri"/>
              </a:rPr>
              <a:t>Fomenta hábitos de alimentación equilibrada y mejora la concentración académica.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0560" y="1325880"/>
            <a:ext cx="2414015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ODS 8: TRABAJO DECENTE Y PYMES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Economía Circular y 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Fortalecimiento de Fondas: </a:t>
            </a:r>
            <a:r>
              <a:rPr sz="919">
                <a:solidFill>
                  <a:srgbClr val="F1F5F9"/>
                </a:solidFill>
                <a:latin typeface="Calibri"/>
              </a:rPr>
              <a:t>Brinda a las microempresas de comida corrida un canal tecnológico sin costos fijos de local.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Generación de Empleo: </a:t>
            </a:r>
            <a:r>
              <a:rPr sz="919">
                <a:solidFill>
                  <a:srgbClr val="F1F5F9"/>
                </a:solidFill>
                <a:latin typeface="Calibri"/>
              </a:rPr>
              <a:t>Impulsa la producción matutina de guisos caseros en colonias aledañas a los campus.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Comercio Justo: </a:t>
            </a:r>
            <a:r>
              <a:rPr sz="919">
                <a:solidFill>
                  <a:srgbClr val="F1F5F9"/>
                </a:solidFill>
                <a:latin typeface="Calibri"/>
              </a:rPr>
              <a:t>Más del 52% del valor de cada venta va directo al productor local.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21040" y="1325880"/>
            <a:ext cx="2092147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8B5CF6"/>
                </a:solidFill>
                <a:latin typeface="Calibri"/>
              </a:rPr>
              <a:t>RIGOR CURRICULAR FIME UANL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Ingeniería Aplicada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Cumplimiento Curricular al 100%: </a:t>
            </a:r>
            <a:r>
              <a:rPr sz="919">
                <a:solidFill>
                  <a:srgbClr val="F1F5F9"/>
                </a:solidFill>
                <a:latin typeface="Calibri"/>
              </a:rPr>
              <a:t>Alineación estricta con las 5 Actividades Fundamentales y el Producto Integrador de Aprendizaje (PIA).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Integración Multidisciplinar: </a:t>
            </a:r>
            <a:r>
              <a:rPr sz="919">
                <a:solidFill>
                  <a:srgbClr val="F1F5F9"/>
                </a:solidFill>
                <a:latin typeface="Calibri"/>
              </a:rPr>
              <a:t>CAD 3D en Fusion 360, electrónica matricial EasyEDA, firmware ESP32 en Wokwi y plataforma web IoT.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Orgullo FIME: </a:t>
            </a:r>
            <a:r>
              <a:rPr sz="919">
                <a:solidFill>
                  <a:srgbClr val="F1F5F9"/>
                </a:solidFill>
                <a:latin typeface="Calibri"/>
              </a:rPr>
              <a:t>Demostración tangible de la capacidad de innovación tecnológica nacida en nuestras aulas.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22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CONCLUSIONES EJECUTIVAS, REPOSITORIO DIGITAL Y DEMOSTRACIÓN EN VIVO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Síntesis de valor para el Docente Titular, Comité Evaluador y la Comunidad FIME UANL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CIERRE EJECUTIVO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65836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414015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SÍNTESIS DE VALOR DEL PROYECTO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ExpendeX Demuestra Viabilidad 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621792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Técnicamente Validado: </a:t>
            </a:r>
            <a:r>
              <a:rPr sz="919">
                <a:solidFill>
                  <a:srgbClr val="F1F5F9"/>
                </a:solidFill>
                <a:latin typeface="Calibri"/>
              </a:rPr>
              <a:t>Ensamble CAD 3D probado, electrónica matricial de potencia 6x6 simulada en EasyEDA, firmware en C++ verificado en Wokwi y plataforma web interactiva.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Financieramente Rentable: </a:t>
            </a:r>
            <a:r>
              <a:rPr sz="919">
                <a:solidFill>
                  <a:srgbClr val="F1F5F9"/>
                </a:solidFill>
                <a:latin typeface="Calibri"/>
              </a:rPr>
              <a:t>BOM de $46,463.12 MXN, VAN de $138,420 MXN, TIR de 182.4% y retorno de capital en 4.2 meses.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Socialmente Pertinente: </a:t>
            </a:r>
            <a:r>
              <a:rPr sz="919">
                <a:solidFill>
                  <a:srgbClr val="F1F5F9"/>
                </a:solidFill>
                <a:latin typeface="Calibri"/>
              </a:rPr>
              <a:t>Erradica las filas de cafetería y democratiza la comida casera caliente a $85 MXN con inocuidad garantizada.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950" b="1">
                <a:solidFill>
                  <a:srgbClr val="06B6D4"/>
                </a:solidFill>
                <a:latin typeface="Calibri"/>
              </a:rPr>
              <a:t>Rigor Metodológico: </a:t>
            </a:r>
            <a:r>
              <a:rPr sz="919">
                <a:solidFill>
                  <a:srgbClr val="F1F5F9"/>
                </a:solidFill>
                <a:latin typeface="Calibri"/>
              </a:rPr>
              <a:t>Cumplimiento integral de la rúbrica oficial de la FIME UANL para el Examen Ordinario de Proyecto de Ingeniería Aplicada.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188720"/>
            <a:ext cx="43891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REPOSITORIO DIGITAL OFICIAL
</a:t>
            </a:r>
          </a:p>
          <a:p>
            <a:pPr algn="ctr"/>
            <a:r>
              <a:rPr sz="1050" b="1">
                <a:solidFill>
                  <a:srgbClr val="06B6D4"/>
                </a:solidFill>
                <a:latin typeface="Calibri"/>
              </a:rPr>
              <a:t>https://github.com/Anubys6/ExpendeX-Smart-Vending-FIME
</a:t>
            </a:r>
          </a:p>
          <a:p>
            <a:r>
              <a:rPr sz="1000" b="1">
                <a:solidFill>
                  <a:srgbClr val="10B981"/>
                </a:solidFill>
                <a:latin typeface="Calibri"/>
              </a:rPr>
              <a:t>DEMOSTRACIÓN DISPONIBLE EN VIVO:
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FFFFFF"/>
                </a:solidFill>
                <a:latin typeface="Calibri"/>
              </a:rPr>
              <a:t>• Quiosco Web Touchscreen: </a:t>
            </a:r>
            <a:r>
              <a:rPr sz="850">
                <a:solidFill>
                  <a:srgbClr val="F1F5F9"/>
                </a:solidFill>
                <a:latin typeface="Calibri"/>
              </a:rPr>
              <a:t>Navegación fluida y catálogo de combos en localhost:3000.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FFFFFF"/>
                </a:solidFill>
                <a:latin typeface="Calibri"/>
              </a:rPr>
              <a:t>• Pasarela de Pago QR: </a:t>
            </a:r>
            <a:r>
              <a:rPr sz="850">
                <a:solidFill>
                  <a:srgbClr val="F1F5F9"/>
                </a:solidFill>
                <a:latin typeface="Calibri"/>
              </a:rPr>
              <a:t>Simulación de cobro instantáneo con MercadoPago.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FFFFFF"/>
                </a:solidFill>
                <a:latin typeface="Calibri"/>
              </a:rPr>
              <a:t>• Simulación Wokwi 36 LEDs: </a:t>
            </a:r>
            <a:r>
              <a:rPr sz="850">
                <a:solidFill>
                  <a:srgbClr val="F1F5F9"/>
                </a:solidFill>
                <a:latin typeface="Calibri"/>
              </a:rPr>
              <a:t>Despacho matricial de espirales de 24V con ESP32.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FFFFFF"/>
                </a:solidFill>
                <a:latin typeface="Calibri"/>
              </a:rPr>
              <a:t>• Panel Administrativo: </a:t>
            </a:r>
            <a:r>
              <a:rPr sz="850">
                <a:solidFill>
                  <a:srgbClr val="F1F5F9"/>
                </a:solidFill>
                <a:latin typeface="Calibri"/>
              </a:rPr>
              <a:t>Control de stock FIFO, curvas de venta y telemetría de temperatura.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Micro-Restaurante Automatizado Híbrido | FIME UANL | Repositorio GitHub: https://github.com/Anubys6/ExpendeX-Smart-Vending-FIME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Página 23 de 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5128</Words>
  <Application>Microsoft Office PowerPoint</Application>
  <PresentationFormat>Panorámica</PresentationFormat>
  <Paragraphs>501</Paragraphs>
  <Slides>23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Samuel Tovar Mujica</cp:lastModifiedBy>
  <cp:revision>2</cp:revision>
  <dcterms:created xsi:type="dcterms:W3CDTF">2013-01-27T09:14:16Z</dcterms:created>
  <dcterms:modified xsi:type="dcterms:W3CDTF">2026-10-24T21:38:55Z</dcterms:modified>
  <cp:category/>
</cp:coreProperties>
</file>