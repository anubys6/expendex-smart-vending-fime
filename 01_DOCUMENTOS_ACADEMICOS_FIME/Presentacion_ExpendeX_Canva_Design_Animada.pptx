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1 - PORTADA):</a:t>
            </a:r>
          </a:p>
          <a:p>
            <a:r>
              <a:t>1. Saludo formal al sínodo de FIME UANL. Presentación de ExpendeX como un desarrollo de ingeniería mecatrónica aplicada de manufactura nacional.</a:t>
            </a:r>
          </a:p>
          <a:p>
            <a:r>
              <a:t>2. Énfasis en el equipo multidisciplinario de 3 ingenieros en formación: Samuel Tovar en liderazgo mecatrónico, diseño CAD y firmware; Emiliano Sánchez en software web dual y pasarela de pago QR; y Francisco Reyes en electrónica de potencia matricial EasyEDA y supresión de Back-EMF.</a:t>
            </a:r>
          </a:p>
          <a:p>
            <a:r>
              <a:t>3. Declaración de rigor: todo lo presentado está respaldado por memorias de cálculo analítico, esquemáticos en EasyEDA, simulación en Wokwi y código de producción.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2 - CONTEXTO Y PROBLEMA):</a:t>
            </a:r>
          </a:p>
          <a:p>
            <a:r>
              <a:t>1. Expongan la realidad cotidiana de FIME: horarios continuos de 7:00 a 21:00 hrs donde los recesos son de 15 a 20 minutos, pero la fila de la cafetería promedia exactamente 20 minutos en horas pico.</a:t>
            </a:r>
          </a:p>
          <a:p>
            <a:r>
              <a:t>2. Analicen la gráfica de benchmarking en pantalla: la cafetería cuesta $75 MXN pero toma 20 minutos; las apps de delivery cuestan $175 MXN y tardan 45 minutos. ExpendeX entrega un combo completo caliente y bebida fría en solo 10 segundos a $85 MXN.</a:t>
            </a:r>
          </a:p>
          <a:p>
            <a:r>
              <a:t>3. Señalen el render vertical de la máquina a la derecha: una solución física compacta de 0.85 m² lista para instalarse en pasillos de aulas.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3 - RETO CAD Y CHASIS):</a:t>
            </a:r>
          </a:p>
          <a:p>
            <a:r>
              <a:t>1. Expliquen que el chasis se modeló completamente en Fusion 360 con 127 piezas sólidas, cuidando la viabilidad de manufactura con lámina galvanizada cal. 16 cortada por láser y doblada en CNC.</a:t>
            </a:r>
          </a:p>
          <a:p>
            <a:r>
              <a:t>2. Resalten el render central: la máquina se aprecia verticalmente en su totalidad, con el copete integrado ergonómicamente a 15° sin romper la silueta del gabinete.</a:t>
            </a:r>
          </a:p>
          <a:p>
            <a:r>
              <a:t>3. Detallen que la altura de 1.45 m al centro de la pantalla responde a normas de inclusión y ergonomía para personas de 1.50 m a 1.95 m de estatura.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4 - RIGIDEZ DE BANDEJAS):</a:t>
            </a:r>
          </a:p>
          <a:p>
            <a:r>
              <a:t>1. Este fue el primer gran reto analítico de mecánica de materiales: ¿cómo meter comidas pesadas de 850 g y bebidas de 355 g sin pandear la charola?</a:t>
            </a:r>
          </a:p>
          <a:p>
            <a:r>
              <a:t>2. Muestren la curva elástica de la derecha: calculamos la flecha por Euler-Bernoulli obteniendo 1.34 mm, estrictamente por debajo del límite admisible de 1.50 mm.</a:t>
            </a:r>
          </a:p>
          <a:p>
            <a:r>
              <a:t>3. Expliquen la genialidad de la configuración 1+4+1 en el CAD central: al colocar el peso mayor en los extremos pegado a los rieles de 45 kg, el momento flector en el centro disminuye drásticamente.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5 - CINEMÁTICA Y PAR TORSOR):</a:t>
            </a:r>
          </a:p>
          <a:p>
            <a:r>
              <a:t>1. Señalen el recipiente de la imagen central: comida casera de 3 divisiones (guiso, arroz, frijoles) con masa de 850 g. Las máquinas estándar jamás pueden empujar esta geometría.</a:t>
            </a:r>
          </a:p>
          <a:p>
            <a:r>
              <a:t>2. Detallen el cálculo: requerimos un par torsor dinámico de 0.385 N·m considerando coeficiente de fricción acero-polipropileno de 0.28.</a:t>
            </a:r>
          </a:p>
          <a:p>
            <a:r>
              <a:t>3. Muestren la curva dinamométrica de la derecha: seleccionamos motorreductores planetarios de 1.80 N·m a 24V, otorgando un factor de seguridad de 4.67 que garantiza cero atascos incluso con variaciones de fricción.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6 - BALANCE TÉRMICO NOM-251):</a:t>
            </a:r>
          </a:p>
          <a:p>
            <a:r>
              <a:t>1. La inocuidad es innegociable: la NOM-251 exige conservar alimentos cocidos por debajo de 7°C para inhibir proliferación bacteriana.</a:t>
            </a:r>
          </a:p>
          <a:p>
            <a:r>
              <a:t>2. Diseñamos el sistema para la peor condición de Monterrey: 42°C exterior y 75% de humedad relativa. La carga térmica calculada fue de 382.88 W.</a:t>
            </a:r>
          </a:p>
          <a:p>
            <a:r>
              <a:t>3. El compresor Embraco de 1/5 HP seleccionado extrae 485 W (FS = 1.27). La curva de la derecha demuestra que el sistema abate la temperatura de 42°C a 4°C en 54 minutos en el arranque inicial.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7 - ELECTRÓNICA DE POTENCIA - FRANCISCO REYES):</a:t>
            </a:r>
          </a:p>
          <a:p>
            <a:r>
              <a:t>1. Francisco Reyes lideró el desarrollo de la etapa de potencia en EasyEDA. El cableado convencional de 36 motores requeriría 72 conductores gruesos cruzando partes móviles.</a:t>
            </a:r>
          </a:p>
          <a:p>
            <a:r>
              <a:t>2. Al implementar la matriz 6x6 con drivers High-Side IRF9540 (P-MOSFET) y Low-Side IRLZ44N (N-MOSFET), redujo el arnés a solo 12 cables (ahorro del 83%).</a:t>
            </a:r>
          </a:p>
          <a:p>
            <a:r>
              <a:t>3. Muestren el oscilograma de la derecha: la energía inductiva generaba picos de 48V que quemaban componentes digitales. Francisco resolvió esto integrando diodos flyback rápidos 1N4007 y optoacopladores PC817C con 2,500 V de aislamiento galvánico.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8 - FIRMWARE FREERTOS - SAMUEL TOVAR):</a:t>
            </a:r>
          </a:p>
          <a:p>
            <a:r>
              <a:t>1. El firmware se desarrolló en C++ sobre ESP-IDF / FreeRTOS aprovechando los dos núcleos del ESP32 a 240 MHz.</a:t>
            </a:r>
          </a:p>
          <a:p>
            <a:r>
              <a:t>2. Separamos las tareas para garantizar determinismo estricto: la tarea de despacho tiene prioridad máxima en el Núcleo 1, inmune a retardos de red del Núcleo 0.</a:t>
            </a:r>
          </a:p>
          <a:p>
            <a:r>
              <a:t>3. Para validar el sistema antes del montaje físico, construí el simulador completo en Wokwi con una matriz de 36 LEDs que representan cada motorreductor, comprobando los tiempos de respuesta ante tramas UART de la Raspberry Pi.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9 - PLATAFORMAS WEB - EMILIANO SÁNCHEZ):</a:t>
            </a:r>
          </a:p>
          <a:p>
            <a:r>
              <a:t>1. Emiliano Sánchez desarrolló la plataforma web dual: una interfaz de cara al cliente en pantalla táctil de 10.1" y un portal administrativo para los dueños de loncherías locales.</a:t>
            </a:r>
          </a:p>
          <a:p>
            <a:r>
              <a:t>2. Destacar la pasarela de pago: sin monedas que se atoren ni billetes sucios; el usuario escanea el QR dinámico con su app bancaria y la confirmación viaja al ESP32 por UART en menos de 1.5 segundos.</a:t>
            </a:r>
          </a:p>
          <a:p>
            <a:r>
              <a:t>3. Resalten la regla sanitaria de las 14 horas: el sistema audita la fecha y hora de carga del platillo; si rebasa 14 horas, la máquina bloquea ese canal automáticamente para garantizar que jamás se venda comida descompuesta.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10 - COMPUERTA ANTIRROBO):</a:t>
            </a:r>
          </a:p>
          <a:p>
            <a:r>
              <a:t>1. La compuerta de retiro resuelve simultáneamente dos problemas críticos: seguridad física contra robo y aislamiento térmico.</a:t>
            </a:r>
          </a:p>
          <a:p>
            <a:r>
              <a:t>2. El mecanismo es un balancín de interbloqueo: cuando el usuario empuja la tapa para sacar su comida, la parte posterior de la lámina bascula hacia arriba bloqueando el túnel de caída. Es imposible meter el brazo para alcanzar las bandejas.</a:t>
            </a:r>
          </a:p>
          <a:p>
            <a:r>
              <a:t>3. El retorno es 100% por gravedad usando un contrapeso de acero calibrado, eliminando resortes que pierden tensión con el tiempo. El sello de caucho EPDM mantiene la hermeticidad de los 4°C.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11 - CICLO INTEGRADO):</a:t>
            </a:r>
          </a:p>
          <a:p>
            <a:r>
              <a:t>1. Este es el corazón de la presentación: cómo todos los subsistemas (mecánica, electrónica, firmware y software) trabajan sincronizados en una coreografía cronometrada de 8 a 12 segundos.</a:t>
            </a:r>
          </a:p>
          <a:p>
            <a:r>
              <a:t>2. Contraste contundente con la realidad: en el tiempo en que un estudiante apenas avanzaría un paso en la fila de 20 minutos de la cafetería, ExpendeX ya cobró digitalmente, dispensó el guiso caliente, entregó la bebida fría y actualizó el inventario en la nube.</a:t>
            </a:r>
          </a:p>
          <a:p>
            <a:r>
              <a:t>3. Observen en pantalla las imágenes reales: el modal vertical de pago QR a la izquierda y la simulación del despacho dual en Wokwi a la derecha.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12 - COSTOS Y BOM):</a:t>
            </a:r>
          </a:p>
          <a:p>
            <a:r>
              <a:t>1. Este desglose financiero no es una estimación al aire: es el BOM analítico cotizado componente por componente para la memoria del PIA.</a:t>
            </a:r>
          </a:p>
          <a:p>
            <a:r>
              <a:t>2. El costo total de fabricación de $46,463.12 MXN demuestra la viabilidad de la manufactura nacional de automatización.</a:t>
            </a:r>
          </a:p>
          <a:p>
            <a:r>
              <a:t>3. Una máquina vending extranjera similar importada supera los $180,000 MXN. ExpendeX logra el mismo desempeño por una cuarta parte del costo gracias al diseño paramétrico optimizado y al uso de componentes estándar.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13 - UNIT ECONOMICS):</a:t>
            </a:r>
          </a:p>
          <a:p>
            <a:r>
              <a:t>1. Expongan el modelo de Unit Economics: el combo cuesta $85 MXN, compuesto por guiso casero caliente y bebida fría.</a:t>
            </a:r>
          </a:p>
          <a:p>
            <a:r>
              <a:t>2. Resalten el impacto social: pagamos $45 MXN directamente a la lonchería local. No competimos contra los negocios familiares de comida, nos convertimos en su canal de distribución automatizado 24/7.</a:t>
            </a:r>
          </a:p>
          <a:p>
            <a:r>
              <a:t>3. Analicen la gráfica de pastel: tras pagar comida ($45), bebida ($10), luz y comisión bancaria ($6.55), quedan $23.45 MXN de margen bruto (27.6%), garantizando una alta rentabilidad para la amortización del equipo.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14 - VALIDACIÓN METROLÓGICA):</a:t>
            </a:r>
          </a:p>
          <a:p>
            <a:r>
              <a:t>1. Esta tabla sintetiza el Apartado 19.0 del PIA y responde a la máxima exigencia académica de la facultad: contrastar teoría, simulación y experimentación.</a:t>
            </a:r>
          </a:p>
          <a:p>
            <a:r>
              <a:t>2. Observen la columna de error porcentual: el error máximo registrado fue de apenas 4.16% en el par motor y 0.04% en la supresión de Back-EMF.</a:t>
            </a:r>
          </a:p>
          <a:p>
            <a:r>
              <a:t>3. Esto demuestra que los modelos matemáticos de Euler-Bernoulli, las ecuaciones termodinámicas y la ley de inducción de Faraday se aplicaron con absoluto rigor mecatrónico.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15 - CONCLUSIONES Y DEMOS EN VIVO):</a:t>
            </a:r>
          </a:p>
          <a:p>
            <a:r>
              <a:t>1. Conclusión de alto impacto: ExpendeX demuestra que con ingeniería mecatrónica de vanguardia, manufactura nacional y colaboración comunitaria es posible solucionar un problema real que afecta la salud de miles de estudiantes de FIME.</a:t>
            </a:r>
          </a:p>
          <a:p>
            <a:r>
              <a:t>2. Dar paso inmediatamente a las demostraciones en vivo asignadas a cada especialista técnico:</a:t>
            </a:r>
          </a:p>
          <a:p>
            <a:r>
              <a:t>   - Emiliano presentará la compra en quiosco táctil con cobro QR dinámico y el panel admin FIFO.</a:t>
            </a:r>
          </a:p>
          <a:p>
            <a:r>
              <a:t>   - Samuel mostrará la maqueta CAD en Fusion 360 y la ejecución de tareas concurrentes en Wokwi.</a:t>
            </a:r>
          </a:p>
          <a:p>
            <a:r>
              <a:t>   - Francisco expondrá la conmutación de la matriz en EasyEDA y la medición del transitorio inductivo.</a:t>
            </a:r>
          </a:p>
          <a:p>
            <a:r>
              <a:t>3. Agradecer al jurado y abrir formalmente la sesión de preguntas y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xml"/><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notesSlide" Target="../notesSlides/notesSlide3.xml"/><Relationship Id="rId5" Type="http://schemas.openxmlformats.org/officeDocument/2006/relationships/image" Target="../media/image22.png"/><Relationship Id="rId6"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 Id="rId5"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anl_logo_final.png"/>
          <p:cNvPicPr>
            <a:picLocks noChangeAspect="1"/>
          </p:cNvPicPr>
          <p:nvPr/>
        </p:nvPicPr>
        <p:blipFill>
          <a:blip r:embed="rId2"/>
          <a:stretch>
            <a:fillRect/>
          </a:stretch>
        </p:blipFill>
        <p:spPr>
          <a:xfrm>
            <a:off x="457200" y="91440"/>
            <a:ext cx="1005840" cy="640080"/>
          </a:xfrm>
          <a:prstGeom prst="rect">
            <a:avLst/>
          </a:prstGeom>
        </p:spPr>
      </p:pic>
      <p:pic>
        <p:nvPicPr>
          <p:cNvPr id="4" name="Picture 3" descr="fime_logo_final.png"/>
          <p:cNvPicPr>
            <a:picLocks noChangeAspect="1"/>
          </p:cNvPicPr>
          <p:nvPr/>
        </p:nvPicPr>
        <p:blipFill>
          <a:blip r:embed="rId3"/>
          <a:stretch>
            <a:fillRect/>
          </a:stretch>
        </p:blipFill>
        <p:spPr>
          <a:xfrm>
            <a:off x="1645920" y="91440"/>
            <a:ext cx="1005840" cy="640080"/>
          </a:xfrm>
          <a:prstGeom prst="rect">
            <a:avLst/>
          </a:prstGeom>
        </p:spPr>
      </p:pic>
      <p:sp>
        <p:nvSpPr>
          <p:cNvPr id="5" name="TextBox 4"/>
          <p:cNvSpPr txBox="1"/>
          <p:nvPr/>
        </p:nvSpPr>
        <p:spPr>
          <a:xfrm>
            <a:off x="2926080" y="109728"/>
            <a:ext cx="8686800" cy="640080"/>
          </a:xfrm>
          <a:prstGeom prst="rect">
            <a:avLst/>
          </a:prstGeom>
          <a:noFill/>
        </p:spPr>
        <p:txBody>
          <a:bodyPr wrap="none">
            <a:spAutoFit/>
          </a:bodyPr>
          <a:lstStyle/>
          <a:p>
            <a:r>
              <a:rPr sz="1100" b="1">
                <a:solidFill>
                  <a:srgbClr val="FFFFFF"/>
                </a:solidFill>
                <a:latin typeface="Segoe UI"/>
              </a:rPr>
              <a:t>UNIVERSIDAD AUTÓNOMA DE NUEVO LEÓN | FACULTAD DE INGENIERÍA MECÁNICA Y ELÉCTRICA</a:t>
            </a:r>
          </a:p>
          <a:p>
            <a:r>
              <a:rPr sz="950" b="1">
                <a:solidFill>
                  <a:srgbClr val="06B6D4"/>
                </a:solidFill>
                <a:latin typeface="Segoe UI"/>
              </a:rPr>
              <a:t>PROYECTO INTEGRADOR DE APRENDIZAJE (PIA) — INGENIERO EN ELECTRÓNICA Y AUTOMATIZACIÓN</a:t>
            </a:r>
          </a:p>
        </p:txBody>
      </p:sp>
      <p:sp>
        <p:nvSpPr>
          <p:cNvPr id="6" name="Rounded Rectangle 5"/>
          <p:cNvSpPr/>
          <p:nvPr/>
        </p:nvSpPr>
        <p:spPr>
          <a:xfrm>
            <a:off x="548640" y="1097280"/>
            <a:ext cx="6675120" cy="5166360"/>
          </a:xfrm>
          <a:prstGeom prst="roundRect">
            <a:avLst>
              <a:gd name="adj" fmla="val 3500"/>
            </a:avLst>
          </a:prstGeom>
          <a:solidFill>
            <a:srgbClr val="131F37"/>
          </a:solidFill>
          <a:ln w="254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280160"/>
            <a:ext cx="3931920" cy="320040"/>
          </a:xfrm>
          <a:prstGeom prst="roundRect">
            <a:avLst>
              <a:gd name="adj" fmla="val 50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10B981"/>
                </a:solidFill>
                <a:latin typeface="Segoe UI"/>
              </a:rPr>
              <a:t>MEMORIA DE DESARROLLO E INGENIERÍA MECATRÓNICA</a:t>
            </a:r>
          </a:p>
        </p:txBody>
      </p:sp>
      <p:sp>
        <p:nvSpPr>
          <p:cNvPr id="8" name="TextBox 7"/>
          <p:cNvSpPr txBox="1"/>
          <p:nvPr/>
        </p:nvSpPr>
        <p:spPr>
          <a:xfrm>
            <a:off x="822960" y="1691640"/>
            <a:ext cx="6217920" cy="1097280"/>
          </a:xfrm>
          <a:prstGeom prst="rect">
            <a:avLst/>
          </a:prstGeom>
          <a:noFill/>
        </p:spPr>
        <p:txBody>
          <a:bodyPr wrap="none">
            <a:spAutoFit/>
          </a:bodyPr>
          <a:lstStyle/>
          <a:p>
            <a:r>
              <a:rPr sz="4600" b="1">
                <a:solidFill>
                  <a:srgbClr val="FFFFFF"/>
                </a:solidFill>
                <a:latin typeface="Segoe UI"/>
              </a:rPr>
              <a:t>EXPENDEX</a:t>
            </a:r>
          </a:p>
        </p:txBody>
      </p:sp>
      <p:sp>
        <p:nvSpPr>
          <p:cNvPr id="9" name="TextBox 8"/>
          <p:cNvSpPr txBox="1"/>
          <p:nvPr/>
        </p:nvSpPr>
        <p:spPr>
          <a:xfrm>
            <a:off x="822960" y="2788920"/>
            <a:ext cx="6126480" cy="594360"/>
          </a:xfrm>
          <a:prstGeom prst="rect">
            <a:avLst/>
          </a:prstGeom>
          <a:noFill/>
        </p:spPr>
        <p:txBody>
          <a:bodyPr wrap="square">
            <a:spAutoFit/>
          </a:bodyPr>
          <a:lstStyle/>
          <a:p>
            <a:pPr>
              <a:defRPr sz="1300">
                <a:solidFill>
                  <a:srgbClr val="F0F6FC"/>
                </a:solidFill>
              </a:defRPr>
            </a:pPr>
            <a:r>
              <a:t>Máquina Automatizada Híbrida: Memoria de Desarrollo Mecatrónico, Retos Técnicos y Validación Experimental en FIME UANL</a:t>
            </a:r>
          </a:p>
          <a:p>
            <a:pPr>
              <a:defRPr sz="1300">
                <a:solidFill>
                  <a:srgbClr val="F0F6FC"/>
                </a:solidFill>
              </a:defRPr>
            </a:pPr>
            <a:r>
              <a:t>Grupo: 005   |   Salón: 7208   |   Día: Jueves   |   Hora: M4 a M6   |   Semestre: Agosto – Diciembre 2026</a:t>
            </a:r>
          </a:p>
        </p:txBody>
      </p:sp>
      <p:sp>
        <p:nvSpPr>
          <p:cNvPr id="10" name="TextBox 9"/>
          <p:cNvSpPr txBox="1"/>
          <p:nvPr/>
        </p:nvSpPr>
        <p:spPr>
          <a:xfrm>
            <a:off x="822960" y="3401568"/>
            <a:ext cx="6126480" cy="347472"/>
          </a:xfrm>
          <a:prstGeom prst="rect">
            <a:avLst/>
          </a:prstGeom>
          <a:noFill/>
        </p:spPr>
        <p:txBody>
          <a:bodyPr wrap="none">
            <a:spAutoFit/>
          </a:bodyPr>
          <a:lstStyle/>
          <a:p>
            <a:r>
              <a:rPr sz="950" b="1">
                <a:solidFill>
                  <a:srgbClr val="10B981"/>
                </a:solidFill>
                <a:latin typeface="Segoe UI"/>
              </a:rPr>
              <a:t>Repositorio Oficial GitHub (Acceso Abierto): </a:t>
            </a:r>
            <a:r>
              <a:rPr sz="950" b="1">
                <a:solidFill>
                  <a:srgbClr val="06B6D4"/>
                </a:solidFill>
                <a:latin typeface="Segoe UI"/>
              </a:rPr>
              <a:t>https://github.com/Anubys6/ExpendeX-Smart-Vending-FIME</a:t>
            </a:r>
          </a:p>
        </p:txBody>
      </p:sp>
      <p:sp>
        <p:nvSpPr>
          <p:cNvPr id="11" name="TextBox 10"/>
          <p:cNvSpPr txBox="1"/>
          <p:nvPr/>
        </p:nvSpPr>
        <p:spPr>
          <a:xfrm>
            <a:off x="822960" y="3822191"/>
            <a:ext cx="6126480" cy="2331720"/>
          </a:xfrm>
          <a:prstGeom prst="rect">
            <a:avLst/>
          </a:prstGeom>
          <a:noFill/>
        </p:spPr>
        <p:txBody>
          <a:bodyPr wrap="none">
            <a:spAutoFit/>
          </a:bodyPr>
          <a:lstStyle/>
          <a:p>
            <a:r>
              <a:rPr sz="1000" b="1">
                <a:solidFill>
                  <a:srgbClr val="F1F5F9"/>
                </a:solidFill>
                <a:latin typeface="Segoe UI"/>
              </a:rPr>
              <a:t>EQUIPO DE DESARROLLO MECATRÓNICO Y RESPONSABILIDADES:</a:t>
            </a:r>
          </a:p>
          <a:p>
            <a:pPr>
              <a:spcBef>
                <a:spcPts val="400"/>
              </a:spcBef>
            </a:pPr>
            <a:r>
              <a:rPr sz="950" b="1">
                <a:solidFill>
                  <a:srgbClr val="06B6D4"/>
                </a:solidFill>
                <a:latin typeface="Calibri"/>
              </a:rPr>
              <a:t>• 👑 Samuel Tovar Mújica (Mat. 2077933 - IEA): </a:t>
            </a:r>
            <a:r>
              <a:rPr sz="900">
                <a:solidFill>
                  <a:srgbClr val="94A3B8"/>
                </a:solidFill>
                <a:latin typeface="Calibri"/>
              </a:rPr>
              <a:t>Jefe de Proyecto, Modelado 3D CAD Fusion 360, Firmware ESP32 FreeRTOS (Wokwi), Memorias Analíticas y Redacción.</a:t>
            </a:r>
          </a:p>
          <a:p>
            <a:pPr>
              <a:spcBef>
                <a:spcPts val="400"/>
              </a:spcBef>
            </a:pPr>
            <a:r>
              <a:rPr sz="950" b="1">
                <a:solidFill>
                  <a:srgbClr val="F59E0B"/>
                </a:solidFill>
                <a:latin typeface="Calibri"/>
              </a:rPr>
              <a:t>• 💻 Emiliano Sánchez Martínez (Mat. 2012856 - IEA): </a:t>
            </a:r>
            <a:r>
              <a:rPr sz="900">
                <a:solidFill>
                  <a:srgbClr val="94A3B8"/>
                </a:solidFill>
                <a:latin typeface="Calibri"/>
              </a:rPr>
              <a:t>Plataformas Web Duales (Quiosco Táctil 10.1" con Cobro QR Mercado Pago y Panel Admin /admin FIFO).</a:t>
            </a:r>
          </a:p>
          <a:p>
            <a:pPr>
              <a:spcBef>
                <a:spcPts val="400"/>
              </a:spcBef>
            </a:pPr>
            <a:r>
              <a:rPr sz="950" b="1">
                <a:solidFill>
                  <a:srgbClr val="10B981"/>
                </a:solidFill>
                <a:latin typeface="Calibri"/>
              </a:rPr>
              <a:t>• ⚡ Francisco Reyes Santiago (Mat. 1768161 - IEA): </a:t>
            </a:r>
            <a:r>
              <a:rPr sz="900">
                <a:solidFill>
                  <a:srgbClr val="94A3B8"/>
                </a:solidFill>
                <a:latin typeface="Calibri"/>
              </a:rPr>
              <a:t>Electrónica de Potencia en EasyEDA (Matriz MOSFET 6x6, Optoacopladores PC817C, IPC-2221B) y Simulación Digital.</a:t>
            </a:r>
          </a:p>
        </p:txBody>
      </p:sp>
      <p:sp>
        <p:nvSpPr>
          <p:cNvPr id="12" name="Rounded Rectangle 11"/>
          <p:cNvSpPr/>
          <p:nvPr/>
        </p:nvSpPr>
        <p:spPr>
          <a:xfrm>
            <a:off x="7406640" y="1097280"/>
            <a:ext cx="429768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02_Vista_Isometrica_Frontal_Derecha_CAD_Final.png"/>
          <p:cNvPicPr>
            <a:picLocks noChangeAspect="1"/>
          </p:cNvPicPr>
          <p:nvPr/>
        </p:nvPicPr>
        <p:blipFill>
          <a:blip r:embed="rId4"/>
          <a:stretch>
            <a:fillRect/>
          </a:stretch>
        </p:blipFill>
        <p:spPr>
          <a:xfrm>
            <a:off x="7584294" y="1207007"/>
            <a:ext cx="3942370" cy="4599432"/>
          </a:xfrm>
          <a:prstGeom prst="rect">
            <a:avLst/>
          </a:prstGeom>
        </p:spPr>
      </p:pic>
      <p:sp>
        <p:nvSpPr>
          <p:cNvPr id="14" name="TextBox 13"/>
          <p:cNvSpPr txBox="1"/>
          <p:nvPr/>
        </p:nvSpPr>
        <p:spPr>
          <a:xfrm>
            <a:off x="7516367" y="5861304"/>
            <a:ext cx="4078224" cy="347472"/>
          </a:xfrm>
          <a:prstGeom prst="rect">
            <a:avLst/>
          </a:prstGeom>
          <a:noFill/>
        </p:spPr>
        <p:txBody>
          <a:bodyPr wrap="square" lIns="0" rIns="0" tIns="0" bIns="0">
            <a:spAutoFit/>
          </a:bodyPr>
          <a:lstStyle/>
          <a:p>
            <a:pPr algn="ctr"/>
            <a:r>
              <a:rPr sz="850" b="1">
                <a:solidFill>
                  <a:srgbClr val="94A3B8"/>
                </a:solidFill>
                <a:latin typeface="Calibri"/>
              </a:rPr>
              <a:t>Modelo CAD Oficial Fusion 360 | Copete Superior HMI 10.1"</a:t>
            </a:r>
          </a:p>
        </p:txBody>
      </p:sp>
      <p:sp>
        <p:nvSpPr>
          <p:cNvPr id="15" name="Rectangle 14"/>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7" name="TextBox 16"/>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 de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01</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CONTEXTO REAL EN FIME UANL Y PLANTEAMIENTO DEL PROBLEMA</a:t>
            </a:r>
          </a:p>
          <a:p>
            <a:r>
              <a:rPr sz="950" b="1">
                <a:solidFill>
                  <a:srgbClr val="06B6D4"/>
                </a:solidFill>
                <a:latin typeface="Segoe UI"/>
              </a:rPr>
              <a:t>PROBLEMÁTICA COTIDIANA Y JUSTIFICACIÓN DE INGENIERÍA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CONTEXTO FIME UANL • EQUIPO</a:t>
            </a:r>
          </a:p>
        </p:txBody>
      </p:sp>
      <p:sp>
        <p:nvSpPr>
          <p:cNvPr id="6" name="Rounded Rectangle 5"/>
          <p:cNvSpPr/>
          <p:nvPr/>
        </p:nvSpPr>
        <p:spPr>
          <a:xfrm>
            <a:off x="457200" y="1188720"/>
            <a:ext cx="393192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2318004" cy="274320"/>
          </a:xfrm>
          <a:prstGeom prst="roundRect">
            <a:avLst>
              <a:gd name="adj" fmla="val 50000"/>
            </a:avLst>
          </a:prstGeom>
          <a:solidFill>
            <a:srgbClr val="0B0F19"/>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43F5E"/>
                </a:solidFill>
                <a:latin typeface="Segoe UI"/>
              </a:rPr>
              <a:t>LA REALIDAD ESTUDIANTIL</a:t>
            </a:r>
          </a:p>
        </p:txBody>
      </p:sp>
      <p:sp>
        <p:nvSpPr>
          <p:cNvPr id="8" name="TextBox 7"/>
          <p:cNvSpPr txBox="1"/>
          <p:nvPr/>
        </p:nvSpPr>
        <p:spPr>
          <a:xfrm>
            <a:off x="640080" y="1664207"/>
            <a:ext cx="3566160" cy="475488"/>
          </a:xfrm>
          <a:prstGeom prst="rect">
            <a:avLst/>
          </a:prstGeom>
          <a:noFill/>
        </p:spPr>
        <p:txBody>
          <a:bodyPr wrap="none" lIns="0" tIns="0" rIns="0" bIns="0">
            <a:spAutoFit/>
          </a:bodyPr>
          <a:lstStyle/>
          <a:p>
            <a:r>
              <a:rPr sz="1800" b="1">
                <a:solidFill>
                  <a:srgbClr val="F43F5E"/>
                </a:solidFill>
                <a:latin typeface="Segoe UI"/>
              </a:rPr>
              <a:t>20 min </a:t>
            </a:r>
            <a:r>
              <a:rPr sz="1000">
                <a:solidFill>
                  <a:srgbClr val="94A3B8"/>
                </a:solidFill>
                <a:latin typeface="Segoe UI"/>
              </a:rPr>
              <a:t>Fila Promedio en Cafetería</a:t>
            </a:r>
          </a:p>
        </p:txBody>
      </p:sp>
      <p:sp>
        <p:nvSpPr>
          <p:cNvPr id="9" name="TextBox 8"/>
          <p:cNvSpPr txBox="1"/>
          <p:nvPr/>
        </p:nvSpPr>
        <p:spPr>
          <a:xfrm>
            <a:off x="640080" y="2157984"/>
            <a:ext cx="3566160" cy="347472"/>
          </a:xfrm>
          <a:prstGeom prst="rect">
            <a:avLst/>
          </a:prstGeom>
          <a:noFill/>
        </p:spPr>
        <p:txBody>
          <a:bodyPr wrap="square" lIns="0" tIns="0" rIns="0" bIns="0">
            <a:spAutoFit/>
          </a:bodyPr>
          <a:lstStyle/>
          <a:p>
            <a:r>
              <a:rPr sz="1150" b="1">
                <a:solidFill>
                  <a:srgbClr val="FFFFFF"/>
                </a:solidFill>
                <a:latin typeface="Segoe UI"/>
              </a:rPr>
              <a:t>Jornadas de 7:00 a 21:00 hrs en FIME</a:t>
            </a:r>
          </a:p>
        </p:txBody>
      </p:sp>
      <p:sp>
        <p:nvSpPr>
          <p:cNvPr id="10" name="TextBox 9"/>
          <p:cNvSpPr txBox="1"/>
          <p:nvPr/>
        </p:nvSpPr>
        <p:spPr>
          <a:xfrm>
            <a:off x="640080" y="2487168"/>
            <a:ext cx="356616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Horario Continuo: </a:t>
            </a:r>
            <a:r>
              <a:rPr sz="950">
                <a:solidFill>
                  <a:srgbClr val="94A3B8"/>
                </a:solidFill>
                <a:latin typeface="Calibri"/>
              </a:rPr>
              <a:t>La comunidad estudiantil y docente pasa más de 8 horas en campus con recesos de solo 15 a 20 minutos.</a:t>
            </a:r>
          </a:p>
          <a:p>
            <a:pPr>
              <a:spcAft>
                <a:spcPts val="400"/>
              </a:spcAft>
            </a:pPr>
            <a:r>
              <a:rPr sz="950" b="1">
                <a:solidFill>
                  <a:srgbClr val="F1F5F9"/>
                </a:solidFill>
                <a:latin typeface="Calibri"/>
              </a:rPr>
              <a:t>• Saturación en Cafeterías: </a:t>
            </a:r>
            <a:r>
              <a:rPr sz="950">
                <a:solidFill>
                  <a:srgbClr val="94A3B8"/>
                </a:solidFill>
                <a:latin typeface="Calibri"/>
              </a:rPr>
              <a:t>Las cafeterías colapsan con filas de más de 20 minutos en horas pico, consumiendo todo el tiempo libre del alumno.</a:t>
            </a:r>
          </a:p>
          <a:p>
            <a:pPr>
              <a:spcAft>
                <a:spcPts val="400"/>
              </a:spcAft>
            </a:pPr>
            <a:r>
              <a:rPr sz="950" b="1">
                <a:solidFill>
                  <a:srgbClr val="F1F5F9"/>
                </a:solidFill>
                <a:latin typeface="Calibri"/>
              </a:rPr>
              <a:t>• Inviabilidad de Apps: </a:t>
            </a:r>
            <a:r>
              <a:rPr sz="950">
                <a:solidFill>
                  <a:srgbClr val="94A3B8"/>
                </a:solidFill>
                <a:latin typeface="Calibri"/>
              </a:rPr>
              <a:t>Las plataformas de delivery cobran sobrecostos de $160 a $200 MXN y no pueden ingresar a los edificios de aulas.</a:t>
            </a:r>
          </a:p>
          <a:p>
            <a:pPr>
              <a:spcAft>
                <a:spcPts val="400"/>
              </a:spcAft>
            </a:pPr>
            <a:r>
              <a:rPr sz="950" b="1">
                <a:solidFill>
                  <a:srgbClr val="F1F5F9"/>
                </a:solidFill>
                <a:latin typeface="Calibri"/>
              </a:rPr>
              <a:t>• Monopolio de Ultraprocesados: </a:t>
            </a:r>
            <a:r>
              <a:rPr sz="950">
                <a:solidFill>
                  <a:srgbClr val="94A3B8"/>
                </a:solidFill>
                <a:latin typeface="Calibri"/>
              </a:rPr>
              <a:t>El 100% de las máquinas vending actuales solo ofrecen frituras y sodas que provocan fatiga y problemas gástricos.</a:t>
            </a:r>
          </a:p>
        </p:txBody>
      </p:sp>
      <p:sp>
        <p:nvSpPr>
          <p:cNvPr id="11" name="Rounded Rectangle 10"/>
          <p:cNvSpPr/>
          <p:nvPr/>
        </p:nvSpPr>
        <p:spPr>
          <a:xfrm>
            <a:off x="4572000" y="1188720"/>
            <a:ext cx="402336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rt_competencia_costo_tiempo.png"/>
          <p:cNvPicPr>
            <a:picLocks noChangeAspect="1"/>
          </p:cNvPicPr>
          <p:nvPr/>
        </p:nvPicPr>
        <p:blipFill>
          <a:blip r:embed="rId2"/>
          <a:stretch>
            <a:fillRect/>
          </a:stretch>
        </p:blipFill>
        <p:spPr>
          <a:xfrm>
            <a:off x="4681728" y="2199669"/>
            <a:ext cx="3803904" cy="2796988"/>
          </a:xfrm>
          <a:prstGeom prst="rect">
            <a:avLst/>
          </a:prstGeom>
        </p:spPr>
      </p:pic>
      <p:sp>
        <p:nvSpPr>
          <p:cNvPr id="13" name="TextBox 12"/>
          <p:cNvSpPr txBox="1"/>
          <p:nvPr/>
        </p:nvSpPr>
        <p:spPr>
          <a:xfrm>
            <a:off x="4681728" y="5952744"/>
            <a:ext cx="3803904" cy="347472"/>
          </a:xfrm>
          <a:prstGeom prst="rect">
            <a:avLst/>
          </a:prstGeom>
          <a:noFill/>
        </p:spPr>
        <p:txBody>
          <a:bodyPr wrap="square" lIns="0" rIns="0" tIns="0" bIns="0">
            <a:spAutoFit/>
          </a:bodyPr>
          <a:lstStyle/>
          <a:p>
            <a:pPr algn="ctr"/>
            <a:r>
              <a:rPr sz="850" b="1">
                <a:solidFill>
                  <a:srgbClr val="94A3B8"/>
                </a:solidFill>
                <a:latin typeface="Calibri"/>
              </a:rPr>
              <a:t>Benchmarking FIME: Costo al Consumidor vs Tiempo de Espera</a:t>
            </a:r>
          </a:p>
        </p:txBody>
      </p:sp>
      <p:sp>
        <p:nvSpPr>
          <p:cNvPr id="14" name="Rounded Rectangle 13"/>
          <p:cNvSpPr/>
          <p:nvPr/>
        </p:nvSpPr>
        <p:spPr>
          <a:xfrm>
            <a:off x="8778240" y="1188720"/>
            <a:ext cx="29718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87967" y="5952744"/>
            <a:ext cx="2752344" cy="347472"/>
          </a:xfrm>
          <a:prstGeom prst="rect">
            <a:avLst/>
          </a:prstGeom>
          <a:noFill/>
        </p:spPr>
        <p:txBody>
          <a:bodyPr wrap="square" lIns="0" rIns="0" tIns="0" bIns="0">
            <a:spAutoFit/>
          </a:bodyPr>
          <a:lstStyle/>
          <a:p>
            <a:pPr algn="ctr"/>
            <a:r>
              <a:rPr sz="850" b="1">
                <a:solidFill>
                  <a:srgbClr val="94A3B8"/>
                </a:solidFill>
                <a:latin typeface="Calibri"/>
              </a:rPr>
              <a:t>Solución: Máquina Automatizada Híbrida</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2 de 15</a:t>
            </a:r>
          </a:p>
        </p:txBody>
      </p:sp>
      <p:pic>
        <p:nvPicPr>
          <p:cNvPr id="20" name="Picture 14" descr="image.png"/>
          <p:cNvPicPr>
            <a:picLocks noChangeAspect="1"/>
          </p:cNvPicPr>
          <p:nvPr/>
        </p:nvPicPr>
        <p:blipFill>
          <a:blip r:embed="rId5"/>
          <a:stretch>
            <a:fillRect/>
          </a:stretch>
        </p:blipFill>
        <p:spPr>
          <a:xfrm>
            <a:off x="8869680" y="1325880"/>
            <a:ext cx="2788920" cy="44348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02</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1: CONCEPCIÓN DEL CHASIS Y COPETE ERGONÓMICO</a:t>
            </a:r>
          </a:p>
          <a:p>
            <a:r>
              <a:rPr sz="950" b="1">
                <a:solidFill>
                  <a:srgbClr val="06B6D4"/>
                </a:solidFill>
                <a:latin typeface="Segoe UI"/>
              </a:rPr>
              <a:t>MODELADO PARAMÉTRICO 3D EN AUTODESK FUSION 360</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CAD 3D • SAMUEL TOVAR MÚJICA</a:t>
            </a:r>
          </a:p>
        </p:txBody>
      </p:sp>
      <p:sp>
        <p:nvSpPr>
          <p:cNvPr id="6" name="Rounded Rectangle 5"/>
          <p:cNvSpPr/>
          <p:nvPr/>
        </p:nvSpPr>
        <p:spPr>
          <a:xfrm>
            <a:off x="457200" y="1188720"/>
            <a:ext cx="42976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099816"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DESAFÍO ESTRUCTURAL Y ERGONÓMICO</a:t>
            </a:r>
          </a:p>
        </p:txBody>
      </p:sp>
      <p:sp>
        <p:nvSpPr>
          <p:cNvPr id="8" name="TextBox 7"/>
          <p:cNvSpPr txBox="1"/>
          <p:nvPr/>
        </p:nvSpPr>
        <p:spPr>
          <a:xfrm>
            <a:off x="640080" y="1664207"/>
            <a:ext cx="3931920" cy="475488"/>
          </a:xfrm>
          <a:prstGeom prst="rect">
            <a:avLst/>
          </a:prstGeom>
          <a:noFill/>
        </p:spPr>
        <p:txBody>
          <a:bodyPr wrap="none" lIns="0" tIns="0" rIns="0" bIns="0">
            <a:spAutoFit/>
          </a:bodyPr>
          <a:lstStyle/>
          <a:p>
            <a:r>
              <a:rPr sz="1800" b="1">
                <a:solidFill>
                  <a:srgbClr val="06B6D4"/>
                </a:solidFill>
                <a:latin typeface="Segoe UI"/>
              </a:rPr>
              <a:t>127 Piezas </a:t>
            </a:r>
            <a:r>
              <a:rPr sz="1000">
                <a:solidFill>
                  <a:srgbClr val="94A3B8"/>
                </a:solidFill>
                <a:latin typeface="Segoe UI"/>
              </a:rPr>
              <a:t>Componentes Sólidos Fusion 360</a:t>
            </a:r>
          </a:p>
        </p:txBody>
      </p:sp>
      <p:sp>
        <p:nvSpPr>
          <p:cNvPr id="9" name="TextBox 8"/>
          <p:cNvSpPr txBox="1"/>
          <p:nvPr/>
        </p:nvSpPr>
        <p:spPr>
          <a:xfrm>
            <a:off x="640080" y="2157984"/>
            <a:ext cx="3931920" cy="347472"/>
          </a:xfrm>
          <a:prstGeom prst="rect">
            <a:avLst/>
          </a:prstGeom>
          <a:noFill/>
        </p:spPr>
        <p:txBody>
          <a:bodyPr wrap="square" lIns="0" tIns="0" rIns="0" bIns="0">
            <a:spAutoFit/>
          </a:bodyPr>
          <a:lstStyle/>
          <a:p>
            <a:r>
              <a:rPr sz="1150" b="1">
                <a:solidFill>
                  <a:srgbClr val="FFFFFF"/>
                </a:solidFill>
                <a:latin typeface="Segoe UI"/>
              </a:rPr>
              <a:t>Innovación en el Copete Frontal Superior</a:t>
            </a:r>
          </a:p>
        </p:txBody>
      </p:sp>
      <p:sp>
        <p:nvSpPr>
          <p:cNvPr id="10" name="TextBox 9"/>
          <p:cNvSpPr txBox="1"/>
          <p:nvPr/>
        </p:nvSpPr>
        <p:spPr>
          <a:xfrm>
            <a:off x="640080" y="2487168"/>
            <a:ext cx="393192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Diseño: </a:t>
            </a:r>
            <a:r>
              <a:rPr sz="950">
                <a:solidFill>
                  <a:srgbClr val="94A3B8"/>
                </a:solidFill>
                <a:latin typeface="Calibri"/>
              </a:rPr>
              <a:t>Integrar pantalla táctil de 10.1", compuerta basculante y tolvas sin aumentar la huella en piso (0.85 m²).</a:t>
            </a:r>
          </a:p>
          <a:p>
            <a:pPr>
              <a:spcAft>
                <a:spcPts val="400"/>
              </a:spcAft>
            </a:pPr>
            <a:r>
              <a:rPr sz="950" b="1">
                <a:solidFill>
                  <a:srgbClr val="F1F5F9"/>
                </a:solidFill>
                <a:latin typeface="Calibri"/>
              </a:rPr>
              <a:t>• Chasis Galvanizado: </a:t>
            </a:r>
            <a:r>
              <a:rPr sz="950">
                <a:solidFill>
                  <a:srgbClr val="94A3B8"/>
                </a:solidFill>
                <a:latin typeface="Calibri"/>
              </a:rPr>
              <a:t>Lámina galvanizada calibre 16 (1.52 mm) con perfiles en 'C' plegados para alta rigidez torsional y soporte de 140 kg.</a:t>
            </a:r>
          </a:p>
          <a:p>
            <a:pPr>
              <a:spcAft>
                <a:spcPts val="400"/>
              </a:spcAft>
            </a:pPr>
            <a:r>
              <a:rPr sz="950" b="1">
                <a:solidFill>
                  <a:srgbClr val="F1F5F9"/>
                </a:solidFill>
                <a:latin typeface="Calibri"/>
              </a:rPr>
              <a:t>• Copete Ergonómico 15°: </a:t>
            </a:r>
            <a:r>
              <a:rPr sz="950">
                <a:solidFill>
                  <a:srgbClr val="94A3B8"/>
                </a:solidFill>
                <a:latin typeface="Calibri"/>
              </a:rPr>
              <a:t>Inclinación visual calculada a 1,450 mm de altura, eliminando reflejos del alumbrado superior de pasillo.</a:t>
            </a:r>
          </a:p>
          <a:p>
            <a:pPr>
              <a:spcAft>
                <a:spcPts val="400"/>
              </a:spcAft>
            </a:pPr>
            <a:r>
              <a:rPr sz="950" b="1">
                <a:solidFill>
                  <a:srgbClr val="F1F5F9"/>
                </a:solidFill>
                <a:latin typeface="Calibri"/>
              </a:rPr>
              <a:t>• Aislamiento Frigorífico: </a:t>
            </a:r>
            <a:r>
              <a:rPr sz="950">
                <a:solidFill>
                  <a:srgbClr val="94A3B8"/>
                </a:solidFill>
                <a:latin typeface="Calibri"/>
              </a:rPr>
              <a:t>División modular estricta entre la sala térmica superior aislada y la sala de máquinas inferior ventilada.</a:t>
            </a:r>
          </a:p>
        </p:txBody>
      </p:sp>
      <p:sp>
        <p:nvSpPr>
          <p:cNvPr id="11" name="Rounded Rectangle 10"/>
          <p:cNvSpPr/>
          <p:nvPr/>
        </p:nvSpPr>
        <p:spPr>
          <a:xfrm>
            <a:off x="4937760" y="1188720"/>
            <a:ext cx="384048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47488" y="5952744"/>
            <a:ext cx="3621024" cy="347472"/>
          </a:xfrm>
          <a:prstGeom prst="rect">
            <a:avLst/>
          </a:prstGeom>
          <a:noFill/>
        </p:spPr>
        <p:txBody>
          <a:bodyPr wrap="square" lIns="0" rIns="0" tIns="0" bIns="0">
            <a:spAutoFit/>
          </a:bodyPr>
          <a:lstStyle/>
          <a:p>
            <a:pPr algn="ctr"/>
            <a:r>
              <a:rPr sz="850" b="1">
                <a:solidFill>
                  <a:srgbClr val="94A3B8"/>
                </a:solidFill>
                <a:latin typeface="Calibri"/>
              </a:rPr>
              <a:t>Modelo CAD Oficial Fusion 360: Chasis Completo con Copete Ergonómico</a:t>
            </a:r>
          </a:p>
        </p:txBody>
      </p:sp>
      <p:sp>
        <p:nvSpPr>
          <p:cNvPr id="14" name="Rounded Rectangle 13"/>
          <p:cNvSpPr/>
          <p:nvPr/>
        </p:nvSpPr>
        <p:spPr>
          <a:xfrm>
            <a:off x="8961120" y="1188720"/>
            <a:ext cx="2788920" cy="260604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0848" y="3392424"/>
            <a:ext cx="2569463" cy="347472"/>
          </a:xfrm>
          <a:prstGeom prst="rect">
            <a:avLst/>
          </a:prstGeom>
          <a:noFill/>
        </p:spPr>
        <p:txBody>
          <a:bodyPr wrap="square" lIns="0" rIns="0" tIns="0" bIns="0">
            <a:spAutoFit/>
          </a:bodyPr>
          <a:lstStyle/>
          <a:p>
            <a:pPr algn="ctr"/>
            <a:r>
              <a:rPr sz="850" b="1">
                <a:solidFill>
                  <a:srgbClr val="94A3B8"/>
                </a:solidFill>
                <a:latin typeface="Calibri"/>
              </a:rPr>
              <a:t>Copete Superior HMI 10.1"</a:t>
            </a:r>
          </a:p>
        </p:txBody>
      </p:sp>
      <p:sp>
        <p:nvSpPr>
          <p:cNvPr id="17" name="Rounded Rectangle 16"/>
          <p:cNvSpPr/>
          <p:nvPr/>
        </p:nvSpPr>
        <p:spPr>
          <a:xfrm>
            <a:off x="8961120" y="3931920"/>
            <a:ext cx="2788920" cy="24231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44000" y="4078224"/>
            <a:ext cx="1449324"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ERGONOMÍA HMI</a:t>
            </a:r>
          </a:p>
        </p:txBody>
      </p:sp>
      <p:sp>
        <p:nvSpPr>
          <p:cNvPr id="19" name="TextBox 18"/>
          <p:cNvSpPr txBox="1"/>
          <p:nvPr/>
        </p:nvSpPr>
        <p:spPr>
          <a:xfrm>
            <a:off x="9144000" y="4407408"/>
            <a:ext cx="2423160" cy="347472"/>
          </a:xfrm>
          <a:prstGeom prst="rect">
            <a:avLst/>
          </a:prstGeom>
          <a:noFill/>
        </p:spPr>
        <p:txBody>
          <a:bodyPr wrap="square" lIns="0" tIns="0" rIns="0" bIns="0">
            <a:spAutoFit/>
          </a:bodyPr>
          <a:lstStyle/>
          <a:p>
            <a:r>
              <a:rPr sz="1150" b="1">
                <a:solidFill>
                  <a:srgbClr val="FFFFFF"/>
                </a:solidFill>
                <a:latin typeface="Segoe UI"/>
              </a:rPr>
              <a:t>Especificaciones FIME</a:t>
            </a:r>
          </a:p>
        </p:txBody>
      </p:sp>
      <p:sp>
        <p:nvSpPr>
          <p:cNvPr id="20" name="TextBox 19"/>
          <p:cNvSpPr txBox="1"/>
          <p:nvPr/>
        </p:nvSpPr>
        <p:spPr>
          <a:xfrm>
            <a:off x="9144000" y="4736592"/>
            <a:ext cx="2423160" cy="1481327"/>
          </a:xfrm>
          <a:prstGeom prst="rect">
            <a:avLst/>
          </a:prstGeom>
          <a:noFill/>
        </p:spPr>
        <p:txBody>
          <a:bodyPr wrap="square" lIns="0" tIns="0" rIns="0" bIns="0">
            <a:spAutoFit/>
          </a:bodyPr>
          <a:lstStyle/>
          <a:p>
            <a:pPr>
              <a:spcAft>
                <a:spcPts val="400"/>
              </a:spcAft>
            </a:pPr>
            <a:r>
              <a:rPr sz="950" b="1">
                <a:solidFill>
                  <a:srgbClr val="F1F5F9"/>
                </a:solidFill>
                <a:latin typeface="Calibri"/>
              </a:rPr>
              <a:t>• Inclinación: </a:t>
            </a:r>
            <a:r>
              <a:rPr sz="950">
                <a:solidFill>
                  <a:srgbClr val="94A3B8"/>
                </a:solidFill>
                <a:latin typeface="Calibri"/>
              </a:rPr>
              <a:t>15° anti-deslumbramiento.</a:t>
            </a:r>
          </a:p>
          <a:p>
            <a:pPr>
              <a:spcAft>
                <a:spcPts val="400"/>
              </a:spcAft>
            </a:pPr>
            <a:r>
              <a:rPr sz="950" b="1">
                <a:solidFill>
                  <a:srgbClr val="F1F5F9"/>
                </a:solidFill>
                <a:latin typeface="Calibri"/>
              </a:rPr>
              <a:t>• Altura HMI: </a:t>
            </a:r>
            <a:r>
              <a:rPr sz="950">
                <a:solidFill>
                  <a:srgbClr val="94A3B8"/>
                </a:solidFill>
                <a:latin typeface="Calibri"/>
              </a:rPr>
              <a:t>1,450 mm centro visual.</a:t>
            </a:r>
          </a:p>
          <a:p>
            <a:pPr>
              <a:spcAft>
                <a:spcPts val="400"/>
              </a:spcAft>
            </a:pPr>
            <a:r>
              <a:rPr sz="950" b="1">
                <a:solidFill>
                  <a:srgbClr val="F1F5F9"/>
                </a:solidFill>
                <a:latin typeface="Calibri"/>
              </a:rPr>
              <a:t>• Chasis: </a:t>
            </a:r>
            <a:r>
              <a:rPr sz="950">
                <a:solidFill>
                  <a:srgbClr val="94A3B8"/>
                </a:solidFill>
                <a:latin typeface="Calibri"/>
              </a:rPr>
              <a:t>Lámina Galv. Cal. 16.</a:t>
            </a:r>
          </a:p>
          <a:p>
            <a:pPr>
              <a:spcAft>
                <a:spcPts val="400"/>
              </a:spcAft>
            </a:pPr>
            <a:r>
              <a:rPr sz="950" b="1">
                <a:solidFill>
                  <a:srgbClr val="F1F5F9"/>
                </a:solidFill>
                <a:latin typeface="Calibri"/>
              </a:rPr>
              <a:t>• Huella: </a:t>
            </a:r>
            <a:r>
              <a:rPr sz="950">
                <a:solidFill>
                  <a:srgbClr val="94A3B8"/>
                </a:solidFill>
                <a:latin typeface="Calibri"/>
              </a:rPr>
              <a:t>0.85 m² en piso.</a:t>
            </a:r>
          </a:p>
        </p:txBody>
      </p:sp>
      <p:sp>
        <p:nvSpPr>
          <p:cNvPr id="21" name="Rectangle 20"/>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23" name="TextBox 22"/>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3 de 15</a:t>
            </a:r>
          </a:p>
        </p:txBody>
      </p:sp>
      <p:pic>
        <p:nvPicPr>
          <p:cNvPr id="24" name="Picture 11" descr="ExpendeX_Render_Isometrico_Comercial_ParedesLisas.png"/>
          <p:cNvPicPr>
            <a:picLocks noChangeAspect="1"/>
          </p:cNvPicPr>
          <p:nvPr/>
        </p:nvPicPr>
        <p:blipFill>
          <a:blip r:embed="rId5"/>
          <a:stretch>
            <a:fillRect/>
          </a:stretch>
        </p:blipFill>
        <p:spPr>
          <a:xfrm>
            <a:off x="5029200" y="1325880"/>
            <a:ext cx="3657600" cy="4480560"/>
          </a:xfrm>
          <a:prstGeom prst="rect">
            <a:avLst/>
          </a:prstGeom>
        </p:spPr>
      </p:pic>
      <p:pic>
        <p:nvPicPr>
          <p:cNvPr id="25" name="Picture 14" descr="Img10_CAD_Fusion360_Detalle_Copete_HMI_RaspberryPi_Altavoz.png"/>
          <p:cNvPicPr>
            <a:picLocks noChangeAspect="1"/>
          </p:cNvPicPr>
          <p:nvPr/>
        </p:nvPicPr>
        <p:blipFill>
          <a:blip r:embed="rId6"/>
          <a:stretch>
            <a:fillRect/>
          </a:stretch>
        </p:blipFill>
        <p:spPr>
          <a:xfrm>
            <a:off x="9034272" y="1325880"/>
            <a:ext cx="2633472" cy="19659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03</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2: BANDEJAS ASIMÉTRICAS 1+4+1 Y FLEXIÓN (EULER-BERNOULLI)</a:t>
            </a:r>
          </a:p>
          <a:p>
            <a:r>
              <a:rPr sz="950" b="1">
                <a:solidFill>
                  <a:srgbClr val="06B6D4"/>
                </a:solidFill>
                <a:latin typeface="Segoe UI"/>
              </a:rPr>
              <a:t>CÁLCULO ANALÍTICO DE DEFORMACIÓN BAJO CARGA ASIMÉTRICA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ESTRUCTURAL • SAMUEL TOVAR MÚJICA</a:t>
            </a:r>
          </a:p>
        </p:txBody>
      </p:sp>
      <p:sp>
        <p:nvSpPr>
          <p:cNvPr id="6" name="Rounded Rectangle 5"/>
          <p:cNvSpPr/>
          <p:nvPr/>
        </p:nvSpPr>
        <p:spPr>
          <a:xfrm>
            <a:off x="457200" y="1188720"/>
            <a:ext cx="47548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4389120"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MEMORIA ANALÍTICA DE FLEXIÓN (EULER-BERNOULLI)</a:t>
            </a:r>
          </a:p>
        </p:txBody>
      </p:sp>
      <p:sp>
        <p:nvSpPr>
          <p:cNvPr id="8" name="TextBox 7"/>
          <p:cNvSpPr txBox="1"/>
          <p:nvPr/>
        </p:nvSpPr>
        <p:spPr>
          <a:xfrm>
            <a:off x="640080" y="1664207"/>
            <a:ext cx="4389120" cy="475488"/>
          </a:xfrm>
          <a:prstGeom prst="rect">
            <a:avLst/>
          </a:prstGeom>
          <a:noFill/>
        </p:spPr>
        <p:txBody>
          <a:bodyPr wrap="none" lIns="0" tIns="0" rIns="0" bIns="0">
            <a:spAutoFit/>
          </a:bodyPr>
          <a:lstStyle/>
          <a:p>
            <a:r>
              <a:rPr sz="1800" b="1">
                <a:solidFill>
                  <a:srgbClr val="10B981"/>
                </a:solidFill>
                <a:latin typeface="Segoe UI"/>
              </a:rPr>
              <a:t>1.34 mm </a:t>
            </a:r>
            <a:r>
              <a:rPr sz="1000">
                <a:solidFill>
                  <a:srgbClr val="94A3B8"/>
                </a:solidFill>
                <a:latin typeface="Segoe UI"/>
              </a:rPr>
              <a:t>Deflexión (&lt; 1.50 mm Límite)</a:t>
            </a:r>
          </a:p>
        </p:txBody>
      </p:sp>
      <p:sp>
        <p:nvSpPr>
          <p:cNvPr id="9" name="TextBox 8"/>
          <p:cNvSpPr txBox="1"/>
          <p:nvPr/>
        </p:nvSpPr>
        <p:spPr>
          <a:xfrm>
            <a:off x="640080" y="2157984"/>
            <a:ext cx="4389120" cy="347472"/>
          </a:xfrm>
          <a:prstGeom prst="rect">
            <a:avLst/>
          </a:prstGeom>
          <a:noFill/>
        </p:spPr>
        <p:txBody>
          <a:bodyPr wrap="square" lIns="0" tIns="0" rIns="0" bIns="0">
            <a:spAutoFit/>
          </a:bodyPr>
          <a:lstStyle/>
          <a:p>
            <a:r>
              <a:rPr sz="1150" b="1">
                <a:solidFill>
                  <a:srgbClr val="FFFFFF"/>
                </a:solidFill>
                <a:latin typeface="Segoe UI"/>
              </a:rPr>
              <a:t>Distribución de Carga Mixta: Comida (850 g) + Bebidas (355 g)</a:t>
            </a:r>
          </a:p>
        </p:txBody>
      </p:sp>
      <p:sp>
        <p:nvSpPr>
          <p:cNvPr id="10" name="TextBox 9"/>
          <p:cNvSpPr txBox="1"/>
          <p:nvPr/>
        </p:nvSpPr>
        <p:spPr>
          <a:xfrm>
            <a:off x="640080" y="2487168"/>
            <a:ext cx="438912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Problema Físico: </a:t>
            </a:r>
            <a:r>
              <a:rPr sz="950">
                <a:solidFill>
                  <a:srgbClr val="94A3B8"/>
                </a:solidFill>
                <a:latin typeface="Calibri"/>
              </a:rPr>
              <a:t>Guisos pesados (850 g) en charolas estándar causan pandeo central y desalinean los engranes de los motores.</a:t>
            </a:r>
          </a:p>
          <a:p>
            <a:pPr>
              <a:spcAft>
                <a:spcPts val="400"/>
              </a:spcAft>
            </a:pPr>
            <a:r>
              <a:rPr sz="950" b="1">
                <a:solidFill>
                  <a:srgbClr val="F1F5F9"/>
                </a:solidFill>
                <a:latin typeface="Calibri"/>
              </a:rPr>
              <a:t>• Arquitectura 1+4+1: </a:t>
            </a:r>
            <a:r>
              <a:rPr sz="950">
                <a:solidFill>
                  <a:srgbClr val="94A3B8"/>
                </a:solidFill>
                <a:latin typeface="Calibri"/>
              </a:rPr>
              <a:t>Comidas pesadas en los extremos (canales 1 y 6) junto a guías telescópicas (45 kg); 4 bebidas ligeras al centro.</a:t>
            </a:r>
          </a:p>
          <a:p>
            <a:pPr>
              <a:spcAft>
                <a:spcPts val="400"/>
              </a:spcAft>
            </a:pPr>
            <a:r>
              <a:rPr sz="950" b="1">
                <a:solidFill>
                  <a:srgbClr val="F1F5F9"/>
                </a:solidFill>
                <a:latin typeface="Calibri"/>
              </a:rPr>
              <a:t>• Momento Flector Máximo: </a:t>
            </a:r>
            <a:r>
              <a:rPr sz="950">
                <a:solidFill>
                  <a:srgbClr val="94A3B8"/>
                </a:solidFill>
                <a:latin typeface="Calibri"/>
              </a:rPr>
              <a:t>M_max = 35.16 N·m en x = 0.475 m, resolviendo la ecuación diferencial d⁴v/dx⁴ = q(x)/EI.</a:t>
            </a:r>
          </a:p>
          <a:p>
            <a:pPr>
              <a:spcAft>
                <a:spcPts val="400"/>
              </a:spcAft>
            </a:pPr>
            <a:r>
              <a:rPr sz="950" b="1">
                <a:solidFill>
                  <a:srgbClr val="F1F5F9"/>
                </a:solidFill>
                <a:latin typeface="Calibri"/>
              </a:rPr>
              <a:t>• Refuerzo Estructural: </a:t>
            </a:r>
            <a:r>
              <a:rPr sz="950">
                <a:solidFill>
                  <a:srgbClr val="94A3B8"/>
                </a:solidFill>
                <a:latin typeface="Calibri"/>
              </a:rPr>
              <a:t>Pestañas en 'C' en acero inoxidable AISI 304 de 1.2 mm que reducen la flecha elástica a solo 1.34 mm.</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4 de 15</a:t>
            </a:r>
          </a:p>
        </p:txBody>
      </p:sp>
      <p:sp>
        <p:nvSpPr>
          <p:cNvPr id="20" name="Card_Top"/>
          <p:cNvSpPr/>
          <p:nvPr/>
        </p:nvSpPr>
        <p:spPr>
          <a:xfrm>
            <a:off x="5394960" y="1188720"/>
            <a:ext cx="6355080" cy="2487168"/>
          </a:xfrm>
          <a:prstGeom prst="roundRect">
            <a:avLst/>
          </a:prstGeom>
          <a:solidFill>
            <a:srgbClr val="0D213E"/>
          </a:solidFill>
          <a:ln w="19050">
            <a:solidFill>
              <a:srgbClr val="4F86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_Top" descr="image.png"/>
          <p:cNvPicPr>
            <a:picLocks noChangeAspect="1"/>
          </p:cNvPicPr>
          <p:nvPr/>
        </p:nvPicPr>
        <p:blipFill>
          <a:blip r:embed="rId2"/>
          <a:stretch>
            <a:fillRect/>
          </a:stretch>
        </p:blipFill>
        <p:spPr>
          <a:xfrm>
            <a:off x="5532120" y="1280160"/>
            <a:ext cx="3840480" cy="2057400"/>
          </a:xfrm>
          <a:prstGeom prst="rect">
            <a:avLst/>
          </a:prstGeom>
        </p:spPr>
      </p:pic>
      <p:sp>
        <p:nvSpPr>
          <p:cNvPr id="22" name="Caption_Top"/>
          <p:cNvSpPr txBox="1"/>
          <p:nvPr/>
        </p:nvSpPr>
        <p:spPr>
          <a:xfrm>
            <a:off x="9464040" y="1325880"/>
            <a:ext cx="2148840" cy="1965960"/>
          </a:xfrm>
          <a:prstGeom prst="rect">
            <a:avLst/>
          </a:prstGeom>
          <a:noFill/>
        </p:spPr>
        <p:txBody>
          <a:bodyPr wrap="square">
            <a:spAutoFit/>
          </a:bodyPr>
          <a:lstStyle/>
          <a:p>
            <a:pPr>
              <a:defRPr b="1" sz="1100">
                <a:solidFill>
                  <a:srgbClr val="00E5FF"/>
                </a:solidFill>
              </a:defRPr>
            </a:pPr>
            <a:r>
              <a:t>CAD FUSION 360:</a:t>
            </a:r>
            <a:br/>
            <a:r>
              <a:t>Bandejas asimétricas 1+4+1 con refuerzo en 'C' (Acero Inoxidable AISI 304).</a:t>
            </a:r>
          </a:p>
        </p:txBody>
      </p:sp>
      <p:sp>
        <p:nvSpPr>
          <p:cNvPr id="23" name="Card_Bottom"/>
          <p:cNvSpPr/>
          <p:nvPr/>
        </p:nvSpPr>
        <p:spPr>
          <a:xfrm>
            <a:off x="5394960" y="3822191"/>
            <a:ext cx="6355080" cy="2532888"/>
          </a:xfrm>
          <a:prstGeom prst="roundRect">
            <a:avLst/>
          </a:prstGeom>
          <a:solidFill>
            <a:srgbClr val="0D21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_Bottom" descr="image.png"/>
          <p:cNvPicPr>
            <a:picLocks noChangeAspect="1"/>
          </p:cNvPicPr>
          <p:nvPr/>
        </p:nvPicPr>
        <p:blipFill>
          <a:blip r:embed="rId3"/>
          <a:stretch>
            <a:fillRect/>
          </a:stretch>
        </p:blipFill>
        <p:spPr>
          <a:xfrm>
            <a:off x="5532120" y="3931920"/>
            <a:ext cx="3840480" cy="2103120"/>
          </a:xfrm>
          <a:prstGeom prst="rect">
            <a:avLst/>
          </a:prstGeom>
        </p:spPr>
      </p:pic>
      <p:sp>
        <p:nvSpPr>
          <p:cNvPr id="25" name="Caption_Bottom"/>
          <p:cNvSpPr txBox="1"/>
          <p:nvPr/>
        </p:nvSpPr>
        <p:spPr>
          <a:xfrm>
            <a:off x="9464040" y="3977639"/>
            <a:ext cx="2148840" cy="2011680"/>
          </a:xfrm>
          <a:prstGeom prst="rect">
            <a:avLst/>
          </a:prstGeom>
          <a:noFill/>
        </p:spPr>
        <p:txBody>
          <a:bodyPr wrap="square">
            <a:spAutoFit/>
          </a:bodyPr>
          <a:lstStyle/>
          <a:p>
            <a:pPr>
              <a:defRPr b="1" sz="1100">
                <a:solidFill>
                  <a:srgbClr val="00D4FF"/>
                </a:solidFill>
              </a:defRPr>
            </a:pPr>
            <a:r>
              <a:t>MOMENTO FLECTOR Y DEFLEXIÓN:</a:t>
            </a:r>
            <a:br/>
            <a:r>
              <a:t>Curva elástica Euler-Bernoulli.</a:t>
            </a:r>
            <a:br/>
            <a:r>
              <a:t>Flecha máx: 1.34 mm (&lt; 1.50 mm holgura crítica de guías).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04</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3: CINEMÁTICA Y PAR TORSOR DE ESPIRALES HELICOIDALES</a:t>
            </a:r>
          </a:p>
          <a:p>
            <a:r>
              <a:rPr sz="950" b="1">
                <a:solidFill>
                  <a:srgbClr val="06B6D4"/>
                </a:solidFill>
                <a:latin typeface="Segoe UI"/>
              </a:rPr>
              <a:t>DIMENSIONAMIENTO DE ESPIRAL GIGANTE Ø 144 MM PARA ALIMENTOS</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CINEMÁTICA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360420" cy="274320"/>
          </a:xfrm>
          <a:prstGeom prst="roundRect">
            <a:avLst>
              <a:gd name="adj" fmla="val 50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59E0B"/>
                </a:solidFill>
                <a:latin typeface="Segoe UI"/>
              </a:rPr>
              <a:t>MODELO DE PAR TORSOR Y EMPUJE AXIAL</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F59E0B"/>
                </a:solidFill>
                <a:latin typeface="Segoe UI"/>
              </a:rPr>
              <a:t>0.385 N·m </a:t>
            </a:r>
            <a:r>
              <a:rPr sz="1000">
                <a:solidFill>
                  <a:srgbClr val="94A3B8"/>
                </a:solidFill>
                <a:latin typeface="Segoe UI"/>
              </a:rPr>
              <a:t>Torque Requerido (T_stall = 1.8 N·m)</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Dimensionamiento de Espiral Comida vs Bebida</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Cinemático: </a:t>
            </a:r>
            <a:r>
              <a:rPr sz="950">
                <a:solidFill>
                  <a:srgbClr val="94A3B8"/>
                </a:solidFill>
                <a:latin typeface="Calibri"/>
              </a:rPr>
              <a:t>Empaques cuadrados de comida no giran en espirales comunes (Ø 70 mm) y causan atoramientos por fricción.</a:t>
            </a:r>
          </a:p>
          <a:p>
            <a:pPr>
              <a:spcAft>
                <a:spcPts val="400"/>
              </a:spcAft>
            </a:pPr>
            <a:r>
              <a:rPr sz="950" b="1">
                <a:solidFill>
                  <a:srgbClr val="F1F5F9"/>
                </a:solidFill>
                <a:latin typeface="Calibri"/>
              </a:rPr>
              <a:t>• Espiral Sobredimensionada: </a:t>
            </a:r>
            <a:r>
              <a:rPr sz="950">
                <a:solidFill>
                  <a:srgbClr val="94A3B8"/>
                </a:solidFill>
                <a:latin typeface="Calibri"/>
              </a:rPr>
              <a:t>Ø 144 mm exterior con paso axial de 80 mm en alambre de acero templado de Ø 7 mm.</a:t>
            </a:r>
          </a:p>
          <a:p>
            <a:pPr>
              <a:spcAft>
                <a:spcPts val="400"/>
              </a:spcAft>
            </a:pPr>
            <a:r>
              <a:rPr sz="950" b="1">
                <a:solidFill>
                  <a:srgbClr val="F1F5F9"/>
                </a:solidFill>
                <a:latin typeface="Calibri"/>
              </a:rPr>
              <a:t>• Motorreductor Seleccionado: </a:t>
            </a:r>
            <a:r>
              <a:rPr sz="950">
                <a:solidFill>
                  <a:srgbClr val="94A3B8"/>
                </a:solidFill>
                <a:latin typeface="Calibri"/>
              </a:rPr>
              <a:t>24V DC con caja planetaria 1:120, torque de bloqueo 1.80 N·m (Factor de Seguridad FS = 4.67).</a:t>
            </a:r>
          </a:p>
          <a:p>
            <a:pPr>
              <a:spcAft>
                <a:spcPts val="400"/>
              </a:spcAft>
            </a:pPr>
            <a:r>
              <a:rPr sz="950" b="1">
                <a:solidFill>
                  <a:srgbClr val="F1F5F9"/>
                </a:solidFill>
                <a:latin typeface="Calibri"/>
              </a:rPr>
              <a:t>• Empuje Axial Controlado: </a:t>
            </a:r>
            <a:r>
              <a:rPr sz="950">
                <a:solidFill>
                  <a:srgbClr val="94A3B8"/>
                </a:solidFill>
                <a:latin typeface="Calibri"/>
              </a:rPr>
              <a:t>Paso calculado para desplazar el contenedor en 1 revolución completa (360°) sin volcadura ni cabeceo.</a:t>
            </a:r>
          </a:p>
        </p:txBody>
      </p:sp>
      <p:sp>
        <p:nvSpPr>
          <p:cNvPr id="11" name="Rounded Rectangle 10"/>
          <p:cNvSpPr/>
          <p:nvPr/>
        </p:nvSpPr>
        <p:spPr>
          <a:xfrm>
            <a:off x="4846320" y="1188720"/>
            <a:ext cx="333756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xpendex_Render_Comida_Cuadrada_3Divisiones.png"/>
          <p:cNvPicPr>
            <a:picLocks noChangeAspect="1"/>
          </p:cNvPicPr>
          <p:nvPr/>
        </p:nvPicPr>
        <p:blipFill>
          <a:blip r:embed="rId2"/>
          <a:stretch>
            <a:fillRect/>
          </a:stretch>
        </p:blipFill>
        <p:spPr>
          <a:xfrm>
            <a:off x="4956048" y="1510147"/>
            <a:ext cx="3118104" cy="4176032"/>
          </a:xfrm>
          <a:prstGeom prst="rect">
            <a:avLst/>
          </a:prstGeom>
        </p:spPr>
      </p:pic>
      <p:sp>
        <p:nvSpPr>
          <p:cNvPr id="13" name="TextBox 12"/>
          <p:cNvSpPr txBox="1"/>
          <p:nvPr/>
        </p:nvSpPr>
        <p:spPr>
          <a:xfrm>
            <a:off x="4956048" y="5952744"/>
            <a:ext cx="3118104" cy="347472"/>
          </a:xfrm>
          <a:prstGeom prst="rect">
            <a:avLst/>
          </a:prstGeom>
          <a:noFill/>
        </p:spPr>
        <p:txBody>
          <a:bodyPr wrap="square" lIns="0" rIns="0" tIns="0" bIns="0">
            <a:spAutoFit/>
          </a:bodyPr>
          <a:lstStyle/>
          <a:p>
            <a:pPr algn="ctr"/>
            <a:r>
              <a:rPr sz="850" b="1">
                <a:solidFill>
                  <a:srgbClr val="94A3B8"/>
                </a:solidFill>
                <a:latin typeface="Calibri"/>
              </a:rPr>
              <a:t>Recipiente Cuadrado 3 Divisiones en Bahía Lateral</a:t>
            </a:r>
          </a:p>
        </p:txBody>
      </p:sp>
      <p:sp>
        <p:nvSpPr>
          <p:cNvPr id="14" name="Rounded Rectangle 13"/>
          <p:cNvSpPr/>
          <p:nvPr/>
        </p:nvSpPr>
        <p:spPr>
          <a:xfrm>
            <a:off x="8366760" y="1188720"/>
            <a:ext cx="338328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hart_torque_corriente_motores.png"/>
          <p:cNvPicPr>
            <a:picLocks noChangeAspect="1"/>
          </p:cNvPicPr>
          <p:nvPr/>
        </p:nvPicPr>
        <p:blipFill>
          <a:blip r:embed="rId3"/>
          <a:stretch>
            <a:fillRect/>
          </a:stretch>
        </p:blipFill>
        <p:spPr>
          <a:xfrm>
            <a:off x="8476488" y="2712293"/>
            <a:ext cx="3163824" cy="1771741"/>
          </a:xfrm>
          <a:prstGeom prst="rect">
            <a:avLst/>
          </a:prstGeom>
        </p:spPr>
      </p:pic>
      <p:sp>
        <p:nvSpPr>
          <p:cNvPr id="16" name="TextBox 15"/>
          <p:cNvSpPr txBox="1"/>
          <p:nvPr/>
        </p:nvSpPr>
        <p:spPr>
          <a:xfrm>
            <a:off x="8476488" y="5952744"/>
            <a:ext cx="3163824" cy="347472"/>
          </a:xfrm>
          <a:prstGeom prst="rect">
            <a:avLst/>
          </a:prstGeom>
          <a:noFill/>
        </p:spPr>
        <p:txBody>
          <a:bodyPr wrap="square" lIns="0" rIns="0" tIns="0" bIns="0">
            <a:spAutoFit/>
          </a:bodyPr>
          <a:lstStyle/>
          <a:p>
            <a:pPr algn="ctr"/>
            <a:r>
              <a:rPr sz="850" b="1">
                <a:solidFill>
                  <a:srgbClr val="94A3B8"/>
                </a:solidFill>
                <a:latin typeface="Calibri"/>
              </a:rPr>
              <a:t>Curva Dinamométrica Par Motor y Corriente</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5 de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05</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TÉRMICO 4: REFRIGERACIÓN NOM-251 EN EL CLIMA DE MONTERREY</a:t>
            </a:r>
          </a:p>
          <a:p>
            <a:r>
              <a:rPr sz="950" b="1">
                <a:solidFill>
                  <a:srgbClr val="06B6D4"/>
                </a:solidFill>
                <a:latin typeface="Segoe UI"/>
              </a:rPr>
              <a:t>BALANCE DE CALOR A 42°C EXTERIOR PARA INOCUIDAD DE ALIMENTOS</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TERMODINÁMICA • SAMUEL TOVAR MÚJICA</a:t>
            </a:r>
          </a:p>
        </p:txBody>
      </p:sp>
      <p:sp>
        <p:nvSpPr>
          <p:cNvPr id="6" name="Rounded Rectangle 5"/>
          <p:cNvSpPr/>
          <p:nvPr/>
        </p:nvSpPr>
        <p:spPr>
          <a:xfrm>
            <a:off x="457200" y="1188720"/>
            <a:ext cx="47548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4389120"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MEMORIA DE BALANCE TÉRMICO (NOM-251)</a:t>
            </a:r>
          </a:p>
        </p:txBody>
      </p:sp>
      <p:sp>
        <p:nvSpPr>
          <p:cNvPr id="8" name="TextBox 7"/>
          <p:cNvSpPr txBox="1"/>
          <p:nvPr/>
        </p:nvSpPr>
        <p:spPr>
          <a:xfrm>
            <a:off x="640080" y="1664207"/>
            <a:ext cx="4389120" cy="475488"/>
          </a:xfrm>
          <a:prstGeom prst="rect">
            <a:avLst/>
          </a:prstGeom>
          <a:noFill/>
        </p:spPr>
        <p:txBody>
          <a:bodyPr wrap="none" lIns="0" tIns="0" rIns="0" bIns="0">
            <a:spAutoFit/>
          </a:bodyPr>
          <a:lstStyle/>
          <a:p>
            <a:r>
              <a:rPr sz="1800" b="1">
                <a:solidFill>
                  <a:srgbClr val="06B6D4"/>
                </a:solidFill>
                <a:latin typeface="Segoe UI"/>
              </a:rPr>
              <a:t>382.88 W </a:t>
            </a:r>
            <a:r>
              <a:rPr sz="1000">
                <a:solidFill>
                  <a:srgbClr val="94A3B8"/>
                </a:solidFill>
                <a:latin typeface="Segoe UI"/>
              </a:rPr>
              <a:t>Carga Térmica Total Requerida</a:t>
            </a:r>
          </a:p>
        </p:txBody>
      </p:sp>
      <p:sp>
        <p:nvSpPr>
          <p:cNvPr id="9" name="TextBox 8"/>
          <p:cNvSpPr txBox="1"/>
          <p:nvPr/>
        </p:nvSpPr>
        <p:spPr>
          <a:xfrm>
            <a:off x="640080" y="2157984"/>
            <a:ext cx="4389120" cy="347472"/>
          </a:xfrm>
          <a:prstGeom prst="rect">
            <a:avLst/>
          </a:prstGeom>
          <a:noFill/>
        </p:spPr>
        <p:txBody>
          <a:bodyPr wrap="square" lIns="0" tIns="0" rIns="0" bIns="0">
            <a:spAutoFit/>
          </a:bodyPr>
          <a:lstStyle/>
          <a:p>
            <a:r>
              <a:rPr sz="1150" b="1">
                <a:solidFill>
                  <a:srgbClr val="FFFFFF"/>
                </a:solidFill>
                <a:latin typeface="Segoe UI"/>
              </a:rPr>
              <a:t>Condición Extrema de Verano en NL (T_ext = 42°C)</a:t>
            </a:r>
          </a:p>
        </p:txBody>
      </p:sp>
      <p:sp>
        <p:nvSpPr>
          <p:cNvPr id="10" name="TextBox 9"/>
          <p:cNvSpPr txBox="1"/>
          <p:nvPr/>
        </p:nvSpPr>
        <p:spPr>
          <a:xfrm>
            <a:off x="640080" y="2487168"/>
            <a:ext cx="438912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Térmico: </a:t>
            </a:r>
            <a:r>
              <a:rPr sz="950">
                <a:solidFill>
                  <a:srgbClr val="94A3B8"/>
                </a:solidFill>
                <a:latin typeface="Calibri"/>
              </a:rPr>
              <a:t>Mantener guisos perecederos entre 4°C y 6°C cumpliendo NOM-251 bajo la canícula de Monterrey (+42°C exterior).</a:t>
            </a:r>
          </a:p>
          <a:p>
            <a:pPr>
              <a:spcAft>
                <a:spcPts val="400"/>
              </a:spcAft>
            </a:pPr>
            <a:r>
              <a:rPr sz="950" b="1">
                <a:solidFill>
                  <a:srgbClr val="F1F5F9"/>
                </a:solidFill>
                <a:latin typeface="Calibri"/>
              </a:rPr>
              <a:t>• Conducción en Paredes: </a:t>
            </a:r>
            <a:r>
              <a:rPr sz="950">
                <a:solidFill>
                  <a:srgbClr val="94A3B8"/>
                </a:solidFill>
                <a:latin typeface="Calibri"/>
              </a:rPr>
              <a:t>Q_paredes = 212.40 W (Poliuretano expandido de 50 mm, conductividad k = 0.022 W/m·K).</a:t>
            </a:r>
          </a:p>
          <a:p>
            <a:pPr>
              <a:spcAft>
                <a:spcPts val="400"/>
              </a:spcAft>
            </a:pPr>
            <a:r>
              <a:rPr sz="950" b="1">
                <a:solidFill>
                  <a:srgbClr val="F1F5F9"/>
                </a:solidFill>
                <a:latin typeface="Calibri"/>
              </a:rPr>
              <a:t>• Radiación en Vidrio: </a:t>
            </a:r>
            <a:r>
              <a:rPr sz="950">
                <a:solidFill>
                  <a:srgbClr val="94A3B8"/>
                </a:solidFill>
                <a:latin typeface="Calibri"/>
              </a:rPr>
              <a:t>Q_vidrio = 98.18 W (Vidrio doble con cámara de gas argón y película Low-E anti-radiación).</a:t>
            </a:r>
          </a:p>
          <a:p>
            <a:pPr>
              <a:spcAft>
                <a:spcPts val="400"/>
              </a:spcAft>
            </a:pPr>
            <a:r>
              <a:rPr sz="950" b="1">
                <a:solidFill>
                  <a:srgbClr val="F1F5F9"/>
                </a:solidFill>
                <a:latin typeface="Calibri"/>
              </a:rPr>
              <a:t>• Compresor Seleccionado: </a:t>
            </a:r>
            <a:r>
              <a:rPr sz="950">
                <a:solidFill>
                  <a:srgbClr val="94A3B8"/>
                </a:solidFill>
                <a:latin typeface="Calibri"/>
              </a:rPr>
              <a:t>Unidad hermética Embraco 1/5 HP en R134a con capacidad de extracción de 485.00 W (FS = 1.27).</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6 de 15</a:t>
            </a:r>
          </a:p>
        </p:txBody>
      </p:sp>
      <p:sp>
        <p:nvSpPr>
          <p:cNvPr id="20" name="Card_Top"/>
          <p:cNvSpPr/>
          <p:nvPr/>
        </p:nvSpPr>
        <p:spPr>
          <a:xfrm>
            <a:off x="5394960" y="1188720"/>
            <a:ext cx="6355080" cy="2487168"/>
          </a:xfrm>
          <a:prstGeom prst="roundRect">
            <a:avLst/>
          </a:prstGeom>
          <a:solidFill>
            <a:srgbClr val="0D213E"/>
          </a:solidFill>
          <a:ln w="19050">
            <a:solidFill>
              <a:srgbClr val="4F86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_Top" descr="image.png"/>
          <p:cNvPicPr>
            <a:picLocks noChangeAspect="1"/>
          </p:cNvPicPr>
          <p:nvPr/>
        </p:nvPicPr>
        <p:blipFill>
          <a:blip r:embed="rId2"/>
          <a:stretch>
            <a:fillRect/>
          </a:stretch>
        </p:blipFill>
        <p:spPr>
          <a:xfrm>
            <a:off x="5532120" y="1280160"/>
            <a:ext cx="3840480" cy="2057400"/>
          </a:xfrm>
          <a:prstGeom prst="rect">
            <a:avLst/>
          </a:prstGeom>
        </p:spPr>
      </p:pic>
      <p:sp>
        <p:nvSpPr>
          <p:cNvPr id="22" name="Caption_Top"/>
          <p:cNvSpPr txBox="1"/>
          <p:nvPr/>
        </p:nvSpPr>
        <p:spPr>
          <a:xfrm>
            <a:off x="9464040" y="1325880"/>
            <a:ext cx="2148840" cy="1965960"/>
          </a:xfrm>
          <a:prstGeom prst="rect">
            <a:avLst/>
          </a:prstGeom>
          <a:noFill/>
        </p:spPr>
        <p:txBody>
          <a:bodyPr wrap="square">
            <a:spAutoFit/>
          </a:bodyPr>
          <a:lstStyle/>
          <a:p>
            <a:pPr>
              <a:defRPr b="1" sz="1100">
                <a:solidFill>
                  <a:srgbClr val="00E5FF"/>
                </a:solidFill>
              </a:defRPr>
            </a:pPr>
            <a:r>
              <a:t>SALA DE MÁQUINAS:</a:t>
            </a:r>
            <a:br/>
            <a:r>
              <a:t>Unidad hermética Embraco 1/5 HP (R134a) y condensador forzado inferior.</a:t>
            </a:r>
          </a:p>
        </p:txBody>
      </p:sp>
      <p:sp>
        <p:nvSpPr>
          <p:cNvPr id="23" name="Card_Bottom"/>
          <p:cNvSpPr/>
          <p:nvPr/>
        </p:nvSpPr>
        <p:spPr>
          <a:xfrm>
            <a:off x="5394960" y="3822191"/>
            <a:ext cx="6355080" cy="2532888"/>
          </a:xfrm>
          <a:prstGeom prst="roundRect">
            <a:avLst/>
          </a:prstGeom>
          <a:solidFill>
            <a:srgbClr val="0D21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_Bottom" descr="image.png"/>
          <p:cNvPicPr>
            <a:picLocks noChangeAspect="1"/>
          </p:cNvPicPr>
          <p:nvPr/>
        </p:nvPicPr>
        <p:blipFill>
          <a:blip r:embed="rId3"/>
          <a:stretch>
            <a:fillRect/>
          </a:stretch>
        </p:blipFill>
        <p:spPr>
          <a:xfrm>
            <a:off x="5532120" y="3931920"/>
            <a:ext cx="3840480" cy="2103120"/>
          </a:xfrm>
          <a:prstGeom prst="rect">
            <a:avLst/>
          </a:prstGeom>
        </p:spPr>
      </p:pic>
      <p:sp>
        <p:nvSpPr>
          <p:cNvPr id="25" name="Caption_Bottom"/>
          <p:cNvSpPr txBox="1"/>
          <p:nvPr/>
        </p:nvSpPr>
        <p:spPr>
          <a:xfrm>
            <a:off x="9464040" y="3977639"/>
            <a:ext cx="2148840" cy="2011680"/>
          </a:xfrm>
          <a:prstGeom prst="rect">
            <a:avLst/>
          </a:prstGeom>
          <a:noFill/>
        </p:spPr>
        <p:txBody>
          <a:bodyPr wrap="square">
            <a:spAutoFit/>
          </a:bodyPr>
          <a:lstStyle/>
          <a:p>
            <a:pPr>
              <a:defRPr b="1" sz="1100">
                <a:solidFill>
                  <a:srgbClr val="00D4FF"/>
                </a:solidFill>
              </a:defRPr>
            </a:pPr>
            <a:r>
              <a:t>PULLDOWN TÉRMICO NOM-251:</a:t>
            </a:r>
            <a:br/>
            <a:r>
              <a:t>Abatimiento continuo de 42.0 °C a 4.0 °C en 54 min (Régimen ASHRAE).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06</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ELECTRÓNICO 5: MATRIZ DE POTENCIA 6X6 Y SUPRESIÓN DE BACK-EMF</a:t>
            </a:r>
          </a:p>
          <a:p>
            <a:r>
              <a:rPr sz="950" b="1">
                <a:solidFill>
                  <a:srgbClr val="06B6D4"/>
                </a:solidFill>
                <a:latin typeface="Segoe UI"/>
              </a:rPr>
              <a:t>AISLAMIENTO GALVÁNICO Y MULTIPLEXACIÓN MATRICIAL EN EASYEDA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10B981"/>
                </a:solidFill>
                <a:latin typeface="Segoe UI"/>
              </a:rPr>
              <a:t>POTENCIA • FRANCISCO REYES SANTIAGO</a:t>
            </a:r>
          </a:p>
        </p:txBody>
      </p:sp>
      <p:sp>
        <p:nvSpPr>
          <p:cNvPr id="6" name="Rounded Rectangle 5"/>
          <p:cNvSpPr/>
          <p:nvPr/>
        </p:nvSpPr>
        <p:spPr>
          <a:xfrm>
            <a:off x="457200" y="1188720"/>
            <a:ext cx="47548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4389120"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ELECTRÓNICA DE POTENCIA EN EASYEDA</a:t>
            </a:r>
          </a:p>
        </p:txBody>
      </p:sp>
      <p:sp>
        <p:nvSpPr>
          <p:cNvPr id="8" name="TextBox 7"/>
          <p:cNvSpPr txBox="1"/>
          <p:nvPr/>
        </p:nvSpPr>
        <p:spPr>
          <a:xfrm>
            <a:off x="640080" y="1664207"/>
            <a:ext cx="4389120" cy="475488"/>
          </a:xfrm>
          <a:prstGeom prst="rect">
            <a:avLst/>
          </a:prstGeom>
          <a:noFill/>
        </p:spPr>
        <p:txBody>
          <a:bodyPr wrap="none" lIns="0" tIns="0" rIns="0" bIns="0">
            <a:spAutoFit/>
          </a:bodyPr>
          <a:lstStyle/>
          <a:p>
            <a:r>
              <a:rPr sz="1800" b="1">
                <a:solidFill>
                  <a:srgbClr val="10B981"/>
                </a:solidFill>
                <a:latin typeface="Segoe UI"/>
              </a:rPr>
              <a:t>12 Cables </a:t>
            </a:r>
            <a:r>
              <a:rPr sz="1000">
                <a:solidFill>
                  <a:srgbClr val="94A3B8"/>
                </a:solidFill>
                <a:latin typeface="Segoe UI"/>
              </a:rPr>
              <a:t>vs 72 Cables Convencionales</a:t>
            </a:r>
          </a:p>
        </p:txBody>
      </p:sp>
      <p:sp>
        <p:nvSpPr>
          <p:cNvPr id="9" name="TextBox 8"/>
          <p:cNvSpPr txBox="1"/>
          <p:nvPr/>
        </p:nvSpPr>
        <p:spPr>
          <a:xfrm>
            <a:off x="640080" y="2157984"/>
            <a:ext cx="4389120" cy="347472"/>
          </a:xfrm>
          <a:prstGeom prst="rect">
            <a:avLst/>
          </a:prstGeom>
          <a:noFill/>
        </p:spPr>
        <p:txBody>
          <a:bodyPr wrap="square" lIns="0" tIns="0" rIns="0" bIns="0">
            <a:spAutoFit/>
          </a:bodyPr>
          <a:lstStyle/>
          <a:p>
            <a:r>
              <a:rPr sz="1150" b="1">
                <a:solidFill>
                  <a:srgbClr val="FFFFFF"/>
                </a:solidFill>
                <a:latin typeface="Segoe UI"/>
              </a:rPr>
              <a:t>Ahorro del 83% en Arneses y Aislamiento Galvánico</a:t>
            </a:r>
          </a:p>
        </p:txBody>
      </p:sp>
      <p:sp>
        <p:nvSpPr>
          <p:cNvPr id="10" name="TextBox 9"/>
          <p:cNvSpPr txBox="1"/>
          <p:nvPr/>
        </p:nvSpPr>
        <p:spPr>
          <a:xfrm>
            <a:off x="640080" y="2487168"/>
            <a:ext cx="438912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Potencia: </a:t>
            </a:r>
            <a:r>
              <a:rPr sz="950">
                <a:solidFill>
                  <a:srgbClr val="94A3B8"/>
                </a:solidFill>
                <a:latin typeface="Calibri"/>
              </a:rPr>
              <a:t>Cablear 36 motores individualmente requeriría 72 cables a través de bandejas móviles, causando fallas por fatiga.</a:t>
            </a:r>
          </a:p>
          <a:p>
            <a:pPr>
              <a:spcAft>
                <a:spcPts val="400"/>
              </a:spcAft>
            </a:pPr>
            <a:r>
              <a:rPr sz="950" b="1">
                <a:solidFill>
                  <a:srgbClr val="F1F5F9"/>
                </a:solidFill>
                <a:latin typeface="Calibri"/>
              </a:rPr>
              <a:t>• Multiplexación 6x6: </a:t>
            </a:r>
            <a:r>
              <a:rPr sz="950">
                <a:solidFill>
                  <a:srgbClr val="94A3B8"/>
                </a:solidFill>
                <a:latin typeface="Calibri"/>
              </a:rPr>
              <a:t>Control de 36 motores con solo 6 columnas High-Side (24V) y 6 filas Low-Side (GND).</a:t>
            </a:r>
          </a:p>
          <a:p>
            <a:pPr>
              <a:spcAft>
                <a:spcPts val="400"/>
              </a:spcAft>
            </a:pPr>
            <a:r>
              <a:rPr sz="950" b="1">
                <a:solidFill>
                  <a:srgbClr val="F1F5F9"/>
                </a:solidFill>
                <a:latin typeface="Calibri"/>
              </a:rPr>
              <a:t>• El Problema del Back-EMF: </a:t>
            </a:r>
            <a:r>
              <a:rPr sz="950">
                <a:solidFill>
                  <a:srgbClr val="94A3B8"/>
                </a:solidFill>
                <a:latin typeface="Calibri"/>
              </a:rPr>
              <a:t>Al conmutar cargas inductivas, los picos de voltaje alcanzaban 48V, reseteando el ESP32.</a:t>
            </a:r>
          </a:p>
          <a:p>
            <a:pPr>
              <a:spcAft>
                <a:spcPts val="400"/>
              </a:spcAft>
            </a:pPr>
            <a:r>
              <a:rPr sz="950" b="1">
                <a:solidFill>
                  <a:srgbClr val="F1F5F9"/>
                </a:solidFill>
                <a:latin typeface="Calibri"/>
              </a:rPr>
              <a:t>• Aislamiento y Supresión: </a:t>
            </a:r>
            <a:r>
              <a:rPr sz="950">
                <a:solidFill>
                  <a:srgbClr val="94A3B8"/>
                </a:solidFill>
                <a:latin typeface="Calibri"/>
              </a:rPr>
              <a:t>Optoacopladores PC817C (2,500 V RMS) y diodos Flyback 1N4007 que suprimen el pico a 24.51 V.</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7 de 15</a:t>
            </a:r>
          </a:p>
        </p:txBody>
      </p:sp>
      <p:sp>
        <p:nvSpPr>
          <p:cNvPr id="20" name="Card_Top"/>
          <p:cNvSpPr/>
          <p:nvPr/>
        </p:nvSpPr>
        <p:spPr>
          <a:xfrm>
            <a:off x="5394960" y="1188720"/>
            <a:ext cx="6355080" cy="2487168"/>
          </a:xfrm>
          <a:prstGeom prst="roundRect">
            <a:avLst/>
          </a:prstGeom>
          <a:solidFill>
            <a:srgbClr val="0D213E"/>
          </a:solidFill>
          <a:ln w="19050">
            <a:solidFill>
              <a:srgbClr val="4F86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_Top" descr="image.png"/>
          <p:cNvPicPr>
            <a:picLocks noChangeAspect="1"/>
          </p:cNvPicPr>
          <p:nvPr/>
        </p:nvPicPr>
        <p:blipFill>
          <a:blip r:embed="rId2"/>
          <a:stretch>
            <a:fillRect/>
          </a:stretch>
        </p:blipFill>
        <p:spPr>
          <a:xfrm>
            <a:off x="5532120" y="1280160"/>
            <a:ext cx="3840480" cy="2057400"/>
          </a:xfrm>
          <a:prstGeom prst="rect">
            <a:avLst/>
          </a:prstGeom>
        </p:spPr>
      </p:pic>
      <p:sp>
        <p:nvSpPr>
          <p:cNvPr id="22" name="Caption_Top"/>
          <p:cNvSpPr txBox="1"/>
          <p:nvPr/>
        </p:nvSpPr>
        <p:spPr>
          <a:xfrm>
            <a:off x="9464040" y="1325880"/>
            <a:ext cx="2148840" cy="1965960"/>
          </a:xfrm>
          <a:prstGeom prst="rect">
            <a:avLst/>
          </a:prstGeom>
          <a:noFill/>
        </p:spPr>
        <p:txBody>
          <a:bodyPr wrap="square">
            <a:spAutoFit/>
          </a:bodyPr>
          <a:lstStyle/>
          <a:p>
            <a:pPr>
              <a:defRPr b="1" sz="1100">
                <a:solidFill>
                  <a:srgbClr val="00E5FF"/>
                </a:solidFill>
              </a:defRPr>
            </a:pPr>
            <a:r>
              <a:t>ESQUEMÁTICO EASYEDA:</a:t>
            </a:r>
            <a:br/>
            <a:r>
              <a:t>Matriz MOSFET 6x6 con aislamiento óptico PC817C e IPC-2221B.</a:t>
            </a:r>
          </a:p>
        </p:txBody>
      </p:sp>
      <p:sp>
        <p:nvSpPr>
          <p:cNvPr id="23" name="Card_Bottom"/>
          <p:cNvSpPr/>
          <p:nvPr/>
        </p:nvSpPr>
        <p:spPr>
          <a:xfrm>
            <a:off x="5394960" y="3822191"/>
            <a:ext cx="6355080" cy="2532888"/>
          </a:xfrm>
          <a:prstGeom prst="roundRect">
            <a:avLst/>
          </a:prstGeom>
          <a:solidFill>
            <a:srgbClr val="0D21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_Bottom" descr="image.png"/>
          <p:cNvPicPr>
            <a:picLocks noChangeAspect="1"/>
          </p:cNvPicPr>
          <p:nvPr/>
        </p:nvPicPr>
        <p:blipFill>
          <a:blip r:embed="rId3"/>
          <a:stretch>
            <a:fillRect/>
          </a:stretch>
        </p:blipFill>
        <p:spPr>
          <a:xfrm>
            <a:off x="5532120" y="3931920"/>
            <a:ext cx="3840480" cy="2103120"/>
          </a:xfrm>
          <a:prstGeom prst="rect">
            <a:avLst/>
          </a:prstGeom>
        </p:spPr>
      </p:pic>
      <p:sp>
        <p:nvSpPr>
          <p:cNvPr id="25" name="Caption_Bottom"/>
          <p:cNvSpPr txBox="1"/>
          <p:nvPr/>
        </p:nvSpPr>
        <p:spPr>
          <a:xfrm>
            <a:off x="9464040" y="3977639"/>
            <a:ext cx="2148840" cy="2011680"/>
          </a:xfrm>
          <a:prstGeom prst="rect">
            <a:avLst/>
          </a:prstGeom>
          <a:noFill/>
        </p:spPr>
        <p:txBody>
          <a:bodyPr wrap="square">
            <a:spAutoFit/>
          </a:bodyPr>
          <a:lstStyle/>
          <a:p>
            <a:pPr>
              <a:defRPr b="1" sz="1100">
                <a:solidFill>
                  <a:srgbClr val="00D4FF"/>
                </a:solidFill>
              </a:defRPr>
            </a:pPr>
            <a:r>
              <a:t>SUPRESIÓN FLYBACK:</a:t>
            </a:r>
            <a:br/>
            <a:r>
              <a:t>Amortiguamiento de pico inductivo de 78.4 V a 24.8 V con diodo 1N5822.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07</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DE CONTROL 6: FIRMWARE ESP32 FREERTOS Y SIMULACIÓN WOKWI</a:t>
            </a:r>
          </a:p>
          <a:p>
            <a:r>
              <a:rPr sz="950" b="1">
                <a:solidFill>
                  <a:srgbClr val="06B6D4"/>
                </a:solidFill>
                <a:latin typeface="Segoe UI"/>
              </a:rPr>
              <a:t>CONCURRENCIA MULTITAREA DETERMINISTA EN ESP32 DUAL-CORE</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FIRMWARE • SAMUEL TOVAR MÚJICA</a:t>
            </a:r>
          </a:p>
        </p:txBody>
      </p:sp>
      <p:sp>
        <p:nvSpPr>
          <p:cNvPr id="6" name="Rounded Rectangle 5"/>
          <p:cNvSpPr/>
          <p:nvPr/>
        </p:nvSpPr>
        <p:spPr>
          <a:xfrm>
            <a:off x="457200" y="1188720"/>
            <a:ext cx="47548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4389120"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FIRMWARE MULTITAREA DETERMINISTA</a:t>
            </a:r>
          </a:p>
        </p:txBody>
      </p:sp>
      <p:sp>
        <p:nvSpPr>
          <p:cNvPr id="8" name="TextBox 7"/>
          <p:cNvSpPr txBox="1"/>
          <p:nvPr/>
        </p:nvSpPr>
        <p:spPr>
          <a:xfrm>
            <a:off x="640080" y="1664207"/>
            <a:ext cx="4389120" cy="475488"/>
          </a:xfrm>
          <a:prstGeom prst="rect">
            <a:avLst/>
          </a:prstGeom>
          <a:noFill/>
        </p:spPr>
        <p:txBody>
          <a:bodyPr wrap="none" lIns="0" tIns="0" rIns="0" bIns="0">
            <a:spAutoFit/>
          </a:bodyPr>
          <a:lstStyle/>
          <a:p>
            <a:r>
              <a:rPr sz="1800" b="1">
                <a:solidFill>
                  <a:srgbClr val="06B6D4"/>
                </a:solidFill>
                <a:latin typeface="Segoe UI"/>
              </a:rPr>
              <a:t>3 Tareas </a:t>
            </a:r>
            <a:r>
              <a:rPr sz="1000">
                <a:solidFill>
                  <a:srgbClr val="94A3B8"/>
                </a:solidFill>
                <a:latin typeface="Segoe UI"/>
              </a:rPr>
              <a:t>FreeRTOS Núcleo 0 y 1 Concurrente</a:t>
            </a:r>
          </a:p>
        </p:txBody>
      </p:sp>
      <p:sp>
        <p:nvSpPr>
          <p:cNvPr id="9" name="TextBox 8"/>
          <p:cNvSpPr txBox="1"/>
          <p:nvPr/>
        </p:nvSpPr>
        <p:spPr>
          <a:xfrm>
            <a:off x="640080" y="2157984"/>
            <a:ext cx="4389120" cy="347472"/>
          </a:xfrm>
          <a:prstGeom prst="rect">
            <a:avLst/>
          </a:prstGeom>
          <a:noFill/>
        </p:spPr>
        <p:txBody>
          <a:bodyPr wrap="square" lIns="0" tIns="0" rIns="0" bIns="0">
            <a:spAutoFit/>
          </a:bodyPr>
          <a:lstStyle/>
          <a:p>
            <a:r>
              <a:rPr sz="1150" b="1">
                <a:solidFill>
                  <a:srgbClr val="FFFFFF"/>
                </a:solidFill>
                <a:latin typeface="Segoe UI"/>
              </a:rPr>
              <a:t>ESP32 Dual-Core con Telemetría y Control Local</a:t>
            </a:r>
          </a:p>
        </p:txBody>
      </p:sp>
      <p:sp>
        <p:nvSpPr>
          <p:cNvPr id="10" name="TextBox 9"/>
          <p:cNvSpPr txBox="1"/>
          <p:nvPr/>
        </p:nvSpPr>
        <p:spPr>
          <a:xfrm>
            <a:off x="640080" y="2487168"/>
            <a:ext cx="438912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Control: </a:t>
            </a:r>
            <a:r>
              <a:rPr sz="950">
                <a:solidFill>
                  <a:srgbClr val="94A3B8"/>
                </a:solidFill>
                <a:latin typeface="Calibri"/>
              </a:rPr>
              <a:t>Evitar que el refresco del HMI o la lectura térmica bloqueen la secuencia de giro del motor de despacho.</a:t>
            </a:r>
          </a:p>
          <a:p>
            <a:pPr>
              <a:spcAft>
                <a:spcPts val="400"/>
              </a:spcAft>
            </a:pPr>
            <a:r>
              <a:rPr sz="950" b="1">
                <a:solidFill>
                  <a:srgbClr val="F1F5F9"/>
                </a:solidFill>
                <a:latin typeface="Calibri"/>
              </a:rPr>
              <a:t>• Asignación por Núcleos: </a:t>
            </a:r>
            <a:r>
              <a:rPr sz="950">
                <a:solidFill>
                  <a:srgbClr val="94A3B8"/>
                </a:solidFill>
                <a:latin typeface="Calibri"/>
              </a:rPr>
              <a:t>Core 0 atiende WiFi/MQTT y telemetría; Core 1 ejecuta en tiempo real el lazo de despacho y control PID.</a:t>
            </a:r>
          </a:p>
          <a:p>
            <a:pPr>
              <a:spcAft>
                <a:spcPts val="400"/>
              </a:spcAft>
            </a:pPr>
            <a:r>
              <a:rPr sz="950" b="1">
                <a:solidFill>
                  <a:srgbClr val="F1F5F9"/>
                </a:solidFill>
                <a:latin typeface="Calibri"/>
              </a:rPr>
              <a:t>• Validación en Wokwi: </a:t>
            </a:r>
            <a:r>
              <a:rPr sz="950">
                <a:solidFill>
                  <a:srgbClr val="94A3B8"/>
                </a:solidFill>
                <a:latin typeface="Calibri"/>
              </a:rPr>
              <a:t>Emulación completa de hardware en VS Code + PlatformIO, validando la matriz de 36 actuadores con LEDs.</a:t>
            </a:r>
          </a:p>
          <a:p>
            <a:pPr>
              <a:spcAft>
                <a:spcPts val="400"/>
              </a:spcAft>
            </a:pPr>
            <a:r>
              <a:rPr sz="950" b="1">
                <a:solidFill>
                  <a:srgbClr val="F1F5F9"/>
                </a:solidFill>
                <a:latin typeface="Calibri"/>
              </a:rPr>
              <a:t>• Detección de Falla: </a:t>
            </a:r>
            <a:r>
              <a:rPr sz="950">
                <a:solidFill>
                  <a:srgbClr val="94A3B8"/>
                </a:solidFill>
                <a:latin typeface="Calibri"/>
              </a:rPr>
              <a:t>Watchdog timer por hardware y apagado seguro ante sobrecorriente en menos de 50 ms.</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8 de 15</a:t>
            </a:r>
          </a:p>
        </p:txBody>
      </p:sp>
      <p:sp>
        <p:nvSpPr>
          <p:cNvPr id="20" name="Card_Top"/>
          <p:cNvSpPr/>
          <p:nvPr/>
        </p:nvSpPr>
        <p:spPr>
          <a:xfrm>
            <a:off x="5394960" y="1188720"/>
            <a:ext cx="6355080" cy="2487168"/>
          </a:xfrm>
          <a:prstGeom prst="roundRect">
            <a:avLst/>
          </a:prstGeom>
          <a:solidFill>
            <a:srgbClr val="0D213E"/>
          </a:solidFill>
          <a:ln w="19050">
            <a:solidFill>
              <a:srgbClr val="4F86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_Top" descr="image.png"/>
          <p:cNvPicPr>
            <a:picLocks noChangeAspect="1"/>
          </p:cNvPicPr>
          <p:nvPr/>
        </p:nvPicPr>
        <p:blipFill>
          <a:blip r:embed="rId2"/>
          <a:stretch>
            <a:fillRect/>
          </a:stretch>
        </p:blipFill>
        <p:spPr>
          <a:xfrm>
            <a:off x="5532120" y="1280160"/>
            <a:ext cx="3840480" cy="2057400"/>
          </a:xfrm>
          <a:prstGeom prst="rect">
            <a:avLst/>
          </a:prstGeom>
        </p:spPr>
      </p:pic>
      <p:sp>
        <p:nvSpPr>
          <p:cNvPr id="22" name="Caption_Top"/>
          <p:cNvSpPr txBox="1"/>
          <p:nvPr/>
        </p:nvSpPr>
        <p:spPr>
          <a:xfrm>
            <a:off x="9464040" y="1325880"/>
            <a:ext cx="2148840" cy="1965960"/>
          </a:xfrm>
          <a:prstGeom prst="rect">
            <a:avLst/>
          </a:prstGeom>
          <a:noFill/>
        </p:spPr>
        <p:txBody>
          <a:bodyPr wrap="square">
            <a:spAutoFit/>
          </a:bodyPr>
          <a:lstStyle/>
          <a:p>
            <a:pPr>
              <a:defRPr b="1" sz="1100">
                <a:solidFill>
                  <a:srgbClr val="00E5FF"/>
                </a:solidFill>
              </a:defRPr>
            </a:pPr>
            <a:r>
              <a:t>SIMULACIÓN WOKWI (PASO 1):</a:t>
            </a:r>
            <a:br/>
            <a:r>
              <a:t>Despacho de comida (Canal A6). Activación de compuerta y sensor.</a:t>
            </a:r>
          </a:p>
        </p:txBody>
      </p:sp>
      <p:sp>
        <p:nvSpPr>
          <p:cNvPr id="23" name="Card_Bottom"/>
          <p:cNvSpPr/>
          <p:nvPr/>
        </p:nvSpPr>
        <p:spPr>
          <a:xfrm>
            <a:off x="5394960" y="3822191"/>
            <a:ext cx="6355080" cy="2532888"/>
          </a:xfrm>
          <a:prstGeom prst="roundRect">
            <a:avLst/>
          </a:prstGeom>
          <a:solidFill>
            <a:srgbClr val="0D21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_Bottom" descr="Img08_ExpendeX_Wokwi_VSCode_Despacho_Paso2_Bebida_C2.png"/>
          <p:cNvPicPr>
            <a:picLocks noChangeAspect="1"/>
          </p:cNvPicPr>
          <p:nvPr/>
        </p:nvPicPr>
        <p:blipFill>
          <a:blip r:embed="rId5"/>
          <a:stretch>
            <a:fillRect/>
          </a:stretch>
        </p:blipFill>
        <p:spPr>
          <a:xfrm>
            <a:off x="5532120" y="3931920"/>
            <a:ext cx="3840480" cy="2103120"/>
          </a:xfrm>
          <a:prstGeom prst="rect">
            <a:avLst/>
          </a:prstGeom>
        </p:spPr>
      </p:pic>
      <p:sp>
        <p:nvSpPr>
          <p:cNvPr id="25" name="Caption_Bottom"/>
          <p:cNvSpPr txBox="1"/>
          <p:nvPr/>
        </p:nvSpPr>
        <p:spPr>
          <a:xfrm>
            <a:off x="9464040" y="3977639"/>
            <a:ext cx="2148840" cy="2011680"/>
          </a:xfrm>
          <a:prstGeom prst="rect">
            <a:avLst/>
          </a:prstGeom>
          <a:noFill/>
        </p:spPr>
        <p:txBody>
          <a:bodyPr wrap="square">
            <a:spAutoFit/>
          </a:bodyPr>
          <a:lstStyle/>
          <a:p>
            <a:pPr>
              <a:defRPr b="1" sz="1100">
                <a:solidFill>
                  <a:srgbClr val="00D4FF"/>
                </a:solidFill>
              </a:defRPr>
            </a:pPr>
            <a:r>
              <a:t>SIMULACIÓN WOKWI (PASO 2):</a:t>
            </a:r>
            <a:br/>
            <a:r>
              <a:t>Despacho concurrente de bebida (Canal C2). Tiempo total: 10.4 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08</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DE SOFTWARE 7: PLATAFORMA WEB DUAL Y REGLA DE 14 HORAS</a:t>
            </a:r>
          </a:p>
          <a:p>
            <a:r>
              <a:rPr sz="950" b="1">
                <a:solidFill>
                  <a:srgbClr val="06B6D4"/>
                </a:solidFill>
                <a:latin typeface="Segoe UI"/>
              </a:rPr>
              <a:t>QUIOSCO TÁCTIL CON COBRO QR Y PANEL ADMINISTRATIVO FIFO</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F59E0B"/>
                </a:solidFill>
                <a:latin typeface="Segoe UI"/>
              </a:rPr>
              <a:t>WEB &amp; HMI • EMILIANO SÁNCHEZ MARTÍNEZ</a:t>
            </a:r>
          </a:p>
        </p:txBody>
      </p:sp>
      <p:sp>
        <p:nvSpPr>
          <p:cNvPr id="6" name="Rounded Rectangle 5"/>
          <p:cNvSpPr/>
          <p:nvPr/>
        </p:nvSpPr>
        <p:spPr>
          <a:xfrm>
            <a:off x="457200" y="1188720"/>
            <a:ext cx="47548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4389120"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PLATAFORMA WEB DUAL: QUIOSCO + ADMIN</a:t>
            </a:r>
          </a:p>
        </p:txBody>
      </p:sp>
      <p:sp>
        <p:nvSpPr>
          <p:cNvPr id="8" name="TextBox 7"/>
          <p:cNvSpPr txBox="1"/>
          <p:nvPr/>
        </p:nvSpPr>
        <p:spPr>
          <a:xfrm>
            <a:off x="640080" y="1664207"/>
            <a:ext cx="4389120" cy="475488"/>
          </a:xfrm>
          <a:prstGeom prst="rect">
            <a:avLst/>
          </a:prstGeom>
          <a:noFill/>
        </p:spPr>
        <p:txBody>
          <a:bodyPr wrap="none" lIns="0" tIns="0" rIns="0" bIns="0">
            <a:spAutoFit/>
          </a:bodyPr>
          <a:lstStyle/>
          <a:p>
            <a:r>
              <a:rPr sz="1800" b="1">
                <a:solidFill>
                  <a:srgbClr val="10B981"/>
                </a:solidFill>
                <a:latin typeface="Segoe UI"/>
              </a:rPr>
              <a:t>&lt; 1.5 s </a:t>
            </a:r>
            <a:r>
              <a:rPr sz="1000">
                <a:solidFill>
                  <a:srgbClr val="94A3B8"/>
                </a:solidFill>
                <a:latin typeface="Segoe UI"/>
              </a:rPr>
              <a:t>Cobro QR Dinámico Mercado Pago</a:t>
            </a:r>
          </a:p>
        </p:txBody>
      </p:sp>
      <p:sp>
        <p:nvSpPr>
          <p:cNvPr id="9" name="TextBox 8"/>
          <p:cNvSpPr txBox="1"/>
          <p:nvPr/>
        </p:nvSpPr>
        <p:spPr>
          <a:xfrm>
            <a:off x="640080" y="2157984"/>
            <a:ext cx="4389120" cy="347472"/>
          </a:xfrm>
          <a:prstGeom prst="rect">
            <a:avLst/>
          </a:prstGeom>
          <a:noFill/>
        </p:spPr>
        <p:txBody>
          <a:bodyPr wrap="square" lIns="0" tIns="0" rIns="0" bIns="0">
            <a:spAutoFit/>
          </a:bodyPr>
          <a:lstStyle/>
          <a:p>
            <a:r>
              <a:rPr sz="1150" b="1">
                <a:solidFill>
                  <a:srgbClr val="FFFFFF"/>
                </a:solidFill>
                <a:latin typeface="Segoe UI"/>
              </a:rPr>
              <a:t>Garantía de Inocuidad y Telemetría FIFO en Tiempo Real</a:t>
            </a:r>
          </a:p>
        </p:txBody>
      </p:sp>
      <p:sp>
        <p:nvSpPr>
          <p:cNvPr id="10" name="TextBox 9"/>
          <p:cNvSpPr txBox="1"/>
          <p:nvPr/>
        </p:nvSpPr>
        <p:spPr>
          <a:xfrm>
            <a:off x="640080" y="2487168"/>
            <a:ext cx="438912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Quiosco Táctil (10.1"): </a:t>
            </a:r>
            <a:r>
              <a:rPr sz="950">
                <a:solidFill>
                  <a:srgbClr val="94A3B8"/>
                </a:solidFill>
                <a:latin typeface="Calibri"/>
              </a:rPr>
              <a:t>Catálogo interactivo de combos, desglose nutricional NOM-051 y cobro digital inmediato.</a:t>
            </a:r>
          </a:p>
          <a:p>
            <a:pPr>
              <a:spcAft>
                <a:spcPts val="400"/>
              </a:spcAft>
            </a:pPr>
            <a:r>
              <a:rPr sz="950" b="1">
                <a:solidFill>
                  <a:srgbClr val="F1F5F9"/>
                </a:solidFill>
                <a:latin typeface="Calibri"/>
              </a:rPr>
              <a:t>• Pasarela de Pago QR: </a:t>
            </a:r>
            <a:r>
              <a:rPr sz="950">
                <a:solidFill>
                  <a:srgbClr val="94A3B8"/>
                </a:solidFill>
                <a:latin typeface="Calibri"/>
              </a:rPr>
              <a:t>Generación de QR dinámico interoperable (Mercado Pago / CoDi / SPEI) con validación en menos de 1.5 s.</a:t>
            </a:r>
          </a:p>
          <a:p>
            <a:pPr>
              <a:spcAft>
                <a:spcPts val="400"/>
              </a:spcAft>
            </a:pPr>
            <a:r>
              <a:rPr sz="950" b="1">
                <a:solidFill>
                  <a:srgbClr val="F1F5F9"/>
                </a:solidFill>
                <a:latin typeface="Calibri"/>
              </a:rPr>
              <a:t>• Regla de Descarte 14 Horas: </a:t>
            </a:r>
            <a:r>
              <a:rPr sz="950">
                <a:solidFill>
                  <a:srgbClr val="94A3B8"/>
                </a:solidFill>
                <a:latin typeface="Calibri"/>
              </a:rPr>
              <a:t>El panel admin bloquea automáticamente platillos que superen 14 h desde preparación.</a:t>
            </a:r>
          </a:p>
          <a:p>
            <a:pPr>
              <a:spcAft>
                <a:spcPts val="400"/>
              </a:spcAft>
            </a:pPr>
            <a:r>
              <a:rPr sz="950" b="1">
                <a:solidFill>
                  <a:srgbClr val="F1F5F9"/>
                </a:solidFill>
                <a:latin typeface="Calibri"/>
              </a:rPr>
              <a:t>• Telemetría SQLite: </a:t>
            </a:r>
            <a:r>
              <a:rPr sz="950">
                <a:solidFill>
                  <a:srgbClr val="94A3B8"/>
                </a:solidFill>
                <a:latin typeface="Calibri"/>
              </a:rPr>
              <a:t>Monitoreo remoto de inventario por canal, recaudación diaria y alertas de temperatura fuera de rango.</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9 de 15</a:t>
            </a:r>
          </a:p>
        </p:txBody>
      </p:sp>
      <p:sp>
        <p:nvSpPr>
          <p:cNvPr id="20" name="Card_Top"/>
          <p:cNvSpPr/>
          <p:nvPr/>
        </p:nvSpPr>
        <p:spPr>
          <a:xfrm>
            <a:off x="5394960" y="1188720"/>
            <a:ext cx="6355080" cy="2487168"/>
          </a:xfrm>
          <a:prstGeom prst="roundRect">
            <a:avLst/>
          </a:prstGeom>
          <a:solidFill>
            <a:srgbClr val="0D213E"/>
          </a:solidFill>
          <a:ln w="19050">
            <a:solidFill>
              <a:srgbClr val="4F86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_Top" descr="image.png"/>
          <p:cNvPicPr>
            <a:picLocks noChangeAspect="1"/>
          </p:cNvPicPr>
          <p:nvPr/>
        </p:nvPicPr>
        <p:blipFill>
          <a:blip r:embed="rId2"/>
          <a:stretch>
            <a:fillRect/>
          </a:stretch>
        </p:blipFill>
        <p:spPr>
          <a:xfrm>
            <a:off x="5532120" y="1280160"/>
            <a:ext cx="3840480" cy="2057400"/>
          </a:xfrm>
          <a:prstGeom prst="rect">
            <a:avLst/>
          </a:prstGeom>
        </p:spPr>
      </p:pic>
      <p:sp>
        <p:nvSpPr>
          <p:cNvPr id="22" name="Caption_Top"/>
          <p:cNvSpPr txBox="1"/>
          <p:nvPr/>
        </p:nvSpPr>
        <p:spPr>
          <a:xfrm>
            <a:off x="9464040" y="1325880"/>
            <a:ext cx="2148840" cy="1965960"/>
          </a:xfrm>
          <a:prstGeom prst="rect">
            <a:avLst/>
          </a:prstGeom>
          <a:noFill/>
        </p:spPr>
        <p:txBody>
          <a:bodyPr wrap="square">
            <a:spAutoFit/>
          </a:bodyPr>
          <a:lstStyle/>
          <a:p>
            <a:pPr>
              <a:defRPr b="1" sz="1100">
                <a:solidFill>
                  <a:srgbClr val="00E5FF"/>
                </a:solidFill>
              </a:defRPr>
            </a:pPr>
            <a:r>
              <a:t>QUIOSCO TÁCTIL 10.1":</a:t>
            </a:r>
            <a:br/>
            <a:r>
              <a:t>Catálogo interactivo de combos, desglose nutrimental NOM-051 y cobro QR.</a:t>
            </a:r>
          </a:p>
        </p:txBody>
      </p:sp>
      <p:sp>
        <p:nvSpPr>
          <p:cNvPr id="23" name="Card_Bottom"/>
          <p:cNvSpPr/>
          <p:nvPr/>
        </p:nvSpPr>
        <p:spPr>
          <a:xfrm>
            <a:off x="5394960" y="3822191"/>
            <a:ext cx="6355080" cy="2532888"/>
          </a:xfrm>
          <a:prstGeom prst="roundRect">
            <a:avLst/>
          </a:prstGeom>
          <a:solidFill>
            <a:srgbClr val="0D21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_Bottom" descr="image.png"/>
          <p:cNvPicPr>
            <a:picLocks noChangeAspect="1"/>
          </p:cNvPicPr>
          <p:nvPr/>
        </p:nvPicPr>
        <p:blipFill>
          <a:blip r:embed="rId3"/>
          <a:stretch>
            <a:fillRect/>
          </a:stretch>
        </p:blipFill>
        <p:spPr>
          <a:xfrm>
            <a:off x="5532120" y="3931920"/>
            <a:ext cx="3840480" cy="2103120"/>
          </a:xfrm>
          <a:prstGeom prst="rect">
            <a:avLst/>
          </a:prstGeom>
        </p:spPr>
      </p:pic>
      <p:sp>
        <p:nvSpPr>
          <p:cNvPr id="25" name="Caption_Bottom"/>
          <p:cNvSpPr txBox="1"/>
          <p:nvPr/>
        </p:nvSpPr>
        <p:spPr>
          <a:xfrm>
            <a:off x="9464040" y="3977639"/>
            <a:ext cx="2148840" cy="2011680"/>
          </a:xfrm>
          <a:prstGeom prst="rect">
            <a:avLst/>
          </a:prstGeom>
          <a:noFill/>
        </p:spPr>
        <p:txBody>
          <a:bodyPr wrap="square">
            <a:spAutoFit/>
          </a:bodyPr>
          <a:lstStyle/>
          <a:p>
            <a:pPr>
              <a:defRPr b="1" sz="1100">
                <a:solidFill>
                  <a:srgbClr val="00D4FF"/>
                </a:solidFill>
              </a:defRPr>
            </a:pPr>
            <a:r>
              <a:t>PANEL ADMINISTRATIVO:</a:t>
            </a:r>
            <a:br/>
            <a:r>
              <a:t>Monitoreo de telemetría en tiempo real, regla de 14 horas y FIFO sanitario.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09</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8: COMPUERTA BASCULANTE ANTIRROBO Y AMORTIGUACIÓN</a:t>
            </a:r>
          </a:p>
          <a:p>
            <a:r>
              <a:rPr sz="950" b="1">
                <a:solidFill>
                  <a:srgbClr val="06B6D4"/>
                </a:solidFill>
                <a:latin typeface="Segoe UI"/>
              </a:rPr>
              <a:t>MECANISMO DE INTERBLOQUEO GRAVITACIONAL CON DOBLE SELLO EPDM</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MECÁNICA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2839212" cy="274320"/>
          </a:xfrm>
          <a:prstGeom prst="roundRect">
            <a:avLst>
              <a:gd name="adj" fmla="val 50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59E0B"/>
                </a:solidFill>
                <a:latin typeface="Segoe UI"/>
              </a:rPr>
              <a:t>PROTECCIÓN MECÁNICA DE RETIRO</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F59E0B"/>
                </a:solidFill>
                <a:latin typeface="Segoe UI"/>
              </a:rPr>
              <a:t>0% Hurto </a:t>
            </a:r>
            <a:r>
              <a:rPr sz="1000">
                <a:solidFill>
                  <a:srgbClr val="94A3B8"/>
                </a:solidFill>
                <a:latin typeface="Segoe UI"/>
              </a:rPr>
              <a:t>Mecanismo Basculante de Interbloqueo</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Seguridad contra Vandalismo y Sello Hermético EPDM</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Seguridad: </a:t>
            </a:r>
            <a:r>
              <a:rPr sz="950">
                <a:solidFill>
                  <a:srgbClr val="94A3B8"/>
                </a:solidFill>
                <a:latin typeface="Calibri"/>
              </a:rPr>
              <a:t>Impedir que se alcancen las bandejas internas introduciendo la mano por la zona de despacho inferior.</a:t>
            </a:r>
          </a:p>
          <a:p>
            <a:pPr>
              <a:spcAft>
                <a:spcPts val="400"/>
              </a:spcAft>
            </a:pPr>
            <a:r>
              <a:rPr sz="950" b="1">
                <a:solidFill>
                  <a:srgbClr val="F1F5F9"/>
                </a:solidFill>
                <a:latin typeface="Calibri"/>
              </a:rPr>
              <a:t>• Mecanismo Basculante: </a:t>
            </a:r>
            <a:r>
              <a:rPr sz="950">
                <a:solidFill>
                  <a:srgbClr val="94A3B8"/>
                </a:solidFill>
                <a:latin typeface="Calibri"/>
              </a:rPr>
              <a:t>Al empujar la compuerta exterior, una aleta deflectora trasera sube y bloquea físicamente la cámara fría.</a:t>
            </a:r>
          </a:p>
          <a:p>
            <a:pPr>
              <a:spcAft>
                <a:spcPts val="400"/>
              </a:spcAft>
            </a:pPr>
            <a:r>
              <a:rPr sz="950" b="1">
                <a:solidFill>
                  <a:srgbClr val="F1F5F9"/>
                </a:solidFill>
                <a:latin typeface="Calibri"/>
              </a:rPr>
              <a:t>• Contrapeso Gravitacional: </a:t>
            </a:r>
            <a:r>
              <a:rPr sz="950">
                <a:solidFill>
                  <a:srgbClr val="94A3B8"/>
                </a:solidFill>
                <a:latin typeface="Calibri"/>
              </a:rPr>
              <a:t>Cierre pasivo automático sin resortes propensos a fatiga mecánica ni actuadores adicionales.</a:t>
            </a:r>
          </a:p>
          <a:p>
            <a:pPr>
              <a:spcAft>
                <a:spcPts val="400"/>
              </a:spcAft>
            </a:pPr>
            <a:r>
              <a:rPr sz="950" b="1">
                <a:solidFill>
                  <a:srgbClr val="F1F5F9"/>
                </a:solidFill>
                <a:latin typeface="Calibri"/>
              </a:rPr>
              <a:t>• Aislamiento Térmico: </a:t>
            </a:r>
            <a:r>
              <a:rPr sz="950">
                <a:solidFill>
                  <a:srgbClr val="94A3B8"/>
                </a:solidFill>
                <a:latin typeface="Calibri"/>
              </a:rPr>
              <a:t>Doble sello perimetral de caucho EPDM que evita fugas de aire frío hacia la sala de máquinas inferior.</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12_CAD_Fusion360_Compuerta_Inferior_Rejilla_Ventilacion_Ruedas.png"/>
          <p:cNvPicPr>
            <a:picLocks noChangeAspect="1"/>
          </p:cNvPicPr>
          <p:nvPr/>
        </p:nvPicPr>
        <p:blipFill>
          <a:blip r:embed="rId2"/>
          <a:stretch>
            <a:fillRect/>
          </a:stretch>
        </p:blipFill>
        <p:spPr>
          <a:xfrm>
            <a:off x="4956048" y="2432055"/>
            <a:ext cx="3300984" cy="2332216"/>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CAD Fusion 360: Compuerta Inferior y Rejilla de Ventilación</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1_Vista_Frontal_CAD_Final_Expendex.png"/>
          <p:cNvPicPr>
            <a:picLocks noChangeAspect="1"/>
          </p:cNvPicPr>
          <p:nvPr/>
        </p:nvPicPr>
        <p:blipFill>
          <a:blip r:embed="rId3"/>
          <a:stretch>
            <a:fillRect/>
          </a:stretch>
        </p:blipFill>
        <p:spPr>
          <a:xfrm>
            <a:off x="8681530" y="1298448"/>
            <a:ext cx="2936619" cy="4599432"/>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Vista Frontal CAD: Zona Ergonómica de Retiro</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10 de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10</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EL CICLO DE OPERACIÓN INTEGRADO (8 A 12 SEGUNDOS TOTALES)</a:t>
            </a:r>
          </a:p>
          <a:p>
            <a:r>
              <a:rPr sz="950" b="1">
                <a:solidFill>
                  <a:srgbClr val="06B6D4"/>
                </a:solidFill>
                <a:latin typeface="Segoe UI"/>
              </a:rPr>
              <a:t>ARTICULACIÓN CRONOLÓGICA FLUIDA: QUIOSCO, PAGO, ESP32 Y DESPACHO</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CICLO COMPLETO • DESPACHO MECATRÓNICO</a:t>
            </a:r>
          </a:p>
        </p:txBody>
      </p:sp>
      <p:sp>
        <p:nvSpPr>
          <p:cNvPr id="6" name="Rounded Rectangle 5"/>
          <p:cNvSpPr/>
          <p:nvPr/>
        </p:nvSpPr>
        <p:spPr>
          <a:xfrm>
            <a:off x="457200" y="1188720"/>
            <a:ext cx="438912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360420"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SECUENCIA DE OPERACIÓN CRONOMETRADA</a:t>
            </a:r>
          </a:p>
        </p:txBody>
      </p:sp>
      <p:sp>
        <p:nvSpPr>
          <p:cNvPr id="8" name="TextBox 7"/>
          <p:cNvSpPr txBox="1"/>
          <p:nvPr/>
        </p:nvSpPr>
        <p:spPr>
          <a:xfrm>
            <a:off x="640080" y="1664207"/>
            <a:ext cx="4023359" cy="475488"/>
          </a:xfrm>
          <a:prstGeom prst="rect">
            <a:avLst/>
          </a:prstGeom>
          <a:noFill/>
        </p:spPr>
        <p:txBody>
          <a:bodyPr wrap="none" lIns="0" tIns="0" rIns="0" bIns="0">
            <a:spAutoFit/>
          </a:bodyPr>
          <a:lstStyle/>
          <a:p>
            <a:r>
              <a:rPr sz="1800" b="1">
                <a:solidFill>
                  <a:srgbClr val="10B981"/>
                </a:solidFill>
                <a:latin typeface="Segoe UI"/>
              </a:rPr>
              <a:t>8 a 12 s </a:t>
            </a:r>
            <a:r>
              <a:rPr sz="1000">
                <a:solidFill>
                  <a:srgbClr val="94A3B8"/>
                </a:solidFill>
                <a:latin typeface="Segoe UI"/>
              </a:rPr>
              <a:t>vs 20 min en Cafetería FIME</a:t>
            </a:r>
          </a:p>
        </p:txBody>
      </p:sp>
      <p:sp>
        <p:nvSpPr>
          <p:cNvPr id="9" name="TextBox 8"/>
          <p:cNvSpPr txBox="1"/>
          <p:nvPr/>
        </p:nvSpPr>
        <p:spPr>
          <a:xfrm>
            <a:off x="640080" y="2157984"/>
            <a:ext cx="4023359" cy="347472"/>
          </a:xfrm>
          <a:prstGeom prst="rect">
            <a:avLst/>
          </a:prstGeom>
          <a:noFill/>
        </p:spPr>
        <p:txBody>
          <a:bodyPr wrap="square" lIns="0" tIns="0" rIns="0" bIns="0">
            <a:spAutoFit/>
          </a:bodyPr>
          <a:lstStyle/>
          <a:p>
            <a:r>
              <a:rPr sz="1150" b="1">
                <a:solidFill>
                  <a:srgbClr val="FFFFFF"/>
                </a:solidFill>
                <a:latin typeface="Segoe UI"/>
              </a:rPr>
              <a:t>Flujo Completo de Despacho sin Filas ni Esperas</a:t>
            </a:r>
          </a:p>
        </p:txBody>
      </p:sp>
      <p:sp>
        <p:nvSpPr>
          <p:cNvPr id="10" name="TextBox 9"/>
          <p:cNvSpPr txBox="1"/>
          <p:nvPr/>
        </p:nvSpPr>
        <p:spPr>
          <a:xfrm>
            <a:off x="640080" y="2487168"/>
            <a:ext cx="402335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T = 0.0 s — Selección Táctil: </a:t>
            </a:r>
            <a:r>
              <a:rPr sz="950">
                <a:solidFill>
                  <a:srgbClr val="94A3B8"/>
                </a:solidFill>
                <a:latin typeface="Calibri"/>
              </a:rPr>
              <a:t>Usuario elige combo en pantalla 10.1", consulta ingredientes y presiona 'Pagar'.</a:t>
            </a:r>
          </a:p>
          <a:p>
            <a:pPr>
              <a:spcAft>
                <a:spcPts val="400"/>
              </a:spcAft>
            </a:pPr>
            <a:r>
              <a:rPr sz="950" b="1">
                <a:solidFill>
                  <a:srgbClr val="F1F5F9"/>
                </a:solidFill>
                <a:latin typeface="Calibri"/>
              </a:rPr>
              <a:t>• T = 2.0 s — Cobro QR Dinámico: </a:t>
            </a:r>
            <a:r>
              <a:rPr sz="950">
                <a:solidFill>
                  <a:srgbClr val="94A3B8"/>
                </a:solidFill>
                <a:latin typeface="Calibri"/>
              </a:rPr>
              <a:t>Escaneo inmediato con Mercado Pago / SPEI y validación en 1.5 s.</a:t>
            </a:r>
          </a:p>
          <a:p>
            <a:pPr>
              <a:spcAft>
                <a:spcPts val="400"/>
              </a:spcAft>
            </a:pPr>
            <a:r>
              <a:rPr sz="950" b="1">
                <a:solidFill>
                  <a:srgbClr val="F1F5F9"/>
                </a:solidFill>
                <a:latin typeface="Calibri"/>
              </a:rPr>
              <a:t>• T = 3.5 s — Trama UART y Disparo: </a:t>
            </a:r>
            <a:r>
              <a:rPr sz="950">
                <a:solidFill>
                  <a:srgbClr val="94A3B8"/>
                </a:solidFill>
                <a:latin typeface="Calibri"/>
              </a:rPr>
              <a:t>Raspberry Pi transmite comando; ESP32 activa MOSFETs de 24V.</a:t>
            </a:r>
          </a:p>
          <a:p>
            <a:pPr>
              <a:spcAft>
                <a:spcPts val="400"/>
              </a:spcAft>
            </a:pPr>
            <a:r>
              <a:rPr sz="950" b="1">
                <a:solidFill>
                  <a:srgbClr val="F1F5F9"/>
                </a:solidFill>
                <a:latin typeface="Calibri"/>
              </a:rPr>
              <a:t>• T = 5.0 s — Despacho Comida: </a:t>
            </a:r>
            <a:r>
              <a:rPr sz="950">
                <a:solidFill>
                  <a:srgbClr val="94A3B8"/>
                </a:solidFill>
                <a:latin typeface="Calibri"/>
              </a:rPr>
              <a:t>Espiral Ø 144 mm gira 360°, liberando el guiso caliente en bandeja inferior.</a:t>
            </a:r>
          </a:p>
          <a:p>
            <a:pPr>
              <a:spcAft>
                <a:spcPts val="400"/>
              </a:spcAft>
            </a:pPr>
            <a:r>
              <a:rPr sz="950" b="1">
                <a:solidFill>
                  <a:srgbClr val="F1F5F9"/>
                </a:solidFill>
                <a:latin typeface="Calibri"/>
              </a:rPr>
              <a:t>• T = 8.5 s — Despacho Bebida: </a:t>
            </a:r>
            <a:r>
              <a:rPr sz="950">
                <a:solidFill>
                  <a:srgbClr val="94A3B8"/>
                </a:solidFill>
                <a:latin typeface="Calibri"/>
              </a:rPr>
              <a:t>Espiral Ø 70 mm gira 360°, dispensando la bebida fría.</a:t>
            </a:r>
          </a:p>
          <a:p>
            <a:pPr>
              <a:spcAft>
                <a:spcPts val="400"/>
              </a:spcAft>
            </a:pPr>
            <a:r>
              <a:rPr sz="950" b="1">
                <a:solidFill>
                  <a:srgbClr val="F1F5F9"/>
                </a:solidFill>
                <a:latin typeface="Calibri"/>
              </a:rPr>
              <a:t>• T = 9.8 s — Detección IR y Retiro: </a:t>
            </a:r>
            <a:r>
              <a:rPr sz="950">
                <a:solidFill>
                  <a:srgbClr val="94A3B8"/>
                </a:solidFill>
                <a:latin typeface="Calibri"/>
              </a:rPr>
              <a:t>Cortina infrarroja valida caída; usuario retira alimentos por compuerta.</a:t>
            </a:r>
          </a:p>
          <a:p>
            <a:pPr>
              <a:spcAft>
                <a:spcPts val="400"/>
              </a:spcAft>
            </a:pPr>
            <a:r>
              <a:rPr sz="950" b="1">
                <a:solidFill>
                  <a:srgbClr val="F1F5F9"/>
                </a:solidFill>
                <a:latin typeface="Calibri"/>
              </a:rPr>
              <a:t>• T = 11.0 s — Actualización FIFO: </a:t>
            </a:r>
            <a:r>
              <a:rPr sz="950">
                <a:solidFill>
                  <a:srgbClr val="94A3B8"/>
                </a:solidFill>
                <a:latin typeface="Calibri"/>
              </a:rPr>
              <a:t>SQLite descuenta stock y envía telemetría a la nube.</a:t>
            </a:r>
          </a:p>
        </p:txBody>
      </p:sp>
      <p:sp>
        <p:nvSpPr>
          <p:cNvPr id="11" name="Rounded Rectangle 10"/>
          <p:cNvSpPr/>
          <p:nvPr/>
        </p:nvSpPr>
        <p:spPr>
          <a:xfrm>
            <a:off x="5029200" y="1188720"/>
            <a:ext cx="310896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4_ExpendeX_Kiosco_10pulg_Modal_Pago_QR_MercadoPago_Combo2.png"/>
          <p:cNvPicPr>
            <a:picLocks noChangeAspect="1"/>
          </p:cNvPicPr>
          <p:nvPr/>
        </p:nvPicPr>
        <p:blipFill>
          <a:blip r:embed="rId2"/>
          <a:stretch>
            <a:fillRect/>
          </a:stretch>
        </p:blipFill>
        <p:spPr>
          <a:xfrm>
            <a:off x="5274838" y="1298448"/>
            <a:ext cx="2617683" cy="4599432"/>
          </a:xfrm>
          <a:prstGeom prst="rect">
            <a:avLst/>
          </a:prstGeom>
        </p:spPr>
      </p:pic>
      <p:sp>
        <p:nvSpPr>
          <p:cNvPr id="13" name="TextBox 12"/>
          <p:cNvSpPr txBox="1"/>
          <p:nvPr/>
        </p:nvSpPr>
        <p:spPr>
          <a:xfrm>
            <a:off x="5138928" y="5952744"/>
            <a:ext cx="2889504" cy="347472"/>
          </a:xfrm>
          <a:prstGeom prst="rect">
            <a:avLst/>
          </a:prstGeom>
          <a:noFill/>
        </p:spPr>
        <p:txBody>
          <a:bodyPr wrap="square" lIns="0" rIns="0" tIns="0" bIns="0">
            <a:spAutoFit/>
          </a:bodyPr>
          <a:lstStyle/>
          <a:p>
            <a:pPr algn="ctr"/>
            <a:r>
              <a:rPr sz="850" b="1">
                <a:solidFill>
                  <a:srgbClr val="94A3B8"/>
                </a:solidFill>
                <a:latin typeface="Calibri"/>
              </a:rPr>
              <a:t>Paso 1: Cobro QR Dinámico Mercado Pago</a:t>
            </a:r>
          </a:p>
        </p:txBody>
      </p:sp>
      <p:sp>
        <p:nvSpPr>
          <p:cNvPr id="14" name="Rounded Rectangle 13"/>
          <p:cNvSpPr/>
          <p:nvPr/>
        </p:nvSpPr>
        <p:spPr>
          <a:xfrm>
            <a:off x="8321040" y="1188720"/>
            <a:ext cx="34290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g07_ExpendeX_Wokwi_VSCode_Despacho_Paso1_Comida_A6.png"/>
          <p:cNvPicPr>
            <a:picLocks noChangeAspect="1"/>
          </p:cNvPicPr>
          <p:nvPr/>
        </p:nvPicPr>
        <p:blipFill>
          <a:blip r:embed="rId3"/>
          <a:stretch>
            <a:fillRect/>
          </a:stretch>
        </p:blipFill>
        <p:spPr>
          <a:xfrm>
            <a:off x="8430767" y="2613690"/>
            <a:ext cx="3209544" cy="1968947"/>
          </a:xfrm>
          <a:prstGeom prst="rect">
            <a:avLst/>
          </a:prstGeom>
        </p:spPr>
      </p:pic>
      <p:sp>
        <p:nvSpPr>
          <p:cNvPr id="16" name="TextBox 15"/>
          <p:cNvSpPr txBox="1"/>
          <p:nvPr/>
        </p:nvSpPr>
        <p:spPr>
          <a:xfrm>
            <a:off x="8430767" y="5952744"/>
            <a:ext cx="3209544" cy="347472"/>
          </a:xfrm>
          <a:prstGeom prst="rect">
            <a:avLst/>
          </a:prstGeom>
          <a:noFill/>
        </p:spPr>
        <p:txBody>
          <a:bodyPr wrap="square" lIns="0" rIns="0" tIns="0" bIns="0">
            <a:spAutoFit/>
          </a:bodyPr>
          <a:lstStyle/>
          <a:p>
            <a:pPr algn="ctr"/>
            <a:r>
              <a:rPr sz="850" b="1">
                <a:solidFill>
                  <a:srgbClr val="94A3B8"/>
                </a:solidFill>
                <a:latin typeface="Calibri"/>
              </a:rPr>
              <a:t>Pasos 2 y 3: Conmutación Matriz 24V y Caída IR</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11 de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11</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COSTOS DE FABRICACIÓN Y BOM INDUSTRIAL DETALLADO ($46,463.12 MXN)</a:t>
            </a:r>
          </a:p>
          <a:p>
            <a:r>
              <a:rPr sz="950" b="1">
                <a:solidFill>
                  <a:srgbClr val="06B6D4"/>
                </a:solidFill>
                <a:latin typeface="Segoe UI"/>
              </a:rPr>
              <a:t>DESGLOSE DE INVERSIÓN FÍSICA EXTRAÍDO DE LA MEMORIA DEL PIA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BOM INDUSTRIAL • CONTROL DE COSTOS</a:t>
            </a:r>
          </a:p>
        </p:txBody>
      </p:sp>
      <p:graphicFrame>
        <p:nvGraphicFramePr>
          <p:cNvPr id="6" name="Table 5"/>
          <p:cNvGraphicFramePr>
            <a:graphicFrameLocks noGrp="1"/>
          </p:cNvGraphicFramePr>
          <p:nvPr/>
        </p:nvGraphicFramePr>
        <p:xfrm>
          <a:off x="457200" y="1188720"/>
          <a:ext cx="6858000" cy="5166360"/>
        </p:xfrm>
        <a:graphic>
          <a:graphicData uri="http://schemas.openxmlformats.org/drawingml/2006/table">
            <a:tbl>
              <a:tblPr firstRow="1" bandRow="1">
                <a:tableStyleId>{5C22544A-7EE6-4342-B048-85BDC9FD1C3A}</a:tableStyleId>
              </a:tblPr>
              <a:tblGrid>
                <a:gridCol w="2011680"/>
                <a:gridCol w="2926080"/>
                <a:gridCol w="1005840"/>
                <a:gridCol w="914400"/>
              </a:tblGrid>
              <a:tr h="645795">
                <a:tc>
                  <a:txBody>
                    <a:bodyPr/>
                    <a:lstStyle/>
                    <a:p>
                      <a:pPr algn="ctr"/>
                      <a:r>
                        <a:rPr sz="1000" b="1">
                          <a:solidFill>
                            <a:srgbClr val="06B6D4"/>
                          </a:solidFill>
                          <a:latin typeface="Segoe UI"/>
                        </a:rPr>
                        <a:t>Subsistema</a:t>
                      </a:r>
                    </a:p>
                  </a:txBody>
                  <a:tcPr>
                    <a:solidFill>
                      <a:srgbClr val="0B0F19"/>
                    </a:solidFill>
                  </a:tcPr>
                </a:tc>
                <a:tc>
                  <a:txBody>
                    <a:bodyPr/>
                    <a:lstStyle/>
                    <a:p>
                      <a:pPr algn="ctr"/>
                      <a:r>
                        <a:rPr sz="1000" b="1">
                          <a:solidFill>
                            <a:srgbClr val="06B6D4"/>
                          </a:solidFill>
                          <a:latin typeface="Segoe UI"/>
                        </a:rPr>
                        <a:t>Componentes Principales</a:t>
                      </a:r>
                    </a:p>
                  </a:txBody>
                  <a:tcPr>
                    <a:solidFill>
                      <a:srgbClr val="0B0F19"/>
                    </a:solidFill>
                  </a:tcPr>
                </a:tc>
                <a:tc>
                  <a:txBody>
                    <a:bodyPr/>
                    <a:lstStyle/>
                    <a:p>
                      <a:pPr algn="ctr"/>
                      <a:r>
                        <a:rPr sz="1000" b="1">
                          <a:solidFill>
                            <a:srgbClr val="06B6D4"/>
                          </a:solidFill>
                          <a:latin typeface="Segoe UI"/>
                        </a:rPr>
                        <a:t>Costo (MXN)</a:t>
                      </a:r>
                    </a:p>
                  </a:txBody>
                  <a:tcPr>
                    <a:solidFill>
                      <a:srgbClr val="0B0F19"/>
                    </a:solidFill>
                  </a:tcPr>
                </a:tc>
                <a:tc>
                  <a:txBody>
                    <a:bodyPr/>
                    <a:lstStyle/>
                    <a:p>
                      <a:pPr algn="ctr"/>
                      <a:r>
                        <a:rPr sz="1000" b="1">
                          <a:solidFill>
                            <a:srgbClr val="06B6D4"/>
                          </a:solidFill>
                          <a:latin typeface="Segoe UI"/>
                        </a:rPr>
                        <a:t>% Total</a:t>
                      </a:r>
                    </a:p>
                  </a:txBody>
                  <a:tcPr>
                    <a:solidFill>
                      <a:srgbClr val="0B0F19"/>
                    </a:solidFill>
                  </a:tcPr>
                </a:tc>
              </a:tr>
              <a:tr h="645795">
                <a:tc>
                  <a:txBody>
                    <a:bodyPr/>
                    <a:lstStyle/>
                    <a:p>
                      <a:pPr algn="l"/>
                      <a:r>
                        <a:rPr sz="900" b="1">
                          <a:solidFill>
                            <a:srgbClr val="F1F5F9"/>
                          </a:solidFill>
                          <a:latin typeface="Calibri"/>
                        </a:rPr>
                        <a:t>Estructura y Chasis</a:t>
                      </a:r>
                    </a:p>
                  </a:txBody>
                  <a:tcPr>
                    <a:solidFill>
                      <a:srgbClr val="131F37"/>
                    </a:solidFill>
                  </a:tcPr>
                </a:tc>
                <a:tc>
                  <a:txBody>
                    <a:bodyPr/>
                    <a:lstStyle/>
                    <a:p>
                      <a:pPr algn="l"/>
                      <a:r>
                        <a:rPr sz="900" b="0">
                          <a:solidFill>
                            <a:srgbClr val="F1F5F9"/>
                          </a:solidFill>
                          <a:latin typeface="Calibri"/>
                        </a:rPr>
                        <a:t>Lámina galv. cal. 16, perfiles en C, soldadura y pintura</a:t>
                      </a:r>
                    </a:p>
                  </a:txBody>
                  <a:tcPr>
                    <a:solidFill>
                      <a:srgbClr val="131F37"/>
                    </a:solidFill>
                  </a:tcPr>
                </a:tc>
                <a:tc>
                  <a:txBody>
                    <a:bodyPr/>
                    <a:lstStyle/>
                    <a:p>
                      <a:pPr algn="ctr"/>
                      <a:r>
                        <a:rPr sz="900" b="1">
                          <a:solidFill>
                            <a:srgbClr val="10B981"/>
                          </a:solidFill>
                          <a:latin typeface="Calibri"/>
                        </a:rPr>
                        <a:t>$10,850.00</a:t>
                      </a:r>
                    </a:p>
                  </a:txBody>
                  <a:tcPr>
                    <a:solidFill>
                      <a:srgbClr val="131F37"/>
                    </a:solidFill>
                  </a:tcPr>
                </a:tc>
                <a:tc>
                  <a:txBody>
                    <a:bodyPr/>
                    <a:lstStyle/>
                    <a:p>
                      <a:pPr algn="ctr"/>
                      <a:r>
                        <a:rPr sz="900" b="0">
                          <a:solidFill>
                            <a:srgbClr val="F1F5F9"/>
                          </a:solidFill>
                          <a:latin typeface="Calibri"/>
                        </a:rPr>
                        <a:t>23.4%</a:t>
                      </a:r>
                    </a:p>
                  </a:txBody>
                  <a:tcPr>
                    <a:solidFill>
                      <a:srgbClr val="131F37"/>
                    </a:solidFill>
                  </a:tcPr>
                </a:tc>
              </a:tr>
              <a:tr h="645795">
                <a:tc>
                  <a:txBody>
                    <a:bodyPr/>
                    <a:lstStyle/>
                    <a:p>
                      <a:pPr algn="l"/>
                      <a:r>
                        <a:rPr sz="900" b="1">
                          <a:solidFill>
                            <a:srgbClr val="F1F5F9"/>
                          </a:solidFill>
                          <a:latin typeface="Calibri"/>
                        </a:rPr>
                        <a:t>Sistema Frigorífico</a:t>
                      </a:r>
                    </a:p>
                  </a:txBody>
                  <a:tcPr>
                    <a:solidFill>
                      <a:srgbClr val="0B0F19"/>
                    </a:solidFill>
                  </a:tcPr>
                </a:tc>
                <a:tc>
                  <a:txBody>
                    <a:bodyPr/>
                    <a:lstStyle/>
                    <a:p>
                      <a:pPr algn="l"/>
                      <a:r>
                        <a:rPr sz="900" b="0">
                          <a:solidFill>
                            <a:srgbClr val="F1F5F9"/>
                          </a:solidFill>
                          <a:latin typeface="Calibri"/>
                        </a:rPr>
                        <a:t>Compresor Embraco 1/5 HP, evaporador, R134a, poliuretano</a:t>
                      </a:r>
                    </a:p>
                  </a:txBody>
                  <a:tcPr>
                    <a:solidFill>
                      <a:srgbClr val="0B0F19"/>
                    </a:solidFill>
                  </a:tcPr>
                </a:tc>
                <a:tc>
                  <a:txBody>
                    <a:bodyPr/>
                    <a:lstStyle/>
                    <a:p>
                      <a:pPr algn="ctr"/>
                      <a:r>
                        <a:rPr sz="900" b="1">
                          <a:solidFill>
                            <a:srgbClr val="10B981"/>
                          </a:solidFill>
                          <a:latin typeface="Calibri"/>
                        </a:rPr>
                        <a:t>$11,280.00</a:t>
                      </a:r>
                    </a:p>
                  </a:txBody>
                  <a:tcPr>
                    <a:solidFill>
                      <a:srgbClr val="0B0F19"/>
                    </a:solidFill>
                  </a:tcPr>
                </a:tc>
                <a:tc>
                  <a:txBody>
                    <a:bodyPr/>
                    <a:lstStyle/>
                    <a:p>
                      <a:pPr algn="ctr"/>
                      <a:r>
                        <a:rPr sz="900" b="0">
                          <a:solidFill>
                            <a:srgbClr val="F1F5F9"/>
                          </a:solidFill>
                          <a:latin typeface="Calibri"/>
                        </a:rPr>
                        <a:t>24.3%</a:t>
                      </a:r>
                    </a:p>
                  </a:txBody>
                  <a:tcPr>
                    <a:solidFill>
                      <a:srgbClr val="0B0F19"/>
                    </a:solidFill>
                  </a:tcPr>
                </a:tc>
              </a:tr>
              <a:tr h="645795">
                <a:tc>
                  <a:txBody>
                    <a:bodyPr/>
                    <a:lstStyle/>
                    <a:p>
                      <a:pPr algn="l"/>
                      <a:r>
                        <a:rPr sz="900" b="1">
                          <a:solidFill>
                            <a:srgbClr val="F1F5F9"/>
                          </a:solidFill>
                          <a:latin typeface="Calibri"/>
                        </a:rPr>
                        <a:t>Mecanismos y Rieles</a:t>
                      </a:r>
                    </a:p>
                  </a:txBody>
                  <a:tcPr>
                    <a:solidFill>
                      <a:srgbClr val="131F37"/>
                    </a:solidFill>
                  </a:tcPr>
                </a:tc>
                <a:tc>
                  <a:txBody>
                    <a:bodyPr/>
                    <a:lstStyle/>
                    <a:p>
                      <a:pPr algn="l"/>
                      <a:r>
                        <a:rPr sz="900" b="0">
                          <a:solidFill>
                            <a:srgbClr val="F1F5F9"/>
                          </a:solidFill>
                          <a:latin typeface="Calibri"/>
                        </a:rPr>
                        <a:t>36 espirales acero, guías telescópicas 45 kg, acoples</a:t>
                      </a:r>
                    </a:p>
                  </a:txBody>
                  <a:tcPr>
                    <a:solidFill>
                      <a:srgbClr val="131F37"/>
                    </a:solidFill>
                  </a:tcPr>
                </a:tc>
                <a:tc>
                  <a:txBody>
                    <a:bodyPr/>
                    <a:lstStyle/>
                    <a:p>
                      <a:pPr algn="ctr"/>
                      <a:r>
                        <a:rPr sz="900" b="1">
                          <a:solidFill>
                            <a:srgbClr val="10B981"/>
                          </a:solidFill>
                          <a:latin typeface="Calibri"/>
                        </a:rPr>
                        <a:t>$8,420.00</a:t>
                      </a:r>
                    </a:p>
                  </a:txBody>
                  <a:tcPr>
                    <a:solidFill>
                      <a:srgbClr val="131F37"/>
                    </a:solidFill>
                  </a:tcPr>
                </a:tc>
                <a:tc>
                  <a:txBody>
                    <a:bodyPr/>
                    <a:lstStyle/>
                    <a:p>
                      <a:pPr algn="ctr"/>
                      <a:r>
                        <a:rPr sz="900" b="0">
                          <a:solidFill>
                            <a:srgbClr val="F1F5F9"/>
                          </a:solidFill>
                          <a:latin typeface="Calibri"/>
                        </a:rPr>
                        <a:t>18.1%</a:t>
                      </a:r>
                    </a:p>
                  </a:txBody>
                  <a:tcPr>
                    <a:solidFill>
                      <a:srgbClr val="131F37"/>
                    </a:solidFill>
                  </a:tcPr>
                </a:tc>
              </a:tr>
              <a:tr h="645795">
                <a:tc>
                  <a:txBody>
                    <a:bodyPr/>
                    <a:lstStyle/>
                    <a:p>
                      <a:pPr algn="l"/>
                      <a:r>
                        <a:rPr sz="900" b="1">
                          <a:solidFill>
                            <a:srgbClr val="F1F5F9"/>
                          </a:solidFill>
                          <a:latin typeface="Calibri"/>
                        </a:rPr>
                        <a:t>Etapa de Potencia</a:t>
                      </a:r>
                    </a:p>
                  </a:txBody>
                  <a:tcPr>
                    <a:solidFill>
                      <a:srgbClr val="0B0F19"/>
                    </a:solidFill>
                  </a:tcPr>
                </a:tc>
                <a:tc>
                  <a:txBody>
                    <a:bodyPr/>
                    <a:lstStyle/>
                    <a:p>
                      <a:pPr algn="l"/>
                      <a:r>
                        <a:rPr sz="900" b="0">
                          <a:solidFill>
                            <a:srgbClr val="F1F5F9"/>
                          </a:solidFill>
                          <a:latin typeface="Calibri"/>
                        </a:rPr>
                        <a:t>Matriz 6x6 EasyEDA, MOSFETs IRF9540/IRLZ44N, optos, fuente 24V</a:t>
                      </a:r>
                    </a:p>
                  </a:txBody>
                  <a:tcPr>
                    <a:solidFill>
                      <a:srgbClr val="0B0F19"/>
                    </a:solidFill>
                  </a:tcPr>
                </a:tc>
                <a:tc>
                  <a:txBody>
                    <a:bodyPr/>
                    <a:lstStyle/>
                    <a:p>
                      <a:pPr algn="ctr"/>
                      <a:r>
                        <a:rPr sz="900" b="1">
                          <a:solidFill>
                            <a:srgbClr val="10B981"/>
                          </a:solidFill>
                          <a:latin typeface="Calibri"/>
                        </a:rPr>
                        <a:t>$5,140.00</a:t>
                      </a:r>
                    </a:p>
                  </a:txBody>
                  <a:tcPr>
                    <a:solidFill>
                      <a:srgbClr val="0B0F19"/>
                    </a:solidFill>
                  </a:tcPr>
                </a:tc>
                <a:tc>
                  <a:txBody>
                    <a:bodyPr/>
                    <a:lstStyle/>
                    <a:p>
                      <a:pPr algn="ctr"/>
                      <a:r>
                        <a:rPr sz="900" b="0">
                          <a:solidFill>
                            <a:srgbClr val="F1F5F9"/>
                          </a:solidFill>
                          <a:latin typeface="Calibri"/>
                        </a:rPr>
                        <a:t>11.1%</a:t>
                      </a:r>
                    </a:p>
                  </a:txBody>
                  <a:tcPr>
                    <a:solidFill>
                      <a:srgbClr val="0B0F19"/>
                    </a:solidFill>
                  </a:tcPr>
                </a:tc>
              </a:tr>
              <a:tr h="645795">
                <a:tc>
                  <a:txBody>
                    <a:bodyPr/>
                    <a:lstStyle/>
                    <a:p>
                      <a:pPr algn="l"/>
                      <a:r>
                        <a:rPr sz="900" b="1">
                          <a:solidFill>
                            <a:srgbClr val="F1F5F9"/>
                          </a:solidFill>
                          <a:latin typeface="Calibri"/>
                        </a:rPr>
                        <a:t>Cómputo y Control</a:t>
                      </a:r>
                    </a:p>
                  </a:txBody>
                  <a:tcPr>
                    <a:solidFill>
                      <a:srgbClr val="131F37"/>
                    </a:solidFill>
                  </a:tcPr>
                </a:tc>
                <a:tc>
                  <a:txBody>
                    <a:bodyPr/>
                    <a:lstStyle/>
                    <a:p>
                      <a:pPr algn="l"/>
                      <a:r>
                        <a:rPr sz="900" b="0">
                          <a:solidFill>
                            <a:srgbClr val="F1F5F9"/>
                          </a:solidFill>
                          <a:latin typeface="Calibri"/>
                        </a:rPr>
                        <a:t>ESP32 dual-core, Raspberry Pi 4, sensores DS18B20 y barrera IR</a:t>
                      </a:r>
                    </a:p>
                  </a:txBody>
                  <a:tcPr>
                    <a:solidFill>
                      <a:srgbClr val="131F37"/>
                    </a:solidFill>
                  </a:tcPr>
                </a:tc>
                <a:tc>
                  <a:txBody>
                    <a:bodyPr/>
                    <a:lstStyle/>
                    <a:p>
                      <a:pPr algn="ctr"/>
                      <a:r>
                        <a:rPr sz="900" b="1">
                          <a:solidFill>
                            <a:srgbClr val="10B981"/>
                          </a:solidFill>
                          <a:latin typeface="Calibri"/>
                        </a:rPr>
                        <a:t>$4,890.00</a:t>
                      </a:r>
                    </a:p>
                  </a:txBody>
                  <a:tcPr>
                    <a:solidFill>
                      <a:srgbClr val="131F37"/>
                    </a:solidFill>
                  </a:tcPr>
                </a:tc>
                <a:tc>
                  <a:txBody>
                    <a:bodyPr/>
                    <a:lstStyle/>
                    <a:p>
                      <a:pPr algn="ctr"/>
                      <a:r>
                        <a:rPr sz="900" b="0">
                          <a:solidFill>
                            <a:srgbClr val="F1F5F9"/>
                          </a:solidFill>
                          <a:latin typeface="Calibri"/>
                        </a:rPr>
                        <a:t>10.5%</a:t>
                      </a:r>
                    </a:p>
                  </a:txBody>
                  <a:tcPr>
                    <a:solidFill>
                      <a:srgbClr val="131F37"/>
                    </a:solidFill>
                  </a:tcPr>
                </a:tc>
              </a:tr>
              <a:tr h="645795">
                <a:tc>
                  <a:txBody>
                    <a:bodyPr/>
                    <a:lstStyle/>
                    <a:p>
                      <a:pPr algn="l"/>
                      <a:r>
                        <a:rPr sz="900" b="1">
                          <a:solidFill>
                            <a:srgbClr val="F1F5F9"/>
                          </a:solidFill>
                          <a:latin typeface="Calibri"/>
                        </a:rPr>
                        <a:t>HMI y Pantalla</a:t>
                      </a:r>
                    </a:p>
                  </a:txBody>
                  <a:tcPr>
                    <a:solidFill>
                      <a:srgbClr val="0B0F19"/>
                    </a:solidFill>
                  </a:tcPr>
                </a:tc>
                <a:tc>
                  <a:txBody>
                    <a:bodyPr/>
                    <a:lstStyle/>
                    <a:p>
                      <a:pPr algn="l"/>
                      <a:r>
                        <a:rPr sz="900" b="0">
                          <a:solidFill>
                            <a:srgbClr val="F1F5F9"/>
                          </a:solidFill>
                          <a:latin typeface="Calibri"/>
                        </a:rPr>
                        <a:t>Pantalla táctil HDMI 10.1" industrial capacitiva 1280x800</a:t>
                      </a:r>
                    </a:p>
                  </a:txBody>
                  <a:tcPr>
                    <a:solidFill>
                      <a:srgbClr val="0B0F19"/>
                    </a:solidFill>
                  </a:tcPr>
                </a:tc>
                <a:tc>
                  <a:txBody>
                    <a:bodyPr/>
                    <a:lstStyle/>
                    <a:p>
                      <a:pPr algn="ctr"/>
                      <a:r>
                        <a:rPr sz="900" b="1">
                          <a:solidFill>
                            <a:srgbClr val="10B981"/>
                          </a:solidFill>
                          <a:latin typeface="Calibri"/>
                        </a:rPr>
                        <a:t>$3,450.00</a:t>
                      </a:r>
                    </a:p>
                  </a:txBody>
                  <a:tcPr>
                    <a:solidFill>
                      <a:srgbClr val="0B0F19"/>
                    </a:solidFill>
                  </a:tcPr>
                </a:tc>
                <a:tc>
                  <a:txBody>
                    <a:bodyPr/>
                    <a:lstStyle/>
                    <a:p>
                      <a:pPr algn="ctr"/>
                      <a:r>
                        <a:rPr sz="900" b="0">
                          <a:solidFill>
                            <a:srgbClr val="F1F5F9"/>
                          </a:solidFill>
                          <a:latin typeface="Calibri"/>
                        </a:rPr>
                        <a:t>7.4%</a:t>
                      </a:r>
                    </a:p>
                  </a:txBody>
                  <a:tcPr>
                    <a:solidFill>
                      <a:srgbClr val="0B0F19"/>
                    </a:solidFill>
                  </a:tcPr>
                </a:tc>
              </a:tr>
              <a:tr h="645795">
                <a:tc>
                  <a:txBody>
                    <a:bodyPr/>
                    <a:lstStyle/>
                    <a:p>
                      <a:pPr algn="l"/>
                      <a:r>
                        <a:rPr sz="900" b="1">
                          <a:solidFill>
                            <a:srgbClr val="F1F5F9"/>
                          </a:solidFill>
                          <a:latin typeface="Calibri"/>
                        </a:rPr>
                        <a:t>Misceláneos y Ensamble</a:t>
                      </a:r>
                    </a:p>
                  </a:txBody>
                  <a:tcPr>
                    <a:solidFill>
                      <a:srgbClr val="131F37"/>
                    </a:solidFill>
                  </a:tcPr>
                </a:tc>
                <a:tc>
                  <a:txBody>
                    <a:bodyPr/>
                    <a:lstStyle/>
                    <a:p>
                      <a:pPr algn="l"/>
                      <a:r>
                        <a:rPr sz="900" b="0">
                          <a:solidFill>
                            <a:srgbClr val="F1F5F9"/>
                          </a:solidFill>
                          <a:latin typeface="Calibri"/>
                        </a:rPr>
                        <a:t>Cableado AWG, tornillería inoxidable, cerradura y ruedas</a:t>
                      </a:r>
                    </a:p>
                  </a:txBody>
                  <a:tcPr>
                    <a:solidFill>
                      <a:srgbClr val="131F37"/>
                    </a:solidFill>
                  </a:tcPr>
                </a:tc>
                <a:tc>
                  <a:txBody>
                    <a:bodyPr/>
                    <a:lstStyle/>
                    <a:p>
                      <a:pPr algn="ctr"/>
                      <a:r>
                        <a:rPr sz="900" b="1">
                          <a:solidFill>
                            <a:srgbClr val="10B981"/>
                          </a:solidFill>
                          <a:latin typeface="Calibri"/>
                        </a:rPr>
                        <a:t>$2,433.12</a:t>
                      </a:r>
                    </a:p>
                  </a:txBody>
                  <a:tcPr>
                    <a:solidFill>
                      <a:srgbClr val="131F37"/>
                    </a:solidFill>
                  </a:tcPr>
                </a:tc>
                <a:tc>
                  <a:txBody>
                    <a:bodyPr/>
                    <a:lstStyle/>
                    <a:p>
                      <a:pPr algn="ctr"/>
                      <a:r>
                        <a:rPr sz="900" b="0">
                          <a:solidFill>
                            <a:srgbClr val="F1F5F9"/>
                          </a:solidFill>
                          <a:latin typeface="Calibri"/>
                        </a:rPr>
                        <a:t>5.2%</a:t>
                      </a:r>
                    </a:p>
                  </a:txBody>
                  <a:tcPr>
                    <a:solidFill>
                      <a:srgbClr val="131F37"/>
                    </a:solidFill>
                  </a:tcPr>
                </a:tc>
              </a:tr>
            </a:tbl>
          </a:graphicData>
        </a:graphic>
      </p:graphicFrame>
      <p:sp>
        <p:nvSpPr>
          <p:cNvPr id="7" name="Rounded Rectangle 6"/>
          <p:cNvSpPr/>
          <p:nvPr/>
        </p:nvSpPr>
        <p:spPr>
          <a:xfrm>
            <a:off x="7498079"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680959" y="1335024"/>
            <a:ext cx="2057400"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DISRUPCIÓN EN COSTOS</a:t>
            </a:r>
          </a:p>
        </p:txBody>
      </p:sp>
      <p:sp>
        <p:nvSpPr>
          <p:cNvPr id="9" name="TextBox 8"/>
          <p:cNvSpPr txBox="1"/>
          <p:nvPr/>
        </p:nvSpPr>
        <p:spPr>
          <a:xfrm>
            <a:off x="7680959" y="1664207"/>
            <a:ext cx="3840479" cy="475488"/>
          </a:xfrm>
          <a:prstGeom prst="rect">
            <a:avLst/>
          </a:prstGeom>
          <a:noFill/>
        </p:spPr>
        <p:txBody>
          <a:bodyPr wrap="none" lIns="0" tIns="0" rIns="0" bIns="0">
            <a:spAutoFit/>
          </a:bodyPr>
          <a:lstStyle/>
          <a:p>
            <a:r>
              <a:rPr sz="1800" b="1">
                <a:solidFill>
                  <a:srgbClr val="06B6D4"/>
                </a:solidFill>
                <a:latin typeface="Segoe UI"/>
              </a:rPr>
              <a:t>$46,463 MXN </a:t>
            </a:r>
            <a:r>
              <a:rPr sz="1000">
                <a:solidFill>
                  <a:srgbClr val="94A3B8"/>
                </a:solidFill>
                <a:latin typeface="Segoe UI"/>
              </a:rPr>
              <a:t>(BOM Industrial Real)</a:t>
            </a:r>
          </a:p>
        </p:txBody>
      </p:sp>
      <p:sp>
        <p:nvSpPr>
          <p:cNvPr id="10" name="TextBox 9"/>
          <p:cNvSpPr txBox="1"/>
          <p:nvPr/>
        </p:nvSpPr>
        <p:spPr>
          <a:xfrm>
            <a:off x="7680959" y="2157984"/>
            <a:ext cx="3840479" cy="347472"/>
          </a:xfrm>
          <a:prstGeom prst="rect">
            <a:avLst/>
          </a:prstGeom>
          <a:noFill/>
        </p:spPr>
        <p:txBody>
          <a:bodyPr wrap="square" lIns="0" tIns="0" rIns="0" bIns="0">
            <a:spAutoFit/>
          </a:bodyPr>
          <a:lstStyle/>
          <a:p>
            <a:r>
              <a:rPr sz="1150" b="1">
                <a:solidFill>
                  <a:srgbClr val="FFFFFF"/>
                </a:solidFill>
                <a:latin typeface="Segoe UI"/>
              </a:rPr>
              <a:t>Ventaja de Manufactura Nacional</a:t>
            </a:r>
          </a:p>
        </p:txBody>
      </p:sp>
      <p:sp>
        <p:nvSpPr>
          <p:cNvPr id="11" name="TextBox 10"/>
          <p:cNvSpPr txBox="1"/>
          <p:nvPr/>
        </p:nvSpPr>
        <p:spPr>
          <a:xfrm>
            <a:off x="7680959"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Costo Directo Real: </a:t>
            </a:r>
            <a:r>
              <a:rPr sz="950">
                <a:solidFill>
                  <a:srgbClr val="94A3B8"/>
                </a:solidFill>
                <a:latin typeface="Calibri"/>
              </a:rPr>
              <a:t>Fabricar la máquina automatizada híbrida cuesta $46,463.12 MXN, cumpliendo el límite de $50,000 MXN.</a:t>
            </a:r>
          </a:p>
          <a:p>
            <a:pPr>
              <a:spcAft>
                <a:spcPts val="400"/>
              </a:spcAft>
            </a:pPr>
            <a:r>
              <a:rPr sz="950" b="1">
                <a:solidFill>
                  <a:srgbClr val="F1F5F9"/>
                </a:solidFill>
                <a:latin typeface="Calibri"/>
              </a:rPr>
              <a:t>• Comparativa Internacional: </a:t>
            </a:r>
            <a:r>
              <a:rPr sz="950">
                <a:solidFill>
                  <a:srgbClr val="94A3B8"/>
                </a:solidFill>
                <a:latin typeface="Calibri"/>
              </a:rPr>
              <a:t>Máquinas vending importadas con refrigeración comercial cuestan entre $180,000 y $240,000 MXN.</a:t>
            </a:r>
          </a:p>
          <a:p>
            <a:pPr>
              <a:spcAft>
                <a:spcPts val="400"/>
              </a:spcAft>
            </a:pPr>
            <a:r>
              <a:rPr sz="950" b="1">
                <a:solidFill>
                  <a:srgbClr val="F1F5F9"/>
                </a:solidFill>
                <a:latin typeface="Calibri"/>
              </a:rPr>
              <a:t>• Ahorro Estructural: </a:t>
            </a:r>
            <a:r>
              <a:rPr sz="950">
                <a:solidFill>
                  <a:srgbClr val="94A3B8"/>
                </a:solidFill>
                <a:latin typeface="Calibri"/>
              </a:rPr>
              <a:t>El diseño en chapa plegada con tornillería estándar y corte láser local reduce el costo mecánico en 60%.</a:t>
            </a:r>
          </a:p>
          <a:p>
            <a:pPr>
              <a:spcAft>
                <a:spcPts val="400"/>
              </a:spcAft>
            </a:pPr>
            <a:r>
              <a:rPr sz="950" b="1">
                <a:solidFill>
                  <a:srgbClr val="F1F5F9"/>
                </a:solidFill>
                <a:latin typeface="Calibri"/>
              </a:rPr>
              <a:t>• Retorno de Fabricación: </a:t>
            </a:r>
            <a:r>
              <a:rPr sz="950">
                <a:solidFill>
                  <a:srgbClr val="94A3B8"/>
                </a:solidFill>
                <a:latin typeface="Calibri"/>
              </a:rPr>
              <a:t>Con ventas promedio de 45 combos diarios, el costo de manufactura de la máquina se amortiza en menos de 4 meses.</a:t>
            </a:r>
          </a:p>
        </p:txBody>
      </p:sp>
      <p:sp>
        <p:nvSpPr>
          <p:cNvPr id="12" name="Rectangle 11"/>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4" name="TextBox 13"/>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12 de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12</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UNIT ECONOMICS Y MODELADO DE RENTABILIDAD OPERATIVA</a:t>
            </a:r>
          </a:p>
          <a:p>
            <a:r>
              <a:rPr sz="950" b="1">
                <a:solidFill>
                  <a:srgbClr val="06B6D4"/>
                </a:solidFill>
                <a:latin typeface="Segoe UI"/>
              </a:rPr>
              <a:t>MODELO DE NEGOCIO COLABORATIVO CON LONCHERÍAS Y FONDAS LOCALES</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FINANZAS • MODELO OPERATIVO</a:t>
            </a:r>
          </a:p>
        </p:txBody>
      </p:sp>
      <p:sp>
        <p:nvSpPr>
          <p:cNvPr id="6" name="Rounded Rectangle 5"/>
          <p:cNvSpPr/>
          <p:nvPr/>
        </p:nvSpPr>
        <p:spPr>
          <a:xfrm>
            <a:off x="457200" y="1188720"/>
            <a:ext cx="530352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012948"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DESGLOSE DEL COMBO ($85.00 MXN)</a:t>
            </a:r>
          </a:p>
        </p:txBody>
      </p:sp>
      <p:sp>
        <p:nvSpPr>
          <p:cNvPr id="8" name="TextBox 7"/>
          <p:cNvSpPr txBox="1"/>
          <p:nvPr/>
        </p:nvSpPr>
        <p:spPr>
          <a:xfrm>
            <a:off x="640080" y="1664207"/>
            <a:ext cx="4937759" cy="475488"/>
          </a:xfrm>
          <a:prstGeom prst="rect">
            <a:avLst/>
          </a:prstGeom>
          <a:noFill/>
        </p:spPr>
        <p:txBody>
          <a:bodyPr wrap="none" lIns="0" tIns="0" rIns="0" bIns="0">
            <a:spAutoFit/>
          </a:bodyPr>
          <a:lstStyle/>
          <a:p>
            <a:r>
              <a:rPr sz="1800" b="1">
                <a:solidFill>
                  <a:srgbClr val="10B981"/>
                </a:solidFill>
                <a:latin typeface="Segoe UI"/>
              </a:rPr>
              <a:t>$23.45 </a:t>
            </a:r>
            <a:r>
              <a:rPr sz="1000">
                <a:solidFill>
                  <a:srgbClr val="94A3B8"/>
                </a:solidFill>
                <a:latin typeface="Segoe UI"/>
              </a:rPr>
              <a:t>Margen Bruto / Combo (27.6%)</a:t>
            </a:r>
          </a:p>
        </p:txBody>
      </p:sp>
      <p:sp>
        <p:nvSpPr>
          <p:cNvPr id="9" name="TextBox 8"/>
          <p:cNvSpPr txBox="1"/>
          <p:nvPr/>
        </p:nvSpPr>
        <p:spPr>
          <a:xfrm>
            <a:off x="640080" y="2157984"/>
            <a:ext cx="4937759" cy="347472"/>
          </a:xfrm>
          <a:prstGeom prst="rect">
            <a:avLst/>
          </a:prstGeom>
          <a:noFill/>
        </p:spPr>
        <p:txBody>
          <a:bodyPr wrap="square" lIns="0" tIns="0" rIns="0" bIns="0">
            <a:spAutoFit/>
          </a:bodyPr>
          <a:lstStyle/>
          <a:p>
            <a:r>
              <a:rPr sz="1150" b="1">
                <a:solidFill>
                  <a:srgbClr val="FFFFFF"/>
                </a:solidFill>
                <a:latin typeface="Segoe UI"/>
              </a:rPr>
              <a:t>Guiso Casero Caliente + Bebida Fría 500 ml</a:t>
            </a:r>
          </a:p>
        </p:txBody>
      </p:sp>
      <p:sp>
        <p:nvSpPr>
          <p:cNvPr id="10" name="TextBox 9"/>
          <p:cNvSpPr txBox="1"/>
          <p:nvPr/>
        </p:nvSpPr>
        <p:spPr>
          <a:xfrm>
            <a:off x="640080" y="2487168"/>
            <a:ext cx="493775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Precio al Consumidor: </a:t>
            </a:r>
            <a:r>
              <a:rPr sz="950">
                <a:solidFill>
                  <a:srgbClr val="94A3B8"/>
                </a:solidFill>
                <a:latin typeface="Calibri"/>
              </a:rPr>
              <a:t>$85.00 MXN. Punto óptimo validado en FIME: accesible para el estudiante y rentable para la operación.</a:t>
            </a:r>
          </a:p>
          <a:p>
            <a:pPr>
              <a:spcAft>
                <a:spcPts val="400"/>
              </a:spcAft>
            </a:pPr>
            <a:r>
              <a:rPr sz="950" b="1">
                <a:solidFill>
                  <a:srgbClr val="F1F5F9"/>
                </a:solidFill>
                <a:latin typeface="Calibri"/>
              </a:rPr>
              <a:t>• Pago a Lonchería Local: </a:t>
            </a:r>
            <a:r>
              <a:rPr sz="950">
                <a:solidFill>
                  <a:srgbClr val="94A3B8"/>
                </a:solidFill>
                <a:latin typeface="Calibri"/>
              </a:rPr>
              <a:t>$45.00 MXN por platillo preparado fresco, inyectando derrama económica a pequeños negocios comunitarios.</a:t>
            </a:r>
          </a:p>
          <a:p>
            <a:pPr>
              <a:spcAft>
                <a:spcPts val="400"/>
              </a:spcAft>
            </a:pPr>
            <a:r>
              <a:rPr sz="950" b="1">
                <a:solidFill>
                  <a:srgbClr val="F1F5F9"/>
                </a:solidFill>
                <a:latin typeface="Calibri"/>
              </a:rPr>
              <a:t>• Costo de Bebida Fría: </a:t>
            </a:r>
            <a:r>
              <a:rPr sz="950">
                <a:solidFill>
                  <a:srgbClr val="94A3B8"/>
                </a:solidFill>
                <a:latin typeface="Calibri"/>
              </a:rPr>
              <a:t>$10.00 MXN por lata/botella de 500 ml adquirida a precio de mayoreo comercial.</a:t>
            </a:r>
          </a:p>
          <a:p>
            <a:pPr>
              <a:spcAft>
                <a:spcPts val="400"/>
              </a:spcAft>
            </a:pPr>
            <a:r>
              <a:rPr sz="950" b="1">
                <a:solidFill>
                  <a:srgbClr val="F1F5F9"/>
                </a:solidFill>
                <a:latin typeface="Calibri"/>
              </a:rPr>
              <a:t>• Costos Operativos: </a:t>
            </a:r>
            <a:r>
              <a:rPr sz="950">
                <a:solidFill>
                  <a:srgbClr val="94A3B8"/>
                </a:solidFill>
                <a:latin typeface="Calibri"/>
              </a:rPr>
              <a:t>$6.55 MXN (Energía eléctrica CFE tarifa DAC, pasarela Mercado Pago 2.95% e insumos de empaque térmico).</a:t>
            </a:r>
          </a:p>
          <a:p>
            <a:pPr>
              <a:spcAft>
                <a:spcPts val="400"/>
              </a:spcAft>
            </a:pPr>
            <a:r>
              <a:rPr sz="950" b="1">
                <a:solidFill>
                  <a:srgbClr val="F1F5F9"/>
                </a:solidFill>
                <a:latin typeface="Calibri"/>
              </a:rPr>
              <a:t>• Margen Bruto ExpendeX: </a:t>
            </a:r>
            <a:r>
              <a:rPr sz="950">
                <a:solidFill>
                  <a:srgbClr val="94A3B8"/>
                </a:solidFill>
                <a:latin typeface="Calibri"/>
              </a:rPr>
              <a:t>$23.45 MXN netos por cada combo vendido (27.6% de margen operativo de contribución).</a:t>
            </a:r>
          </a:p>
          <a:p>
            <a:pPr>
              <a:spcAft>
                <a:spcPts val="400"/>
              </a:spcAft>
            </a:pPr>
            <a:r>
              <a:rPr sz="950" b="1">
                <a:solidFill>
                  <a:srgbClr val="F1F5F9"/>
                </a:solidFill>
                <a:latin typeface="Calibri"/>
              </a:rPr>
              <a:t>• Punto de Equilibrio: </a:t>
            </a:r>
            <a:r>
              <a:rPr sz="950">
                <a:solidFill>
                  <a:srgbClr val="94A3B8"/>
                </a:solidFill>
                <a:latin typeface="Calibri"/>
              </a:rPr>
              <a:t>22 combos diarios para cubrir costos fijos; a 45 combos/día la utilidad neta mensual supera los $24,500 MXN.</a:t>
            </a:r>
          </a:p>
        </p:txBody>
      </p:sp>
      <p:sp>
        <p:nvSpPr>
          <p:cNvPr id="11" name="Rounded Rectangle 10"/>
          <p:cNvSpPr/>
          <p:nvPr/>
        </p:nvSpPr>
        <p:spPr>
          <a:xfrm>
            <a:off x="6035040" y="1188720"/>
            <a:ext cx="566928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rt_unit_economics_pie.png"/>
          <p:cNvPicPr>
            <a:picLocks noChangeAspect="1"/>
          </p:cNvPicPr>
          <p:nvPr/>
        </p:nvPicPr>
        <p:blipFill>
          <a:blip r:embed="rId2"/>
          <a:stretch>
            <a:fillRect/>
          </a:stretch>
        </p:blipFill>
        <p:spPr>
          <a:xfrm>
            <a:off x="6144768" y="1752255"/>
            <a:ext cx="5449824" cy="3691816"/>
          </a:xfrm>
          <a:prstGeom prst="rect">
            <a:avLst/>
          </a:prstGeom>
        </p:spPr>
      </p:pic>
      <p:sp>
        <p:nvSpPr>
          <p:cNvPr id="13" name="TextBox 12"/>
          <p:cNvSpPr txBox="1"/>
          <p:nvPr/>
        </p:nvSpPr>
        <p:spPr>
          <a:xfrm>
            <a:off x="6144768" y="5952744"/>
            <a:ext cx="5449824" cy="347472"/>
          </a:xfrm>
          <a:prstGeom prst="rect">
            <a:avLst/>
          </a:prstGeom>
          <a:noFill/>
        </p:spPr>
        <p:txBody>
          <a:bodyPr wrap="square" lIns="0" rIns="0" tIns="0" bIns="0">
            <a:spAutoFit/>
          </a:bodyPr>
          <a:lstStyle/>
          <a:p>
            <a:pPr algn="ctr"/>
            <a:r>
              <a:rPr sz="850" b="1">
                <a:solidFill>
                  <a:srgbClr val="94A3B8"/>
                </a:solidFill>
                <a:latin typeface="Calibri"/>
              </a:rPr>
              <a:t>Desglose Financiero por Combo Vendido ($85 MXN)</a:t>
            </a:r>
          </a:p>
        </p:txBody>
      </p:sp>
      <p:sp>
        <p:nvSpPr>
          <p:cNvPr id="14" name="Rectangle 13"/>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6" name="TextBox 15"/>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13 de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13</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VALIDACIÓN EXPERIMENTAL: TEORÍA VS SIMULACIÓN VS MEDICIÓN FÍSICA</a:t>
            </a:r>
          </a:p>
          <a:p>
            <a:r>
              <a:rPr sz="950" b="1">
                <a:solidFill>
                  <a:srgbClr val="06B6D4"/>
                </a:solidFill>
                <a:latin typeface="Segoe UI"/>
              </a:rPr>
              <a:t>RIGOR METROLÓGICO Y CUMPLIMIENTO ESTRICTO DE LA RÚBRICA FIME UANL</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METROLOGÍA • VALIDACIÓN EXPERIMENTAL</a:t>
            </a:r>
          </a:p>
        </p:txBody>
      </p:sp>
      <p:graphicFrame>
        <p:nvGraphicFramePr>
          <p:cNvPr id="6" name="Table 5"/>
          <p:cNvGraphicFramePr>
            <a:graphicFrameLocks noGrp="1"/>
          </p:cNvGraphicFramePr>
          <p:nvPr/>
        </p:nvGraphicFramePr>
        <p:xfrm>
          <a:off x="457200" y="1188720"/>
          <a:ext cx="6858000" cy="5166360"/>
        </p:xfrm>
        <a:graphic>
          <a:graphicData uri="http://schemas.openxmlformats.org/drawingml/2006/table">
            <a:tbl>
              <a:tblPr firstRow="1" bandRow="1">
                <a:tableStyleId>{5C22544A-7EE6-4342-B048-85BDC9FD1C3A}</a:tableStyleId>
              </a:tblPr>
              <a:tblGrid>
                <a:gridCol w="2011680"/>
                <a:gridCol w="1005840"/>
                <a:gridCol w="1005840"/>
                <a:gridCol w="1005840"/>
                <a:gridCol w="914400"/>
                <a:gridCol w="914400"/>
              </a:tblGrid>
              <a:tr h="861060">
                <a:tc>
                  <a:txBody>
                    <a:bodyPr/>
                    <a:lstStyle/>
                    <a:p>
                      <a:pPr algn="ctr"/>
                      <a:r>
                        <a:rPr sz="950" b="1">
                          <a:solidFill>
                            <a:srgbClr val="06B6D4"/>
                          </a:solidFill>
                          <a:latin typeface="Segoe UI"/>
                        </a:rPr>
                        <a:t>Variable de Ingeniería</a:t>
                      </a:r>
                    </a:p>
                  </a:txBody>
                  <a:tcPr>
                    <a:solidFill>
                      <a:srgbClr val="0B0F19"/>
                    </a:solidFill>
                  </a:tcPr>
                </a:tc>
                <a:tc>
                  <a:txBody>
                    <a:bodyPr/>
                    <a:lstStyle/>
                    <a:p>
                      <a:pPr algn="ctr"/>
                      <a:r>
                        <a:rPr sz="950" b="1">
                          <a:solidFill>
                            <a:srgbClr val="06B6D4"/>
                          </a:solidFill>
                          <a:latin typeface="Segoe UI"/>
                        </a:rPr>
                        <a:t>Teórico</a:t>
                      </a:r>
                    </a:p>
                  </a:txBody>
                  <a:tcPr>
                    <a:solidFill>
                      <a:srgbClr val="0B0F19"/>
                    </a:solidFill>
                  </a:tcPr>
                </a:tc>
                <a:tc>
                  <a:txBody>
                    <a:bodyPr/>
                    <a:lstStyle/>
                    <a:p>
                      <a:pPr algn="ctr"/>
                      <a:r>
                        <a:rPr sz="950" b="1">
                          <a:solidFill>
                            <a:srgbClr val="06B6D4"/>
                          </a:solidFill>
                          <a:latin typeface="Segoe UI"/>
                        </a:rPr>
                        <a:t>Simulado</a:t>
                      </a:r>
                    </a:p>
                  </a:txBody>
                  <a:tcPr>
                    <a:solidFill>
                      <a:srgbClr val="0B0F19"/>
                    </a:solidFill>
                  </a:tcPr>
                </a:tc>
                <a:tc>
                  <a:txBody>
                    <a:bodyPr/>
                    <a:lstStyle/>
                    <a:p>
                      <a:pPr algn="ctr"/>
                      <a:r>
                        <a:rPr sz="950" b="1">
                          <a:solidFill>
                            <a:srgbClr val="06B6D4"/>
                          </a:solidFill>
                          <a:latin typeface="Segoe UI"/>
                        </a:rPr>
                        <a:t>Medición</a:t>
                      </a:r>
                    </a:p>
                  </a:txBody>
                  <a:tcPr>
                    <a:solidFill>
                      <a:srgbClr val="0B0F19"/>
                    </a:solidFill>
                  </a:tcPr>
                </a:tc>
                <a:tc>
                  <a:txBody>
                    <a:bodyPr/>
                    <a:lstStyle/>
                    <a:p>
                      <a:pPr algn="ctr"/>
                      <a:r>
                        <a:rPr sz="950" b="1">
                          <a:solidFill>
                            <a:srgbClr val="06B6D4"/>
                          </a:solidFill>
                          <a:latin typeface="Segoe UI"/>
                        </a:rPr>
                        <a:t>Error %</a:t>
                      </a:r>
                    </a:p>
                  </a:txBody>
                  <a:tcPr>
                    <a:solidFill>
                      <a:srgbClr val="0B0F19"/>
                    </a:solidFill>
                  </a:tcPr>
                </a:tc>
                <a:tc>
                  <a:txBody>
                    <a:bodyPr/>
                    <a:lstStyle/>
                    <a:p>
                      <a:pPr algn="ctr"/>
                      <a:r>
                        <a:rPr sz="950" b="1">
                          <a:solidFill>
                            <a:srgbClr val="06B6D4"/>
                          </a:solidFill>
                          <a:latin typeface="Segoe UI"/>
                        </a:rPr>
                        <a:t>Estatus</a:t>
                      </a:r>
                    </a:p>
                  </a:txBody>
                  <a:tcPr>
                    <a:solidFill>
                      <a:srgbClr val="0B0F19"/>
                    </a:solidFill>
                  </a:tcPr>
                </a:tc>
              </a:tr>
              <a:tr h="861060">
                <a:tc>
                  <a:txBody>
                    <a:bodyPr/>
                    <a:lstStyle/>
                    <a:p>
                      <a:pPr algn="l"/>
                      <a:r>
                        <a:rPr sz="900" b="1">
                          <a:solidFill>
                            <a:srgbClr val="F1F5F9"/>
                          </a:solidFill>
                          <a:latin typeface="Calibri"/>
                        </a:rPr>
                        <a:t>Deflexión Charola (1+4+1)</a:t>
                      </a:r>
                    </a:p>
                  </a:txBody>
                  <a:tcPr>
                    <a:solidFill>
                      <a:srgbClr val="131F37"/>
                    </a:solidFill>
                  </a:tcPr>
                </a:tc>
                <a:tc>
                  <a:txBody>
                    <a:bodyPr/>
                    <a:lstStyle/>
                    <a:p>
                      <a:pPr algn="ctr"/>
                      <a:r>
                        <a:rPr sz="900" b="0">
                          <a:solidFill>
                            <a:srgbClr val="F1F5F9"/>
                          </a:solidFill>
                          <a:latin typeface="Calibri"/>
                        </a:rPr>
                        <a:t>1.34 mm</a:t>
                      </a:r>
                    </a:p>
                  </a:txBody>
                  <a:tcPr>
                    <a:solidFill>
                      <a:srgbClr val="131F37"/>
                    </a:solidFill>
                  </a:tcPr>
                </a:tc>
                <a:tc>
                  <a:txBody>
                    <a:bodyPr/>
                    <a:lstStyle/>
                    <a:p>
                      <a:pPr algn="ctr"/>
                      <a:r>
                        <a:rPr sz="900" b="0">
                          <a:solidFill>
                            <a:srgbClr val="F1F5F9"/>
                          </a:solidFill>
                          <a:latin typeface="Calibri"/>
                        </a:rPr>
                        <a:t>1.37 mm</a:t>
                      </a:r>
                    </a:p>
                  </a:txBody>
                  <a:tcPr>
                    <a:solidFill>
                      <a:srgbClr val="131F37"/>
                    </a:solidFill>
                  </a:tcPr>
                </a:tc>
                <a:tc>
                  <a:txBody>
                    <a:bodyPr/>
                    <a:lstStyle/>
                    <a:p>
                      <a:pPr algn="ctr"/>
                      <a:r>
                        <a:rPr sz="900" b="0">
                          <a:solidFill>
                            <a:srgbClr val="F1F5F9"/>
                          </a:solidFill>
                          <a:latin typeface="Calibri"/>
                        </a:rPr>
                        <a:t>1.39 mm</a:t>
                      </a:r>
                    </a:p>
                  </a:txBody>
                  <a:tcPr>
                    <a:solidFill>
                      <a:srgbClr val="131F37"/>
                    </a:solidFill>
                  </a:tcPr>
                </a:tc>
                <a:tc>
                  <a:txBody>
                    <a:bodyPr/>
                    <a:lstStyle/>
                    <a:p>
                      <a:pPr algn="ctr"/>
                      <a:r>
                        <a:rPr sz="900" b="1">
                          <a:solidFill>
                            <a:srgbClr val="10B981"/>
                          </a:solidFill>
                          <a:latin typeface="Calibri"/>
                        </a:rPr>
                        <a:t>3.73%</a:t>
                      </a:r>
                    </a:p>
                  </a:txBody>
                  <a:tcPr>
                    <a:solidFill>
                      <a:srgbClr val="131F37"/>
                    </a:solidFill>
                  </a:tcPr>
                </a:tc>
                <a:tc>
                  <a:txBody>
                    <a:bodyPr/>
                    <a:lstStyle/>
                    <a:p>
                      <a:pPr algn="ctr"/>
                      <a:r>
                        <a:rPr sz="900" b="1">
                          <a:solidFill>
                            <a:srgbClr val="06B6D4"/>
                          </a:solidFill>
                          <a:latin typeface="Calibri"/>
                        </a:rPr>
                        <a:t>CONFORME</a:t>
                      </a:r>
                    </a:p>
                  </a:txBody>
                  <a:tcPr>
                    <a:solidFill>
                      <a:srgbClr val="131F37"/>
                    </a:solidFill>
                  </a:tcPr>
                </a:tc>
              </a:tr>
              <a:tr h="861060">
                <a:tc>
                  <a:txBody>
                    <a:bodyPr/>
                    <a:lstStyle/>
                    <a:p>
                      <a:pPr algn="l"/>
                      <a:r>
                        <a:rPr sz="900" b="1">
                          <a:solidFill>
                            <a:srgbClr val="F1F5F9"/>
                          </a:solidFill>
                          <a:latin typeface="Calibri"/>
                        </a:rPr>
                        <a:t>Torque Motor Espiral</a:t>
                      </a:r>
                    </a:p>
                  </a:txBody>
                  <a:tcPr>
                    <a:solidFill>
                      <a:srgbClr val="0B0F19"/>
                    </a:solidFill>
                  </a:tcPr>
                </a:tc>
                <a:tc>
                  <a:txBody>
                    <a:bodyPr/>
                    <a:lstStyle/>
                    <a:p>
                      <a:pPr algn="ctr"/>
                      <a:r>
                        <a:rPr sz="900" b="0">
                          <a:solidFill>
                            <a:srgbClr val="F1F5F9"/>
                          </a:solidFill>
                          <a:latin typeface="Calibri"/>
                        </a:rPr>
                        <a:t>0.385 N·m</a:t>
                      </a:r>
                    </a:p>
                  </a:txBody>
                  <a:tcPr>
                    <a:solidFill>
                      <a:srgbClr val="0B0F19"/>
                    </a:solidFill>
                  </a:tcPr>
                </a:tc>
                <a:tc>
                  <a:txBody>
                    <a:bodyPr/>
                    <a:lstStyle/>
                    <a:p>
                      <a:pPr algn="ctr"/>
                      <a:r>
                        <a:rPr sz="900" b="0">
                          <a:solidFill>
                            <a:srgbClr val="F1F5F9"/>
                          </a:solidFill>
                          <a:latin typeface="Calibri"/>
                        </a:rPr>
                        <a:t>0.392 N·m</a:t>
                      </a:r>
                    </a:p>
                  </a:txBody>
                  <a:tcPr>
                    <a:solidFill>
                      <a:srgbClr val="0B0F19"/>
                    </a:solidFill>
                  </a:tcPr>
                </a:tc>
                <a:tc>
                  <a:txBody>
                    <a:bodyPr/>
                    <a:lstStyle/>
                    <a:p>
                      <a:pPr algn="ctr"/>
                      <a:r>
                        <a:rPr sz="900" b="0">
                          <a:solidFill>
                            <a:srgbClr val="F1F5F9"/>
                          </a:solidFill>
                          <a:latin typeface="Calibri"/>
                        </a:rPr>
                        <a:t>0.401 N·m</a:t>
                      </a:r>
                    </a:p>
                  </a:txBody>
                  <a:tcPr>
                    <a:solidFill>
                      <a:srgbClr val="0B0F19"/>
                    </a:solidFill>
                  </a:tcPr>
                </a:tc>
                <a:tc>
                  <a:txBody>
                    <a:bodyPr/>
                    <a:lstStyle/>
                    <a:p>
                      <a:pPr algn="ctr"/>
                      <a:r>
                        <a:rPr sz="900" b="1">
                          <a:solidFill>
                            <a:srgbClr val="10B981"/>
                          </a:solidFill>
                          <a:latin typeface="Calibri"/>
                        </a:rPr>
                        <a:t>4.16%</a:t>
                      </a:r>
                    </a:p>
                  </a:txBody>
                  <a:tcPr>
                    <a:solidFill>
                      <a:srgbClr val="0B0F19"/>
                    </a:solidFill>
                  </a:tcPr>
                </a:tc>
                <a:tc>
                  <a:txBody>
                    <a:bodyPr/>
                    <a:lstStyle/>
                    <a:p>
                      <a:pPr algn="ctr"/>
                      <a:r>
                        <a:rPr sz="900" b="1">
                          <a:solidFill>
                            <a:srgbClr val="06B6D4"/>
                          </a:solidFill>
                          <a:latin typeface="Calibri"/>
                        </a:rPr>
                        <a:t>CONFORME</a:t>
                      </a:r>
                    </a:p>
                  </a:txBody>
                  <a:tcPr>
                    <a:solidFill>
                      <a:srgbClr val="0B0F19"/>
                    </a:solidFill>
                  </a:tcPr>
                </a:tc>
              </a:tr>
              <a:tr h="861060">
                <a:tc>
                  <a:txBody>
                    <a:bodyPr/>
                    <a:lstStyle/>
                    <a:p>
                      <a:pPr algn="l"/>
                      <a:r>
                        <a:rPr sz="900" b="1">
                          <a:solidFill>
                            <a:srgbClr val="F1F5F9"/>
                          </a:solidFill>
                          <a:latin typeface="Calibri"/>
                        </a:rPr>
                        <a:t>Corriente Régimen (24V)</a:t>
                      </a:r>
                    </a:p>
                  </a:txBody>
                  <a:tcPr>
                    <a:solidFill>
                      <a:srgbClr val="131F37"/>
                    </a:solidFill>
                  </a:tcPr>
                </a:tc>
                <a:tc>
                  <a:txBody>
                    <a:bodyPr/>
                    <a:lstStyle/>
                    <a:p>
                      <a:pPr algn="ctr"/>
                      <a:r>
                        <a:rPr sz="900" b="0">
                          <a:solidFill>
                            <a:srgbClr val="F1F5F9"/>
                          </a:solidFill>
                          <a:latin typeface="Calibri"/>
                        </a:rPr>
                        <a:t>0.38 A</a:t>
                      </a:r>
                    </a:p>
                  </a:txBody>
                  <a:tcPr>
                    <a:solidFill>
                      <a:srgbClr val="131F37"/>
                    </a:solidFill>
                  </a:tcPr>
                </a:tc>
                <a:tc>
                  <a:txBody>
                    <a:bodyPr/>
                    <a:lstStyle/>
                    <a:p>
                      <a:pPr algn="ctr"/>
                      <a:r>
                        <a:rPr sz="900" b="0">
                          <a:solidFill>
                            <a:srgbClr val="F1F5F9"/>
                          </a:solidFill>
                          <a:latin typeface="Calibri"/>
                        </a:rPr>
                        <a:t>0.39 A</a:t>
                      </a:r>
                    </a:p>
                  </a:txBody>
                  <a:tcPr>
                    <a:solidFill>
                      <a:srgbClr val="131F37"/>
                    </a:solidFill>
                  </a:tcPr>
                </a:tc>
                <a:tc>
                  <a:txBody>
                    <a:bodyPr/>
                    <a:lstStyle/>
                    <a:p>
                      <a:pPr algn="ctr"/>
                      <a:r>
                        <a:rPr sz="900" b="0">
                          <a:solidFill>
                            <a:srgbClr val="F1F5F9"/>
                          </a:solidFill>
                          <a:latin typeface="Calibri"/>
                        </a:rPr>
                        <a:t>0.39 A</a:t>
                      </a:r>
                    </a:p>
                  </a:txBody>
                  <a:tcPr>
                    <a:solidFill>
                      <a:srgbClr val="131F37"/>
                    </a:solidFill>
                  </a:tcPr>
                </a:tc>
                <a:tc>
                  <a:txBody>
                    <a:bodyPr/>
                    <a:lstStyle/>
                    <a:p>
                      <a:pPr algn="ctr"/>
                      <a:r>
                        <a:rPr sz="900" b="1">
                          <a:solidFill>
                            <a:srgbClr val="10B981"/>
                          </a:solidFill>
                          <a:latin typeface="Calibri"/>
                        </a:rPr>
                        <a:t>2.63%</a:t>
                      </a:r>
                    </a:p>
                  </a:txBody>
                  <a:tcPr>
                    <a:solidFill>
                      <a:srgbClr val="131F37"/>
                    </a:solidFill>
                  </a:tcPr>
                </a:tc>
                <a:tc>
                  <a:txBody>
                    <a:bodyPr/>
                    <a:lstStyle/>
                    <a:p>
                      <a:pPr algn="ctr"/>
                      <a:r>
                        <a:rPr sz="900" b="1">
                          <a:solidFill>
                            <a:srgbClr val="06B6D4"/>
                          </a:solidFill>
                          <a:latin typeface="Calibri"/>
                        </a:rPr>
                        <a:t>CONFORME</a:t>
                      </a:r>
                    </a:p>
                  </a:txBody>
                  <a:tcPr>
                    <a:solidFill>
                      <a:srgbClr val="131F37"/>
                    </a:solidFill>
                  </a:tcPr>
                </a:tc>
              </a:tr>
              <a:tr h="861060">
                <a:tc>
                  <a:txBody>
                    <a:bodyPr/>
                    <a:lstStyle/>
                    <a:p>
                      <a:pPr algn="l"/>
                      <a:r>
                        <a:rPr sz="900" b="1">
                          <a:solidFill>
                            <a:srgbClr val="F1F5F9"/>
                          </a:solidFill>
                          <a:latin typeface="Calibri"/>
                        </a:rPr>
                        <a:t>Tiempo Pulldown (42→4°C)</a:t>
                      </a:r>
                    </a:p>
                  </a:txBody>
                  <a:tcPr>
                    <a:solidFill>
                      <a:srgbClr val="0B0F19"/>
                    </a:solidFill>
                  </a:tcPr>
                </a:tc>
                <a:tc>
                  <a:txBody>
                    <a:bodyPr/>
                    <a:lstStyle/>
                    <a:p>
                      <a:pPr algn="ctr"/>
                      <a:r>
                        <a:rPr sz="900" b="0">
                          <a:solidFill>
                            <a:srgbClr val="F1F5F9"/>
                          </a:solidFill>
                          <a:latin typeface="Calibri"/>
                        </a:rPr>
                        <a:t>54.0 min</a:t>
                      </a:r>
                    </a:p>
                  </a:txBody>
                  <a:tcPr>
                    <a:solidFill>
                      <a:srgbClr val="0B0F19"/>
                    </a:solidFill>
                  </a:tcPr>
                </a:tc>
                <a:tc>
                  <a:txBody>
                    <a:bodyPr/>
                    <a:lstStyle/>
                    <a:p>
                      <a:pPr algn="ctr"/>
                      <a:r>
                        <a:rPr sz="900" b="0">
                          <a:solidFill>
                            <a:srgbClr val="F1F5F9"/>
                          </a:solidFill>
                          <a:latin typeface="Calibri"/>
                        </a:rPr>
                        <a:t>52.8 min</a:t>
                      </a:r>
                    </a:p>
                  </a:txBody>
                  <a:tcPr>
                    <a:solidFill>
                      <a:srgbClr val="0B0F19"/>
                    </a:solidFill>
                  </a:tcPr>
                </a:tc>
                <a:tc>
                  <a:txBody>
                    <a:bodyPr/>
                    <a:lstStyle/>
                    <a:p>
                      <a:pPr algn="ctr"/>
                      <a:r>
                        <a:rPr sz="900" b="0">
                          <a:solidFill>
                            <a:srgbClr val="F1F5F9"/>
                          </a:solidFill>
                          <a:latin typeface="Calibri"/>
                        </a:rPr>
                        <a:t>55.2 min</a:t>
                      </a:r>
                    </a:p>
                  </a:txBody>
                  <a:tcPr>
                    <a:solidFill>
                      <a:srgbClr val="0B0F19"/>
                    </a:solidFill>
                  </a:tcPr>
                </a:tc>
                <a:tc>
                  <a:txBody>
                    <a:bodyPr/>
                    <a:lstStyle/>
                    <a:p>
                      <a:pPr algn="ctr"/>
                      <a:r>
                        <a:rPr sz="900" b="1">
                          <a:solidFill>
                            <a:srgbClr val="10B981"/>
                          </a:solidFill>
                          <a:latin typeface="Calibri"/>
                        </a:rPr>
                        <a:t>2.22%</a:t>
                      </a:r>
                    </a:p>
                  </a:txBody>
                  <a:tcPr>
                    <a:solidFill>
                      <a:srgbClr val="0B0F19"/>
                    </a:solidFill>
                  </a:tcPr>
                </a:tc>
                <a:tc>
                  <a:txBody>
                    <a:bodyPr/>
                    <a:lstStyle/>
                    <a:p>
                      <a:pPr algn="ctr"/>
                      <a:r>
                        <a:rPr sz="900" b="1">
                          <a:solidFill>
                            <a:srgbClr val="06B6D4"/>
                          </a:solidFill>
                          <a:latin typeface="Calibri"/>
                        </a:rPr>
                        <a:t>CONFORME</a:t>
                      </a:r>
                    </a:p>
                  </a:txBody>
                  <a:tcPr>
                    <a:solidFill>
                      <a:srgbClr val="0B0F19"/>
                    </a:solidFill>
                  </a:tcPr>
                </a:tc>
              </a:tr>
              <a:tr h="861060">
                <a:tc>
                  <a:txBody>
                    <a:bodyPr/>
                    <a:lstStyle/>
                    <a:p>
                      <a:pPr algn="l"/>
                      <a:r>
                        <a:rPr sz="900" b="1">
                          <a:solidFill>
                            <a:srgbClr val="F1F5F9"/>
                          </a:solidFill>
                          <a:latin typeface="Calibri"/>
                        </a:rPr>
                        <a:t>Voltaje Back-EMF Suprimido</a:t>
                      </a:r>
                    </a:p>
                  </a:txBody>
                  <a:tcPr>
                    <a:solidFill>
                      <a:srgbClr val="131F37"/>
                    </a:solidFill>
                  </a:tcPr>
                </a:tc>
                <a:tc>
                  <a:txBody>
                    <a:bodyPr/>
                    <a:lstStyle/>
                    <a:p>
                      <a:pPr algn="ctr"/>
                      <a:r>
                        <a:rPr sz="900" b="0">
                          <a:solidFill>
                            <a:srgbClr val="F1F5F9"/>
                          </a:solidFill>
                          <a:latin typeface="Calibri"/>
                        </a:rPr>
                        <a:t>24.50 V</a:t>
                      </a:r>
                    </a:p>
                  </a:txBody>
                  <a:tcPr>
                    <a:solidFill>
                      <a:srgbClr val="131F37"/>
                    </a:solidFill>
                  </a:tcPr>
                </a:tc>
                <a:tc>
                  <a:txBody>
                    <a:bodyPr/>
                    <a:lstStyle/>
                    <a:p>
                      <a:pPr algn="ctr"/>
                      <a:r>
                        <a:rPr sz="900" b="0">
                          <a:solidFill>
                            <a:srgbClr val="F1F5F9"/>
                          </a:solidFill>
                          <a:latin typeface="Calibri"/>
                        </a:rPr>
                        <a:t>24.60 V</a:t>
                      </a:r>
                    </a:p>
                  </a:txBody>
                  <a:tcPr>
                    <a:solidFill>
                      <a:srgbClr val="131F37"/>
                    </a:solidFill>
                  </a:tcPr>
                </a:tc>
                <a:tc>
                  <a:txBody>
                    <a:bodyPr/>
                    <a:lstStyle/>
                    <a:p>
                      <a:pPr algn="ctr"/>
                      <a:r>
                        <a:rPr sz="900" b="0">
                          <a:solidFill>
                            <a:srgbClr val="F1F5F9"/>
                          </a:solidFill>
                          <a:latin typeface="Calibri"/>
                        </a:rPr>
                        <a:t>24.51 V</a:t>
                      </a:r>
                    </a:p>
                  </a:txBody>
                  <a:tcPr>
                    <a:solidFill>
                      <a:srgbClr val="131F37"/>
                    </a:solidFill>
                  </a:tcPr>
                </a:tc>
                <a:tc>
                  <a:txBody>
                    <a:bodyPr/>
                    <a:lstStyle/>
                    <a:p>
                      <a:pPr algn="ctr"/>
                      <a:r>
                        <a:rPr sz="900" b="1">
                          <a:solidFill>
                            <a:srgbClr val="10B981"/>
                          </a:solidFill>
                          <a:latin typeface="Calibri"/>
                        </a:rPr>
                        <a:t>0.04%</a:t>
                      </a:r>
                    </a:p>
                  </a:txBody>
                  <a:tcPr>
                    <a:solidFill>
                      <a:srgbClr val="131F37"/>
                    </a:solidFill>
                  </a:tcPr>
                </a:tc>
                <a:tc>
                  <a:txBody>
                    <a:bodyPr/>
                    <a:lstStyle/>
                    <a:p>
                      <a:pPr algn="ctr"/>
                      <a:r>
                        <a:rPr sz="900" b="1">
                          <a:solidFill>
                            <a:srgbClr val="06B6D4"/>
                          </a:solidFill>
                          <a:latin typeface="Calibri"/>
                        </a:rPr>
                        <a:t>CONFORME</a:t>
                      </a:r>
                    </a:p>
                  </a:txBody>
                  <a:tcPr>
                    <a:solidFill>
                      <a:srgbClr val="131F37"/>
                    </a:solidFill>
                  </a:tcPr>
                </a:tc>
              </a:tr>
            </a:tbl>
          </a:graphicData>
        </a:graphic>
      </p:graphicFrame>
      <p:sp>
        <p:nvSpPr>
          <p:cNvPr id="7" name="Rounded Rectangle 6"/>
          <p:cNvSpPr/>
          <p:nvPr/>
        </p:nvSpPr>
        <p:spPr>
          <a:xfrm>
            <a:off x="7498079"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680959" y="1335024"/>
            <a:ext cx="1883664"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RIGOR METODOLÓGICO</a:t>
            </a:r>
          </a:p>
        </p:txBody>
      </p:sp>
      <p:sp>
        <p:nvSpPr>
          <p:cNvPr id="9" name="TextBox 8"/>
          <p:cNvSpPr txBox="1"/>
          <p:nvPr/>
        </p:nvSpPr>
        <p:spPr>
          <a:xfrm>
            <a:off x="7680959" y="1664207"/>
            <a:ext cx="3840479" cy="475488"/>
          </a:xfrm>
          <a:prstGeom prst="rect">
            <a:avLst/>
          </a:prstGeom>
          <a:noFill/>
        </p:spPr>
        <p:txBody>
          <a:bodyPr wrap="none" lIns="0" tIns="0" rIns="0" bIns="0">
            <a:spAutoFit/>
          </a:bodyPr>
          <a:lstStyle/>
          <a:p>
            <a:r>
              <a:rPr sz="1800" b="1">
                <a:solidFill>
                  <a:srgbClr val="10B981"/>
                </a:solidFill>
                <a:latin typeface="Segoe UI"/>
              </a:rPr>
              <a:t>&lt; 4.2% </a:t>
            </a:r>
            <a:r>
              <a:rPr sz="1000">
                <a:solidFill>
                  <a:srgbClr val="94A3B8"/>
                </a:solidFill>
                <a:latin typeface="Segoe UI"/>
              </a:rPr>
              <a:t>Error Máximo Experimental</a:t>
            </a:r>
          </a:p>
        </p:txBody>
      </p:sp>
      <p:sp>
        <p:nvSpPr>
          <p:cNvPr id="10" name="TextBox 9"/>
          <p:cNvSpPr txBox="1"/>
          <p:nvPr/>
        </p:nvSpPr>
        <p:spPr>
          <a:xfrm>
            <a:off x="7680959" y="2157984"/>
            <a:ext cx="3840479" cy="347472"/>
          </a:xfrm>
          <a:prstGeom prst="rect">
            <a:avLst/>
          </a:prstGeom>
          <a:noFill/>
        </p:spPr>
        <p:txBody>
          <a:bodyPr wrap="square" lIns="0" tIns="0" rIns="0" bIns="0">
            <a:spAutoFit/>
          </a:bodyPr>
          <a:lstStyle/>
          <a:p>
            <a:r>
              <a:rPr sz="1150" b="1">
                <a:solidFill>
                  <a:srgbClr val="FFFFFF"/>
                </a:solidFill>
                <a:latin typeface="Segoe UI"/>
              </a:rPr>
              <a:t>Convergencia de Ingeniería (Apartado 19.0)</a:t>
            </a:r>
          </a:p>
        </p:txBody>
      </p:sp>
      <p:sp>
        <p:nvSpPr>
          <p:cNvPr id="11" name="TextBox 10"/>
          <p:cNvSpPr txBox="1"/>
          <p:nvPr/>
        </p:nvSpPr>
        <p:spPr>
          <a:xfrm>
            <a:off x="7680959"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Concordancia Superior al 96%: </a:t>
            </a:r>
            <a:r>
              <a:rPr sz="950">
                <a:solidFill>
                  <a:srgbClr val="94A3B8"/>
                </a:solidFill>
                <a:latin typeface="Calibri"/>
              </a:rPr>
              <a:t>Todos los errores porcentuales relativos entre la fórmula teórica, la simulación por elementos finitos y la medición en prototipo están por debajo del 4.2%.</a:t>
            </a:r>
          </a:p>
          <a:p>
            <a:pPr>
              <a:spcAft>
                <a:spcPts val="400"/>
              </a:spcAft>
            </a:pPr>
            <a:r>
              <a:rPr sz="950" b="1">
                <a:solidFill>
                  <a:srgbClr val="F1F5F9"/>
                </a:solidFill>
                <a:latin typeface="Calibri"/>
              </a:rPr>
              <a:t>• Validación Mecánica: </a:t>
            </a:r>
            <a:r>
              <a:rPr sz="950">
                <a:solidFill>
                  <a:srgbClr val="94A3B8"/>
                </a:solidFill>
                <a:latin typeface="Calibri"/>
              </a:rPr>
              <a:t>La flecha medida de 1.39 mm corrobora la rigidez de la bandeja ante cargas dinámicas asimétricas de 1+4+1.</a:t>
            </a:r>
          </a:p>
          <a:p>
            <a:pPr>
              <a:spcAft>
                <a:spcPts val="400"/>
              </a:spcAft>
            </a:pPr>
            <a:r>
              <a:rPr sz="950" b="1">
                <a:solidFill>
                  <a:srgbClr val="F1F5F9"/>
                </a:solidFill>
                <a:latin typeface="Calibri"/>
              </a:rPr>
              <a:t>• Validación de Potencia: </a:t>
            </a:r>
            <a:r>
              <a:rPr sz="950">
                <a:solidFill>
                  <a:srgbClr val="94A3B8"/>
                </a:solidFill>
                <a:latin typeface="Calibri"/>
              </a:rPr>
              <a:t>El transitorio inductivo medido con osciloscopio en el drenador del MOSFET quedó en 24.51 V, con un error menor al 0.1% respecto al diodo flyback teórico.</a:t>
            </a:r>
          </a:p>
          <a:p>
            <a:pPr>
              <a:spcAft>
                <a:spcPts val="400"/>
              </a:spcAft>
            </a:pPr>
            <a:r>
              <a:rPr sz="950" b="1">
                <a:solidFill>
                  <a:srgbClr val="F1F5F9"/>
                </a:solidFill>
                <a:latin typeface="Calibri"/>
              </a:rPr>
              <a:t>• Aprobación de Rúbrica: </a:t>
            </a:r>
            <a:r>
              <a:rPr sz="950">
                <a:solidFill>
                  <a:srgbClr val="94A3B8"/>
                </a:solidFill>
                <a:latin typeface="Calibri"/>
              </a:rPr>
              <a:t>Se cumple al 100% el criterio de correlación analítica-experimental exigido para la titulación en FIME.</a:t>
            </a:r>
          </a:p>
        </p:txBody>
      </p:sp>
      <p:sp>
        <p:nvSpPr>
          <p:cNvPr id="12" name="Rectangle 11"/>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4" name="TextBox 13"/>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14 de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14</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CONCLUSIONES DE INGENIERÍA, REPOSITORIO Y DEMOSTRACIÓN EN VIVO</a:t>
            </a:r>
          </a:p>
          <a:p>
            <a:r>
              <a:rPr sz="950" b="1">
                <a:solidFill>
                  <a:srgbClr val="06B6D4"/>
                </a:solidFill>
                <a:latin typeface="Segoe UI"/>
              </a:rPr>
              <a:t>SÍNTESIS DEL PROYECTO, IMPACTO COMUNITARIO Y RÚBRICA FIME CUMPLIDA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DEFENSA FINAL • EQUIPO EXPENDEX</a:t>
            </a:r>
          </a:p>
        </p:txBody>
      </p:sp>
      <p:sp>
        <p:nvSpPr>
          <p:cNvPr id="6" name="Rounded Rectangle 5"/>
          <p:cNvSpPr/>
          <p:nvPr/>
        </p:nvSpPr>
        <p:spPr>
          <a:xfrm>
            <a:off x="457200" y="1188720"/>
            <a:ext cx="65836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881628"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SÍNTESIS DE DESARROLLO DEL PROYECTO (PIA)</a:t>
            </a:r>
          </a:p>
        </p:txBody>
      </p:sp>
      <p:sp>
        <p:nvSpPr>
          <p:cNvPr id="8" name="TextBox 7"/>
          <p:cNvSpPr txBox="1"/>
          <p:nvPr/>
        </p:nvSpPr>
        <p:spPr>
          <a:xfrm>
            <a:off x="640080" y="1664207"/>
            <a:ext cx="6217920" cy="347472"/>
          </a:xfrm>
          <a:prstGeom prst="rect">
            <a:avLst/>
          </a:prstGeom>
          <a:noFill/>
        </p:spPr>
        <p:txBody>
          <a:bodyPr wrap="square" lIns="0" tIns="0" rIns="0" bIns="0">
            <a:spAutoFit/>
          </a:bodyPr>
          <a:lstStyle/>
          <a:p>
            <a:r>
              <a:rPr sz="1150" b="1">
                <a:solidFill>
                  <a:srgbClr val="FFFFFF"/>
                </a:solidFill>
                <a:latin typeface="Segoe UI"/>
              </a:rPr>
              <a:t>Alineación Curricular y Viabilidad Comprobada</a:t>
            </a:r>
          </a:p>
        </p:txBody>
      </p:sp>
      <p:sp>
        <p:nvSpPr>
          <p:cNvPr id="9" name="TextBox 8"/>
          <p:cNvSpPr txBox="1"/>
          <p:nvPr/>
        </p:nvSpPr>
        <p:spPr>
          <a:xfrm>
            <a:off x="640080" y="1993391"/>
            <a:ext cx="6217920" cy="4224528"/>
          </a:xfrm>
          <a:prstGeom prst="rect">
            <a:avLst/>
          </a:prstGeom>
          <a:noFill/>
        </p:spPr>
        <p:txBody>
          <a:bodyPr wrap="square" lIns="0" tIns="0" rIns="0" bIns="0">
            <a:spAutoFit/>
          </a:bodyPr>
          <a:lstStyle/>
          <a:p>
            <a:pPr>
              <a:spcAft>
                <a:spcPts val="400"/>
              </a:spcAft>
            </a:pPr>
            <a:r>
              <a:rPr sz="950" b="1">
                <a:solidFill>
                  <a:srgbClr val="F1F5F9"/>
                </a:solidFill>
                <a:latin typeface="Calibri"/>
              </a:rPr>
              <a:t>• Cumplimiento FIME UANL al 100%: </a:t>
            </a:r>
            <a:r>
              <a:rPr sz="950">
                <a:solidFill>
                  <a:srgbClr val="94A3B8"/>
                </a:solidFill>
                <a:latin typeface="Calibri"/>
              </a:rPr>
              <a:t>Integración multidisciplinar exitosa de mecánica 3D (Fusion 360), electrónica de potencia (EasyEDA), firmware FreeRTOS (ESP32) y desarrollo web dual.</a:t>
            </a:r>
          </a:p>
          <a:p>
            <a:pPr>
              <a:spcAft>
                <a:spcPts val="400"/>
              </a:spcAft>
            </a:pPr>
            <a:r>
              <a:rPr sz="950" b="1">
                <a:solidFill>
                  <a:srgbClr val="F1F5F9"/>
                </a:solidFill>
                <a:latin typeface="Calibri"/>
              </a:rPr>
              <a:t>• Retos Técnicos Superados: </a:t>
            </a:r>
            <a:r>
              <a:rPr sz="950">
                <a:solidFill>
                  <a:srgbClr val="94A3B8"/>
                </a:solidFill>
                <a:latin typeface="Calibri"/>
              </a:rPr>
              <a:t>Solución analítica al pandeo de charolas (Euler-Bernoulli), supresión de Back-EMF con aislamiento galvánico y refrigeración estricta NOM-251 a 42°C exterior.</a:t>
            </a:r>
          </a:p>
          <a:p>
            <a:pPr>
              <a:spcAft>
                <a:spcPts val="400"/>
              </a:spcAft>
            </a:pPr>
            <a:r>
              <a:rPr sz="950" b="1">
                <a:solidFill>
                  <a:srgbClr val="F1F5F9"/>
                </a:solidFill>
                <a:latin typeface="Calibri"/>
              </a:rPr>
              <a:t>• Manufactura Nacional Factible: </a:t>
            </a:r>
            <a:r>
              <a:rPr sz="950">
                <a:solidFill>
                  <a:srgbClr val="94A3B8"/>
                </a:solidFill>
                <a:latin typeface="Calibri"/>
              </a:rPr>
              <a:t>BOM real de $46,463.12 MXN que demuestra que no se requiere importar tecnología extranjera costosa para innovar en automatización.</a:t>
            </a:r>
          </a:p>
          <a:p>
            <a:pPr>
              <a:spcAft>
                <a:spcPts val="400"/>
              </a:spcAft>
            </a:pPr>
            <a:r>
              <a:rPr sz="950" b="1">
                <a:solidFill>
                  <a:srgbClr val="F1F5F9"/>
                </a:solidFill>
                <a:latin typeface="Calibri"/>
              </a:rPr>
              <a:t>• Impacto Social Comunitario: </a:t>
            </a:r>
            <a:r>
              <a:rPr sz="950">
                <a:solidFill>
                  <a:srgbClr val="94A3B8"/>
                </a:solidFill>
                <a:latin typeface="Calibri"/>
              </a:rPr>
              <a:t>Dignifica la alimentación estudiantil con comida caliente balanceada a $85 MXN en 10 segundos, beneficiando a loncherías locales.</a:t>
            </a:r>
          </a:p>
        </p:txBody>
      </p:sp>
      <p:sp>
        <p:nvSpPr>
          <p:cNvPr id="10" name="Rounded Rectangle 9"/>
          <p:cNvSpPr/>
          <p:nvPr/>
        </p:nvSpPr>
        <p:spPr>
          <a:xfrm>
            <a:off x="7315200" y="1188720"/>
            <a:ext cx="4389120" cy="5166360"/>
          </a:xfrm>
          <a:prstGeom prst="roundRect">
            <a:avLst>
              <a:gd name="adj" fmla="val 3500"/>
            </a:avLst>
          </a:prstGeom>
          <a:solidFill>
            <a:srgbClr val="131F37"/>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79" y="1325880"/>
            <a:ext cx="4023360" cy="4846320"/>
          </a:xfrm>
          <a:prstGeom prst="rect">
            <a:avLst/>
          </a:prstGeom>
          <a:noFill/>
        </p:spPr>
        <p:txBody>
          <a:bodyPr wrap="square">
            <a:spAutoFit/>
          </a:bodyPr>
          <a:lstStyle/>
          <a:p>
            <a:r>
              <a:rPr sz="1300" b="1">
                <a:solidFill>
                  <a:srgbClr val="F59E0B"/>
                </a:solidFill>
                <a:latin typeface="Segoe UI"/>
              </a:rPr>
              <a:t>REPOSITORIO DIGITAL OFICIAL</a:t>
            </a:r>
          </a:p>
          <a:p>
            <a:pPr>
              <a:spcBef>
                <a:spcPts val="400"/>
              </a:spcBef>
            </a:pPr>
            <a:r>
              <a:rPr sz="950">
                <a:solidFill>
                  <a:srgbClr val="F1F5F9"/>
                </a:solidFill>
                <a:latin typeface="Calibri"/>
              </a:rPr>
              <a:t>Acceso abierto a todo el código, esquemáticos y memorias:</a:t>
            </a:r>
          </a:p>
          <a:p>
            <a:pPr>
              <a:spcBef>
                <a:spcPts val="400"/>
              </a:spcBef>
            </a:pPr>
            <a:r>
              <a:rPr sz="1000" b="1">
                <a:solidFill>
                  <a:srgbClr val="06B6D4"/>
                </a:solidFill>
                <a:latin typeface="Calibri"/>
              </a:rPr>
              <a:t>🔗 github.com/Anubys6/ExpendeX-Smart-Vending-FIME</a:t>
            </a:r>
          </a:p>
          <a:p>
            <a:pPr>
              <a:spcBef>
                <a:spcPts val="1400"/>
              </a:spcBef>
            </a:pPr>
            <a:r>
              <a:rPr sz="1150" b="1">
                <a:solidFill>
                  <a:srgbClr val="FFFFFF"/>
                </a:solidFill>
                <a:latin typeface="Segoe UI"/>
              </a:rPr>
              <a:t>DEMOSTRACIONES EN VIVO ASIGNADAS:</a:t>
            </a:r>
          </a:p>
          <a:p>
            <a:pPr>
              <a:spcBef>
                <a:spcPts val="800"/>
              </a:spcBef>
            </a:pPr>
            <a:r>
              <a:rPr sz="950" b="1">
                <a:solidFill>
                  <a:srgbClr val="F59E0B"/>
                </a:solidFill>
                <a:latin typeface="Calibri"/>
              </a:rPr>
              <a:t>• 💻 Emiliano Sánchez Martínez:
  </a:t>
            </a:r>
            <a:r>
              <a:rPr sz="900">
                <a:solidFill>
                  <a:srgbClr val="F1F5F9"/>
                </a:solidFill>
                <a:latin typeface="Calibri"/>
              </a:rPr>
              <a:t>Quiosco Web Táctil 10.1" (localhost:3000) con cobro QR Mercado Pago y Panel Admin /admin FIFO.</a:t>
            </a:r>
          </a:p>
          <a:p>
            <a:pPr>
              <a:spcBef>
                <a:spcPts val="800"/>
              </a:spcBef>
            </a:pPr>
            <a:r>
              <a:rPr sz="950" b="1">
                <a:solidFill>
                  <a:srgbClr val="06B6D4"/>
                </a:solidFill>
                <a:latin typeface="Calibri"/>
              </a:rPr>
              <a:t>• 👑 Samuel Tovar Mújica:
  </a:t>
            </a:r>
            <a:r>
              <a:rPr sz="900">
                <a:solidFill>
                  <a:srgbClr val="F1F5F9"/>
                </a:solidFill>
                <a:latin typeface="Calibri"/>
              </a:rPr>
              <a:t>Simulación Concurrente FreeRTOS en Wokwi (36 actuadores) y Modelo Digital 3D Explosionado en Fusion 360.</a:t>
            </a:r>
          </a:p>
          <a:p>
            <a:pPr>
              <a:spcBef>
                <a:spcPts val="800"/>
              </a:spcBef>
            </a:pPr>
            <a:r>
              <a:rPr sz="950" b="1">
                <a:solidFill>
                  <a:srgbClr val="10B981"/>
                </a:solidFill>
                <a:latin typeface="Calibri"/>
              </a:rPr>
              <a:t>• ⚡ Francisco Reyes Santiago:
  </a:t>
            </a:r>
            <a:r>
              <a:rPr sz="900">
                <a:solidFill>
                  <a:srgbClr val="F1F5F9"/>
                </a:solidFill>
                <a:latin typeface="Calibri"/>
              </a:rPr>
              <a:t>Simulación Matricial EasyEDA (Matriz MOSFET 6x6, PC817C) y Oscilograma de Supresión de Back-EMF con Flyback.</a:t>
            </a:r>
          </a:p>
        </p:txBody>
      </p:sp>
      <p:sp>
        <p:nvSpPr>
          <p:cNvPr id="12" name="Rectangle 11"/>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4" name="TextBox 13"/>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15 de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