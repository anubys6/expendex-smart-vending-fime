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anl_log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"/>
            <a:ext cx="1005840" cy="640080"/>
          </a:xfrm>
          <a:prstGeom prst="rect">
            <a:avLst/>
          </a:prstGeom>
        </p:spPr>
      </p:pic>
      <p:pic>
        <p:nvPicPr>
          <p:cNvPr id="4" name="Picture 3" descr="fime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91440"/>
            <a:ext cx="100584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10972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UNIVERSIDAD AUTÓNOMA DE NUEVO LEÓN | FACULTAD DE INGENIERÍA MECÁNICA Y ELÉCTRICA</a:t>
            </a:r>
          </a:p>
          <a:p>
            <a:r>
              <a:rPr sz="950">
                <a:solidFill>
                  <a:srgbClr val="06B6D4"/>
                </a:solidFill>
                <a:latin typeface="Calibri"/>
              </a:rPr>
              <a:t>Unidad de Aprendizaje: Proyecto de Ingeniería Aplicada | Examen Ordinario Oficial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67512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3840480" cy="320040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10B981"/>
                </a:solidFill>
                <a:latin typeface="Calibri"/>
              </a:rPr>
              <a:t>MEMORIA DE DESARROLLO E INGENIERÍA MECATRÓNICA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EXPENDEX</a:t>
            </a:r>
          </a:p>
          <a:p>
            <a:r>
              <a:rPr sz="1300" b="1">
                <a:solidFill>
                  <a:srgbClr val="06B6D4"/>
                </a:solidFill>
                <a:latin typeface="Calibri"/>
              </a:rPr>
              <a:t>Micro-Restaurante Automatizado Híbrido: Retos de Diseño, Simulación y 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>
                <a:solidFill>
                  <a:srgbClr val="F1F5F9"/>
                </a:solidFill>
                <a:latin typeface="Calibri"/>
              </a:rPr>
              <a:t>Presentación técnica fundamentada en las evidencias analíticas, esquemáticos en EasyEDA, gemelo digital en Fusion 360 y firmware sobre ESP32 en Wokwi. Demostración de viabilidad técnica y manufactura nacional.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6126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59E0B"/>
                </a:solidFill>
                <a:latin typeface="Calibri"/>
              </a:rPr>
              <a:t>EQUIPO DE DESARROLLO Y RESPONSABILIDADES:
</a:t>
            </a:r>
          </a:p>
          <a:p>
            <a:r>
              <a:rPr sz="900" b="1">
                <a:solidFill>
                  <a:srgbClr val="06B6D4"/>
                </a:solidFill>
                <a:latin typeface="Calibri"/>
              </a:rPr>
              <a:t>• Samuel Tovar Mújica (Mat. 2077933): </a:t>
            </a:r>
            <a:r>
              <a:rPr sz="880">
                <a:solidFill>
                  <a:srgbClr val="F1F5F9"/>
                </a:solidFill>
                <a:latin typeface="Calibri"/>
              </a:rPr>
              <a:t>Jefe del Proyecto. Modelado 3D CAD en Fusion 360 (127 piezas), Renders Oficiales, Firmware ESP32 (Wokwi), Memorias de Cálculo y Documentación.</a:t>
            </a:r>
          </a:p>
          <a:p>
            <a:r>
              <a:rPr sz="900" b="1">
                <a:solidFill>
                  <a:srgbClr val="06B6D4"/>
                </a:solidFill>
                <a:latin typeface="Calibri"/>
              </a:rPr>
              <a:t>• Emiliano Sánchez Martínez (Mat. 2012856): </a:t>
            </a:r>
            <a:r>
              <a:rPr sz="880">
                <a:solidFill>
                  <a:srgbClr val="F1F5F9"/>
                </a:solidFill>
                <a:latin typeface="Calibri"/>
              </a:rPr>
              <a:t>Desarrollo de Plataforma Web Dual (Quiosco Táctil 10.1" con QR Mercado Pago y Panel Admin /admin con gestión FIFO).</a:t>
            </a:r>
          </a:p>
          <a:p>
            <a:r>
              <a:rPr sz="900" b="1">
                <a:solidFill>
                  <a:srgbClr val="06B6D4"/>
                </a:solidFill>
                <a:latin typeface="Calibri"/>
              </a:rPr>
              <a:t>• Francisco Reyes Santiago (Mat. 1768161): </a:t>
            </a:r>
            <a:r>
              <a:rPr sz="880">
                <a:solidFill>
                  <a:srgbClr val="F1F5F9"/>
                </a:solidFill>
                <a:latin typeface="Calibri"/>
              </a:rPr>
              <a:t>Diseño y Simulación de Electrónica de Potencia en EasyEDA (Matriz MOSFET 6x6, optoacopladores PC817C, IPC-2221B) y Simulación Digital.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097280"/>
            <a:ext cx="429768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2_Vista_Isometrica_Frontal_Derecha_CAD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34440"/>
            <a:ext cx="3931920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58521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Calibri"/>
              </a:rPr>
              <a:t>Modelo CAD Oficial Fusion 360 | Copete Superior HMI 10.1"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/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CONTEXTO REAL EN FIME UANL Y PLANTEAMIENTO DEL PROBLEMA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La problemática cotidiana de alimentación en turnos continuos y el alcance de ingeniería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PROBLEMA DE INGENIERÍA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850745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43F5E"/>
                </a:solidFill>
                <a:latin typeface="Calibri"/>
              </a:rPr>
              <a:t>LA REALIDAD ESTUDIANTIL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Jornadas de 7:00 a 21:00 hrs en FIME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320040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Horario Continuo: </a:t>
            </a:r>
            <a:r>
              <a:rPr sz="900">
                <a:solidFill>
                  <a:srgbClr val="F1F5F9"/>
                </a:solidFill>
                <a:latin typeface="Calibri"/>
              </a:rPr>
              <a:t>La comunidad estudiantil y docente permanece más de 8 horas diarias en campus con recesos entre clases de apenas 15 a 20 minutos.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Saturación Física: </a:t>
            </a:r>
            <a:r>
              <a:rPr sz="900">
                <a:solidFill>
                  <a:srgbClr val="F1F5F9"/>
                </a:solidFill>
                <a:latin typeface="Calibri"/>
              </a:rPr>
              <a:t>Las cafeterías colapsan con filas de más de 35 minutos en horas pico (12:00 a 15:00 hrs), consumiendo todo el tiempo libre.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Inviabilidad de Apps: </a:t>
            </a:r>
            <a:r>
              <a:rPr sz="900">
                <a:solidFill>
                  <a:srgbClr val="F1F5F9"/>
                </a:solidFill>
                <a:latin typeface="Calibri"/>
              </a:rPr>
              <a:t>El delivery externo cobra tarifas abusivas ($160-$200 MXN) y no puede ingresar a los edificios de la facultad.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2172614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Calibri"/>
              </a:rPr>
              <a:t>LA FALLA DEL VENDING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Monopolio de Ultraprocesados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20824"/>
            <a:ext cx="320040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Cero Opciones Calientes: </a:t>
            </a:r>
            <a:r>
              <a:rPr sz="900">
                <a:solidFill>
                  <a:srgbClr val="F1F5F9"/>
                </a:solidFill>
                <a:latin typeface="Calibri"/>
              </a:rPr>
              <a:t>El 100% de las máquinas vending en el campus ofrecen únicamente papas fritas, galletas y sodas con múltiples sellos negros.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Deterioro Físico: </a:t>
            </a:r>
            <a:r>
              <a:rPr sz="900">
                <a:solidFill>
                  <a:srgbClr val="F1F5F9"/>
                </a:solidFill>
                <a:latin typeface="Calibri"/>
              </a:rPr>
              <a:t>La dependencia forzada a carbohidratos simples provoca fatiga crónica, somnolencia postprandial y gastritis en jóvenes foráneos.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Hardware Antiguo: </a:t>
            </a:r>
            <a:r>
              <a:rPr sz="900">
                <a:solidFill>
                  <a:srgbClr val="F1F5F9"/>
                </a:solidFill>
                <a:latin typeface="Calibri"/>
              </a:rPr>
              <a:t>Monederos mecánicos que fallan con monedas deformadas y nulo reporte de inventario.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1325880"/>
            <a:ext cx="2253081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OBJETIVO DE INGENIERÍA (PIA)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Solución Integral Validada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0824"/>
            <a:ext cx="320040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Enfoque Práctico: </a:t>
            </a:r>
            <a:r>
              <a:rPr sz="900">
                <a:solidFill>
                  <a:srgbClr val="F1F5F9"/>
                </a:solidFill>
                <a:latin typeface="Calibri"/>
              </a:rPr>
              <a:t>Diseñar, calcular analíticamente, simular y prototipar una máquina vending híbrida para comida caliente y bebidas frías.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Requisitos Críticos: </a:t>
            </a:r>
            <a:r>
              <a:rPr sz="900">
                <a:solidFill>
                  <a:srgbClr val="F1F5F9"/>
                </a:solidFill>
                <a:latin typeface="Calibri"/>
              </a:rPr>
              <a:t>Despacho en menos de 15 segundos, refrigeración grado alimento NOM-251 (4°C-6°C) y cobro digital sin monedas.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Manufactura Nacional: </a:t>
            </a:r>
            <a:r>
              <a:rPr sz="900">
                <a:solidFill>
                  <a:srgbClr val="F1F5F9"/>
                </a:solidFill>
                <a:latin typeface="Calibri"/>
              </a:rPr>
              <a:t>Optimizar costos de fabricación por debajo de $50,000 MXN frente a equipos importados de $180,000+ MXN.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2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MECÁNICO 1: CONCEPCIÓN DEL CHASIS Y COPETE ERGONÓMICO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Modelado paramétrico 1:1 en Autodesk Fusion 360 (127 piezas) en chapa de acero calibre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DISEÑO CAD 3D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74950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DESAFÍO ESTRUCTURAL Y ERGONÓMICO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Innovación en el Copete Frontal Superior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4937759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Reto: </a:t>
            </a:r>
            <a:r>
              <a:rPr sz="900">
                <a:solidFill>
                  <a:srgbClr val="F1F5F9"/>
                </a:solidFill>
                <a:latin typeface="Calibri"/>
              </a:rPr>
              <a:t>Integrar una pantalla táctil de 10.1 pulgadas, lector óptico QR y bocina guía a la altura de la vista sin perforar la cámara térmica ni restar volumen útil de bandejas.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Solución de Diseño: </a:t>
            </a:r>
            <a:r>
              <a:rPr sz="900">
                <a:solidFill>
                  <a:srgbClr val="F1F5F9"/>
                </a:solidFill>
                <a:latin typeface="Calibri"/>
              </a:rPr>
              <a:t>Se concibió un copete superior inclinado a 15° en chapa de acero calibre 18, aislado mecánicamente de la zona refrigerada.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Dimensiones Generales: </a:t>
            </a:r>
            <a:r>
              <a:rPr sz="900">
                <a:solidFill>
                  <a:srgbClr val="F1F5F9"/>
                </a:solidFill>
                <a:latin typeface="Calibri"/>
              </a:rPr>
              <a:t>1830 mm de altura, 950 mm de ancho y 880 mm de profundidad. Diseñada para cruzar puertas estándar de laboratorio y pasillos.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Chasis Paramétrico: </a:t>
            </a:r>
            <a:r>
              <a:rPr sz="900">
                <a:solidFill>
                  <a:srgbClr val="F1F5F9"/>
                </a:solidFill>
                <a:latin typeface="Calibri"/>
              </a:rPr>
              <a:t>127 componentes modelados en Fusion 360 listos para corte láser y doblez CNC, acabado en pintura electrostática gris industrial.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Hermeticidad: </a:t>
            </a:r>
            <a:r>
              <a:rPr sz="900">
                <a:solidFill>
                  <a:srgbClr val="F1F5F9"/>
                </a:solidFill>
                <a:latin typeface="Calibri"/>
              </a:rPr>
              <a:t>Puerta frontal con triple bisagra de uso rudo y burlete magnético perimetral de sellado continuo.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188720"/>
            <a:ext cx="57150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Vista_Isometrica_Frontal_Derecha_CA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261872"/>
            <a:ext cx="5568696" cy="23682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89320" y="3794760"/>
            <a:ext cx="57150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xpendeX_Render_CAD_Detalle_Pantalla_10pulg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3867912"/>
            <a:ext cx="5568696" cy="24140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3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2" grpId="0" animBg="1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MECÁNICO 2: BANDEJAS ASIMÉTRICAS 1+4+1 Y RIGIDEZ ESTRUCTURAL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Cálculo analítico de deflexión elástica bajo carga asimétrica severa de recipientes y latas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MEMORIA DE CÁLCULO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701491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MEMORIA ANALÍTICA DE FLEXIÓN (EULER-BERNOULLI)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Calibri"/>
              </a:rPr>
              <a:t>1.34 mm </a:t>
            </a:r>
            <a:r>
              <a:rPr sz="1100">
                <a:solidFill>
                  <a:srgbClr val="94A3B8"/>
                </a:solidFill>
                <a:latin typeface="Calibri"/>
              </a:rPr>
              <a:t>Deflexión (&lt; 1.50 mm)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Distribución de Carga Mixta: Comida (850 g) + Bebidas (355 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Problema Físico: </a:t>
            </a:r>
            <a:r>
              <a:rPr sz="900">
                <a:solidFill>
                  <a:srgbClr val="F1F5F9"/>
                </a:solidFill>
                <a:latin typeface="Calibri"/>
              </a:rPr>
              <a:t>Colocar recipientes pesados de guiso casero (850 g) en una charola estándar causa pandeo central, desalineando los engranes de los motores.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Arquitectura Asimétrica 1+4+1: </a:t>
            </a:r>
            <a:r>
              <a:rPr sz="900">
                <a:solidFill>
                  <a:srgbClr val="F1F5F9"/>
                </a:solidFill>
                <a:latin typeface="Calibri"/>
              </a:rPr>
              <a:t>Se ubicaron las comidas pesadas en los extremos laterales (canales 1 y 6, adyacentes a las guías telescópicas) y las 4 bebidas en el centro.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Momento Flector Máximo: </a:t>
            </a:r>
            <a:r>
              <a:rPr sz="900">
                <a:solidFill>
                  <a:srgbClr val="F1F5F9"/>
                </a:solidFill>
                <a:latin typeface="Calibri"/>
              </a:rPr>
              <a:t>Calculado en x = 0.475 m: M_max = 35.16 N·m.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Deflexión Elástica Central: </a:t>
            </a:r>
            <a:r>
              <a:rPr sz="900">
                <a:solidFill>
                  <a:srgbClr val="F1F5F9"/>
                </a:solidFill>
                <a:latin typeface="Calibri"/>
              </a:rPr>
              <a:t>y_max = 1.34 mm frente al límite de servicio de 1.50 mm (Norma AISC / Euler-Bernoulli). Factor de seguridad FS = 1.12.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Refuerzo Estructural: </a:t>
            </a:r>
            <a:r>
              <a:rPr sz="900">
                <a:solidFill>
                  <a:srgbClr val="F1F5F9"/>
                </a:solidFill>
                <a:latin typeface="Calibri"/>
              </a:rPr>
              <a:t>Pestañas perimetrales dobladas en 'C' en chapa inoxidable AISI 304 de 1.2 mm y guías telescópicas industriales de 45 kg por nivel.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11_CAD_Fusion360_Bandejas_1mas4mas1_Espirales_Comida_Beb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23682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79476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g14_CAD_Fusion360_Detalle_Guias_Telescopicas_Bandejas_Cerrad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867912"/>
            <a:ext cx="5340096" cy="24140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4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MECÁNICO 3: CINEMÁTICA Y PAR TORSOR DE ESPIRALES HELICOIDALES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Dimensionamiento de espirales sobredimensionadas de Ø 144 mm para evitar atoramiento de empaques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CINEMÁTICA Y TORQUE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816351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Calibri"/>
              </a:rPr>
              <a:t>MODELO 3: PAR TORSOR Y EMPUJE AXIAL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9E0B"/>
                </a:solidFill>
                <a:latin typeface="Calibri"/>
              </a:rPr>
              <a:t>0.385 N·m </a:t>
            </a:r>
            <a:r>
              <a:rPr sz="1100">
                <a:solidFill>
                  <a:srgbClr val="94A3B8"/>
                </a:solidFill>
                <a:latin typeface="Calibri"/>
              </a:rPr>
              <a:t>Torque Requerido (T_stall = 1.8 N·m)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Dimensionamiento de Espiral Comida vs Bebida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Reto: </a:t>
            </a:r>
            <a:r>
              <a:rPr sz="900">
                <a:solidFill>
                  <a:srgbClr val="F1F5F9"/>
                </a:solidFill>
                <a:latin typeface="Calibri"/>
              </a:rPr>
              <a:t>Los recipientes de comida corrida cuadrados/rectangulares no giran en espirales estándar de refrescos (Ø 70 mm) y causan atascos por fricción.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Solución de Espiral Gigante: </a:t>
            </a:r>
            <a:r>
              <a:rPr sz="900">
                <a:solidFill>
                  <a:srgbClr val="F1F5F9"/>
                </a:solidFill>
                <a:latin typeface="Calibri"/>
              </a:rPr>
              <a:t>Se diseñó una espiral helicoidal sobredimensionada de Ø 144 mm exterior con paso axial de 80 mm en alambre de acero templado de Ø 7 mm.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Cálculo de Par Torsor Nominal: </a:t>
            </a:r>
            <a:r>
              <a:rPr sz="900">
                <a:solidFill>
                  <a:srgbClr val="F1F5F9"/>
                </a:solidFill>
                <a:latin typeface="Calibri"/>
              </a:rPr>
              <a:t>T_req = 0.385 N·m para empujar un contenedor de 850 g con coeficiente de fricción acero-plástico μ = 0.28.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Capacidad del Motorreductor: </a:t>
            </a:r>
            <a:r>
              <a:rPr sz="900">
                <a:solidFill>
                  <a:srgbClr val="F1F5F9"/>
                </a:solidFill>
                <a:latin typeface="Calibri"/>
              </a:rPr>
              <a:t>Motor de 24V DC con reducción planetaria 1:120 y torque de bloqueo T_stall = 1.80 N·m. Factor de seguridad dinámico FS = 4.67.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Resistencia al Corte: </a:t>
            </a:r>
            <a:r>
              <a:rPr sz="900">
                <a:solidFill>
                  <a:srgbClr val="F1F5F9"/>
                </a:solidFill>
                <a:latin typeface="Calibri"/>
              </a:rPr>
              <a:t>Esfuerzo cortante actuante en rotor bloqueado: τ = 9.80 MPa vs admisible τ_adm = 45.80 MPa (sin riesgo de fractura mecánica).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2494483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COMPARATIVA DE PAR Y CINEMÁTICA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Espirales Asimétricas en Banco de Pruebas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12064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Canales de Comida (Ø 144 mm): </a:t>
            </a:r>
            <a:r>
              <a:rPr sz="900">
                <a:solidFill>
                  <a:srgbClr val="F1F5F9"/>
                </a:solidFill>
                <a:latin typeface="Calibri"/>
              </a:rPr>
              <a:t>Paso de 80 mm, capacidad de 6 recipientes por espiral. Velocidad de rotación: 15 RPM. Tiempo de expulsión completa: 4.0 segundos por ciclo de 360°.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Canales de Bebidas (Ø 70 mm): </a:t>
            </a:r>
            <a:r>
              <a:rPr sz="900">
                <a:solidFill>
                  <a:srgbClr val="F1F5F9"/>
                </a:solidFill>
                <a:latin typeface="Calibri"/>
              </a:rPr>
              <a:t>Paso de 65 mm, capacidad de 10 latas/botellas por canal. Torque requerido: 0.125 N·m. Tiempo de despacho: 2.5 segundos.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Ángulo de Inclinación de Espiral: </a:t>
            </a:r>
            <a:r>
              <a:rPr sz="900">
                <a:solidFill>
                  <a:srgbClr val="F1F5F9"/>
                </a:solidFill>
                <a:latin typeface="Calibri"/>
              </a:rPr>
              <a:t>Inclinación helicoidal α = 10.02° optimizada para transformar par torsor rotativo en avance axial puro sin vuelcos de comida.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Acople Mecánico: </a:t>
            </a:r>
            <a:r>
              <a:rPr sz="900">
                <a:solidFill>
                  <a:srgbClr val="F1F5F9"/>
                </a:solidFill>
                <a:latin typeface="Calibri"/>
              </a:rPr>
              <a:t>Buje de acople en nylon autolubricado con chaveta pasante de acero inoxidable para absorber desalineaciones axiales.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5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TÉRMICO 4: REFRIGERACIÓN NOM-251 EN EL CLIMA DE MONTERREY (+42°C)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Balance térmico analítico de 382.88 W y selección de unidad frigorífica Embraco de 1/5 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BALANCE TÉRMICO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138220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MEMORIA DE BALANCE TÉRMICO DE LA CÁMARA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382.88 W </a:t>
            </a:r>
            <a:r>
              <a:rPr sz="1100">
                <a:solidFill>
                  <a:srgbClr val="94A3B8"/>
                </a:solidFill>
                <a:latin typeface="Calibri"/>
              </a:rPr>
              <a:t>Carga Térmica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Condición Extrema de Verano en Nuevo León (T_ext = 42°C)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Reto: </a:t>
            </a:r>
            <a:r>
              <a:rPr sz="900">
                <a:solidFill>
                  <a:srgbClr val="F1F5F9"/>
                </a:solidFill>
                <a:latin typeface="Calibri"/>
              </a:rPr>
              <a:t>Mantener alimentos perecederos entre 4°C y 6°C cumpliendo la NOM-251-SSA1 bajo la canícula de Monterrey (+42°C exterior y 75% HR).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Conducción en Paredes Aisladas: </a:t>
            </a:r>
            <a:r>
              <a:rPr sz="900">
                <a:solidFill>
                  <a:srgbClr val="F1F5F9"/>
                </a:solidFill>
                <a:latin typeface="Calibri"/>
              </a:rPr>
              <a:t>Q_paredes = 212.40 W (Poliuretano expandido de 50 mm, conductividad k = 0.022 W/m·K).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Radiación en Doble Acristalamiento: </a:t>
            </a:r>
            <a:r>
              <a:rPr sz="900">
                <a:solidFill>
                  <a:srgbClr val="F1F5F9"/>
                </a:solidFill>
                <a:latin typeface="Calibri"/>
              </a:rPr>
              <a:t>Q_vidrio = 98.18 W (Vidrio doble con cámara de gas argón y película Low-E anti-radiación).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Infiltración por Compuerta: </a:t>
            </a:r>
            <a:r>
              <a:rPr sz="900">
                <a:solidFill>
                  <a:srgbClr val="F1F5F9"/>
                </a:solidFill>
                <a:latin typeface="Calibri"/>
              </a:rPr>
              <a:t>Q_infiltracion = 72.30 W (Estimado en 60 aperturas por hora durante el pico de comida).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Carga Térmica Total Requerida: </a:t>
            </a:r>
            <a:r>
              <a:rPr sz="900">
                <a:solidFill>
                  <a:srgbClr val="F1F5F9"/>
                </a:solidFill>
                <a:latin typeface="Calibri"/>
              </a:rPr>
              <a:t>Q_total = 382.88 W requeridos para sostener régimen de 4°C.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Unidad Seleccionada: </a:t>
            </a:r>
            <a:r>
              <a:rPr sz="900">
                <a:solidFill>
                  <a:srgbClr val="F1F5F9"/>
                </a:solidFill>
                <a:latin typeface="Calibri"/>
              </a:rPr>
              <a:t>Compresor hermético Embraco 1/5 HP (R134a) con capacidad de extracción de 485.00 W. Factor de seguridad térmico FS = 1.27.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13_CAD_Fusion360_Sala_Maquinas_Compresor_Embraco_Condens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502005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6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ELECTRÓNICO 5: MATRIZ DE POTENCIA 6X6 Y SUPRESIÓN DE BACK-EMF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Diseño de PCB en EasyEDA, multiplexación de 36 motores y aislamiento galvánico de 2500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ELECTRÓNICA DE POTENCIA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781958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MODELOS 7 Y 8: CONMUTACIÓN INDUCTIVA EN EASYEDA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Calibri"/>
              </a:rPr>
              <a:t>12 Cables </a:t>
            </a:r>
            <a:r>
              <a:rPr sz="1100">
                <a:solidFill>
                  <a:srgbClr val="94A3B8"/>
                </a:solidFill>
                <a:latin typeface="Calibri"/>
              </a:rPr>
              <a:t>vs 72 Cables Convencionales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Ahorro de 72 a 12 Cables y Aislamiento por Optoacopladores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 Eléctrico: </a:t>
            </a:r>
            <a:r>
              <a:rPr sz="900">
                <a:solidFill>
                  <a:srgbClr val="F1F5F9"/>
                </a:solidFill>
                <a:latin typeface="Calibri"/>
              </a:rPr>
              <a:t>Cablear 36 motores de forma individual requeriría 72 conductores gruesos atravesando las bandejas móviles, causando fallas por fatiga y cortocircuitos.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Multiplexación Matricial 6x6: </a:t>
            </a:r>
            <a:r>
              <a:rPr sz="900">
                <a:solidFill>
                  <a:srgbClr val="F1F5F9"/>
                </a:solidFill>
                <a:latin typeface="Calibri"/>
              </a:rPr>
              <a:t>Control de 36 motores mediante 6 columnas de 24V y 6 filas de GND (solo 12 líneas de arnés, reducción de 83% en cableado).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Problema del Back-EMF: </a:t>
            </a:r>
            <a:r>
              <a:rPr sz="900">
                <a:solidFill>
                  <a:srgbClr val="F1F5F9"/>
                </a:solidFill>
                <a:latin typeface="Calibri"/>
              </a:rPr>
              <a:t>Desconectar motores inductivos generaba picos destructivos de hasta 48V que reseteaban el ESP32 en pruebas iniciales.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Solución en PCB EasyEDA: </a:t>
            </a:r>
            <a:r>
              <a:rPr sz="900">
                <a:solidFill>
                  <a:srgbClr val="F1F5F9"/>
                </a:solidFill>
                <a:latin typeface="Calibri"/>
              </a:rPr>
              <a:t>Drivers High-Side con P-MOSFETs IRF9540, drivers Low-Side con N-MOSFETs IRLZ44N y optoacopladores PC817C (aislamiento galvánico de 2,500 V RMS).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Diodos de Libre Rueda: </a:t>
            </a:r>
            <a:r>
              <a:rPr sz="900">
                <a:solidFill>
                  <a:srgbClr val="F1F5F9"/>
                </a:solidFill>
                <a:latin typeface="Calibri"/>
              </a:rPr>
              <a:t>Diodos rápidos 1N4007 en antiparalelo que recortan el pico inductivo a 24.51 V seguros (norma IPC-2221B).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17_EasyEDA_Simulador_Web_Interactivo_Matriz_MOSFET_6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23682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79476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g18_EasyEDA_Esquematico_General_Electronica_Potencia_Matriz_6x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867912"/>
            <a:ext cx="5340096" cy="24140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7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DE CONTROL 6: FIRMWARE ESP32 FREERTOS Y SIMULACIÓN EN WOKWI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Máquina de estados no bloqueante, cortina infrarroja (1.22 ms) y emulación completa de 36 salidas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FIRMWARE 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494483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ARQUITECTURA DE FIRMWARE EN 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1.22 ms </a:t>
            </a:r>
            <a:r>
              <a:rPr sz="1100">
                <a:solidFill>
                  <a:srgbClr val="94A3B8"/>
                </a:solidFill>
                <a:latin typeface="Calibri"/>
              </a:rPr>
              <a:t>Latencia Cortina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Ejecución Multihilo sobre ESP32 Dual-Core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Reto: </a:t>
            </a:r>
            <a:r>
              <a:rPr sz="900">
                <a:solidFill>
                  <a:srgbClr val="F1F5F9"/>
                </a:solidFill>
                <a:latin typeface="Calibri"/>
              </a:rPr>
              <a:t>Atender la interfaz de usuario, procesar cobros QR, accionar motores de 24V y leer sensores de temperatura sin pausas ni cuelgues del procesador.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Solución FreeRTOS: </a:t>
            </a:r>
            <a:r>
              <a:rPr sz="900">
                <a:solidFill>
                  <a:srgbClr val="F1F5F9"/>
                </a:solidFill>
                <a:latin typeface="Calibri"/>
              </a:rPr>
              <a:t>Core 0 gestiona la comunicación serial UART bidireccional (115200 baudios) y máquina de estados finitos (FSM). Core 1 atiende en tiempo real los sensores y motores.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Cortina Infrarroja (IR) de Caída: </a:t>
            </a:r>
            <a:r>
              <a:rPr sz="900">
                <a:solidFill>
                  <a:srgbClr val="F1F5F9"/>
                </a:solidFill>
                <a:latin typeface="Calibri"/>
              </a:rPr>
              <a:t>Arreglo de fotodiodos IR en el canal de caída que detecta la interrupción del haz en 1.22 ms. Apaga el motorreductor de inmediato para no maltratar el empaque.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Algoritmo Anti-Atasco: </a:t>
            </a:r>
            <a:r>
              <a:rPr sz="900">
                <a:solidFill>
                  <a:srgbClr val="F1F5F9"/>
                </a:solidFill>
                <a:latin typeface="Calibri"/>
              </a:rPr>
              <a:t>Si tras un giro de 360° no se detecta caída, el firmware aplica automáticamente un pulso de desbloqueo de 90° o notifica falla.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Validación en Wokwi / VS Code: </a:t>
            </a:r>
            <a:r>
              <a:rPr sz="900">
                <a:solidFill>
                  <a:srgbClr val="F1F5F9"/>
                </a:solidFill>
                <a:latin typeface="Calibri"/>
              </a:rPr>
              <a:t>Simulación de la matriz completa con 36 LEDs y cronometraje de conmutación.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07_ExpendeX_Wokwi_VSCode_Despacho_Paso1_Comida_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23682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79476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reenshot_VSCode_Wokwi_Matriz_36_L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867912"/>
            <a:ext cx="5340096" cy="24140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8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DE SOFTWARE 7: PLATAFORMA WEB DUAL Y PROTOCOLO DE 14 HORAS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Frontend en React para quiosco 10.1", backend Node.js SQLite y regla microbiológica de bloqueo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PLATAFORMA WEB E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977286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DESARROLLO WEB: QUIOSCO + PANEL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43F5E"/>
                </a:solidFill>
                <a:latin typeface="Calibri"/>
              </a:rPr>
              <a:t>14 Horas </a:t>
            </a:r>
            <a:r>
              <a:rPr sz="1100">
                <a:solidFill>
                  <a:srgbClr val="94A3B8"/>
                </a:solidFill>
                <a:latin typeface="Calibri"/>
              </a:rPr>
              <a:t>Vigencia Máxima / Bloqueo RTC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Garantía de Inocuidad y Telemetría en Tiempo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Quiosco Táctil (React / Vite): </a:t>
            </a:r>
            <a:r>
              <a:rPr sz="900">
                <a:solidFill>
                  <a:srgbClr val="F1F5F9"/>
                </a:solidFill>
                <a:latin typeface="Calibri"/>
              </a:rPr>
              <a:t>Diseñado específicamente para la pantalla de 10.1 pulgadas. Catálogo visual de combos, desglose nutricional NOM-051 y generación de QR instantáneo.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Backend Local (Node.js / Express): </a:t>
            </a:r>
            <a:r>
              <a:rPr sz="900">
                <a:solidFill>
                  <a:srgbClr val="F1F5F9"/>
                </a:solidFill>
                <a:latin typeface="Calibri"/>
              </a:rPr>
              <a:t>Embebido en Raspberry Pi 4. Mapea la compra a coordenadas matriciales (A6, C2), valida la pasarela y comanda el ESP32 por UART.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Base de Datos SQLite Local: </a:t>
            </a:r>
            <a:r>
              <a:rPr sz="900">
                <a:solidFill>
                  <a:srgbClr val="F1F5F9"/>
                </a:solidFill>
                <a:latin typeface="Calibri"/>
              </a:rPr>
              <a:t>Almacena órdenes, inventario FIFO y lecturas de temperatura sin depender de internet continuo.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Protocolo Estricto de 14 Horas: </a:t>
            </a:r>
            <a:r>
              <a:rPr sz="900">
                <a:solidFill>
                  <a:srgbClr val="F1F5F9"/>
                </a:solidFill>
                <a:latin typeface="Calibri"/>
              </a:rPr>
              <a:t>El reloj RTC registra la hora de ingreso de cada platillo (06:00 AM). Si a las 20:00 PM no fue vendido, el sistema bloquea automáticamente la espiral e impide su compra para erradicar cualquier riesgo biológico.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g03_ExpendeX_Kiosco_10pulg_Catalogo_Com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23682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79476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g01_ExpendeX_Admin_KPIs_Financieros_60D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867912"/>
            <a:ext cx="5340096" cy="24140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9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RETO MECÁNICO 8: COMPUERTA BASCULANTE ANTIRROBO Y AMORTIGUACIÓN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Mecanismo oscilante con deflector interior anti-vandalismo y rampa de impacto amortiguada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SEGURIDAD FÍSICA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333548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59E0B"/>
                </a:solidFill>
                <a:latin typeface="Calibri"/>
              </a:rPr>
              <a:t>PROTECCIÓN MECÁNICA DE RETIRO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Seguridad contra Vandalismo y Hurto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512064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El Reto: </a:t>
            </a:r>
            <a:r>
              <a:rPr sz="900">
                <a:solidFill>
                  <a:srgbClr val="F1F5F9"/>
                </a:solidFill>
                <a:latin typeface="Calibri"/>
              </a:rPr>
              <a:t>En espacios universitarios abiertos, las máquinas vending sufren intentos de robo metiendo la mano o palanqueando la bandeja de entrega.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Compuerta Basculante Tipo Trampa: </a:t>
            </a:r>
            <a:r>
              <a:rPr sz="900">
                <a:solidFill>
                  <a:srgbClr val="F1F5F9"/>
                </a:solidFill>
                <a:latin typeface="Calibri"/>
              </a:rPr>
              <a:t>Diseñada en chapa de acero calibre 18 sin manija exterior. Al ser empujada hacia adentro por el usuario, un deflector interno basculante pivota y bloquea físicamente el paso hacia las bandejas superiores.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Cierre por Gravedad y Resorte: </a:t>
            </a:r>
            <a:r>
              <a:rPr sz="900">
                <a:solidFill>
                  <a:srgbClr val="F1F5F9"/>
                </a:solidFill>
                <a:latin typeface="Calibri"/>
              </a:rPr>
              <a:t>Retorno automático sellado que preserva la temperatura de la cámara fría.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Rampa Amortiguada a 30°: </a:t>
            </a:r>
            <a:r>
              <a:rPr sz="900">
                <a:solidFill>
                  <a:srgbClr val="F1F5F9"/>
                </a:solidFill>
                <a:latin typeface="Calibri"/>
              </a:rPr>
              <a:t>Recubierta con elastómero grado alimenticio que disipa la energía cinética de caída de recipientes de 850 g sin derramar alimentos.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Rejilla Inferior de Ventilación: </a:t>
            </a:r>
            <a:r>
              <a:rPr sz="900">
                <a:solidFill>
                  <a:srgbClr val="F1F5F9"/>
                </a:solidFill>
                <a:latin typeface="Calibri"/>
              </a:rPr>
              <a:t>Permite flujo de aire frío hacia el condensador Embraco manteniendo el filtro limpio.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12_CAD_Fusion360_Compuerta_Inferior_Rejilla_Ventilacion_Rue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23682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379476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1_Vista_Frontal_CAD_Final_Expe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867912"/>
            <a:ext cx="5340096" cy="24140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10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2" grpId="0" animBg="1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EL CICLO DE OPERACIÓN INTEGRADO: DEL TOQUE AL DESPACHO EN 8-12 SEG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Articulación cronológica fluida entre HMI, pago digital, ESP32, potencia y compuerta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CICLO INTEGRADO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816351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SECUENCIA DE OPERACIÓN CRONOMETRADA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Calibri"/>
              </a:rPr>
              <a:t>8 - 12 s </a:t>
            </a:r>
            <a:r>
              <a:rPr sz="1100">
                <a:solidFill>
                  <a:srgbClr val="94A3B8"/>
                </a:solidFill>
                <a:latin typeface="Calibri"/>
              </a:rPr>
              <a:t>vs 35-50 min en Cafetería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Flujo de Despacho en Menos de 15 Segundos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0.0 s — Selección Táctil: </a:t>
            </a:r>
            <a:r>
              <a:rPr sz="900">
                <a:solidFill>
                  <a:srgbClr val="F1F5F9"/>
                </a:solidFill>
                <a:latin typeface="Calibri"/>
              </a:rPr>
              <a:t>El usuario toca la pantalla de 10.1", consulta ingredientes NOM-051 y presiona 'Comprar Combo'.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2.0 s — Cobro QR Dinámico: </a:t>
            </a:r>
            <a:r>
              <a:rPr sz="900">
                <a:solidFill>
                  <a:srgbClr val="F1F5F9"/>
                </a:solidFill>
                <a:latin typeface="Calibri"/>
              </a:rPr>
              <a:t>Escaneo inmediato con MercadoPago/SPEI y validación en menos de 1.5 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3.5 s — Trama UART y Disparo Matricial: </a:t>
            </a:r>
            <a:r>
              <a:rPr sz="900">
                <a:solidFill>
                  <a:srgbClr val="F1F5F9"/>
                </a:solidFill>
                <a:latin typeface="Calibri"/>
              </a:rPr>
              <a:t>Raspberry Pi envía coordenadas A6/C2; ESP32 conmuta MOSFETs de 24V.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5.0 s — Despacho Comida (Tiempo 1): </a:t>
            </a:r>
            <a:r>
              <a:rPr sz="900">
                <a:solidFill>
                  <a:srgbClr val="F1F5F9"/>
                </a:solidFill>
                <a:latin typeface="Calibri"/>
              </a:rPr>
              <a:t>Espiral de 144 mm gira 360°, liberando el guiso caliente.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8.5 s — Despacho Bebida (Tiempo 2): </a:t>
            </a:r>
            <a:r>
              <a:rPr sz="900">
                <a:solidFill>
                  <a:srgbClr val="F1F5F9"/>
                </a:solidFill>
                <a:latin typeface="Calibri"/>
              </a:rPr>
              <a:t>Espiral de 70 mm gira 360°, dispensando el refresco frío.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9.8 s — Detección IR y Retiro: </a:t>
            </a:r>
            <a:r>
              <a:rPr sz="900">
                <a:solidFill>
                  <a:srgbClr val="F1F5F9"/>
                </a:solidFill>
                <a:latin typeface="Calibri"/>
              </a:rPr>
              <a:t>Cortina infrarroja valida caída; usuario retira alimentos por la compuerta.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T = 11.0 s — Actualización FIFO: </a:t>
            </a:r>
            <a:r>
              <a:rPr sz="900">
                <a:solidFill>
                  <a:srgbClr val="F1F5F9"/>
                </a:solidFill>
                <a:latin typeface="Calibri"/>
              </a:rPr>
              <a:t>La base de datos SQLite descuenta stock y envía telemetría.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2896819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VENTAJAS TÉCNICAS FRENTE A CAFETERÍA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Comparativa Cuantitativa de Desempeño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12064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Velocidad de Atención: </a:t>
            </a:r>
            <a:r>
              <a:rPr sz="900">
                <a:solidFill>
                  <a:srgbClr val="F1F5F9"/>
                </a:solidFill>
                <a:latin typeface="Calibri"/>
              </a:rPr>
              <a:t>10 a 12 segundos por persona. Despacha hasta 5 clientes por minuto sin filas.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Inocuidad Térmica Continua: </a:t>
            </a:r>
            <a:r>
              <a:rPr sz="900">
                <a:solidFill>
                  <a:srgbClr val="F1F5F9"/>
                </a:solidFill>
                <a:latin typeface="Calibri"/>
              </a:rPr>
              <a:t>Monitoreo constante a 4°C por sensor digital DS18B20 vs alimentos a temperatura ambiente en barras comunes.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Disponibilidad Ininterrumpida: </a:t>
            </a:r>
            <a:r>
              <a:rPr sz="900">
                <a:solidFill>
                  <a:srgbClr val="F1F5F9"/>
                </a:solidFill>
                <a:latin typeface="Calibri"/>
              </a:rPr>
              <a:t>Servicio las 24 horas del día, los 7 días de la semana, cubriendo turnos nocturnos.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Sin Manejo de Efectivo Sucio: </a:t>
            </a:r>
            <a:r>
              <a:rPr sz="900">
                <a:solidFill>
                  <a:srgbClr val="F1F5F9"/>
                </a:solidFill>
                <a:latin typeface="Calibri"/>
              </a:rPr>
              <a:t>100% cobro digital vía QR evitando mermas de caja y riesgos de robo.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Cero Sobrecosto de Envío: </a:t>
            </a:r>
            <a:r>
              <a:rPr sz="900">
                <a:solidFill>
                  <a:srgbClr val="F1F5F9"/>
                </a:solidFill>
                <a:latin typeface="Calibri"/>
              </a:rPr>
              <a:t>Precio directo de $85 MXN sin comisiones de aplicaciones de delivery ($160+).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11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COSTOS DE FABRICACIÓN Y BOM INDUSTRIAL DETALLADO ($46,463.12 MXN)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Desglose de inversión física fidedigno extraído de la memoria de cálculo del PIA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BOM INDUSTRIAL REAL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685800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0B981"/>
                          </a:solidFill>
                          <a:latin typeface="Calibri"/>
                        </a:rPr>
                        <a:t>Subsistema Mecatrónico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0B981"/>
                          </a:solidFill>
                          <a:latin typeface="Calibri"/>
                        </a:rPr>
                        <a:t>Componentes Principales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0B981"/>
                          </a:solidFill>
                          <a:latin typeface="Calibri"/>
                        </a:rPr>
                        <a:t>Costo MXN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0B981"/>
                          </a:solidFill>
                          <a:latin typeface="Calibri"/>
                        </a:rPr>
                        <a:t>% Total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Chasis y Carrocería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Chapa acero cal 18, corte láser, pintura electrostática, ruedas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$14,250.00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30.7%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Refrigeración Grado Alimento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Compresor Embraco 1/5 HP R134a, evaporador ventilado, control digital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$9,800.00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21.1%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Mecanismos de Despacho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36 motorreductores 24V, 5 bandejas inox, 36 espirales helicoidales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$8,950.00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19.3%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Consola HMI y Cómputo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Touchscreen 10.1", Raspberry Pi 4, lector QR óptico, bocina guía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$7,150.00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15.4%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Electrónica de Potencia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PCB EasyEDA matriz 6x6, fuente industrial 24V/5V, ESP32, relevadores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$4,120.00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1F5F9"/>
                          </a:solidFill>
                          <a:latin typeface="Calibri"/>
                        </a:rPr>
                        <a:t>Tornillería y Ensamble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Arneses automotrices, empaques magnéticos, herrajes de seguridad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$2,193.12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1F5F9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B981"/>
                          </a:solidFill>
                          <a:latin typeface="Calibri"/>
                        </a:rPr>
                        <a:t>TOTAL BOM FABRICACIÓN</a:t>
                      </a:r>
                    </a:p>
                  </a:txBody>
                  <a:tcPr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B981"/>
                          </a:solidFill>
                          <a:latin typeface="Calibri"/>
                        </a:rPr>
                        <a:t>Unidad ExpendeX 100% Funcional y Lista para Despliegue</a:t>
                      </a:r>
                    </a:p>
                  </a:txBody>
                  <a:tcPr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Calibri"/>
                        </a:rPr>
                        <a:t>$46,463.12</a:t>
                      </a:r>
                    </a:p>
                  </a:txBody>
                  <a:tcPr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188720"/>
            <a:ext cx="420624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59" y="1325880"/>
            <a:ext cx="1645920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DISRUPCIÓN EN COSTOS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1673352"/>
            <a:ext cx="38404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  <a:latin typeface="Calibri"/>
              </a:rPr>
              <a:t>$46,463 </a:t>
            </a:r>
            <a:r>
              <a:rPr sz="1100">
                <a:solidFill>
                  <a:srgbClr val="94A3B8"/>
                </a:solidFill>
                <a:latin typeface="Calibri"/>
              </a:rPr>
              <a:t>MXN (BOM)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2203704"/>
            <a:ext cx="3840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Ventaja de Manufactura Nacional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2551176"/>
            <a:ext cx="3840479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Costo Directo Real: </a:t>
            </a:r>
            <a:r>
              <a:rPr sz="900">
                <a:solidFill>
                  <a:srgbClr val="F1F5F9"/>
                </a:solidFill>
                <a:latin typeface="Calibri"/>
              </a:rPr>
              <a:t>Fabricar la máquina con ingeniería local cuesta $46,463.12 MXN.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Comparativa Importada: </a:t>
            </a:r>
            <a:r>
              <a:rPr sz="900">
                <a:solidFill>
                  <a:srgbClr val="F1F5F9"/>
                </a:solidFill>
                <a:latin typeface="Calibri"/>
              </a:rPr>
              <a:t>Importar un equipo similar con pantalla táctil y refrigeración supera los $180,000 MXN en México.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Multiplicador 3.9x: </a:t>
            </a:r>
            <a:r>
              <a:rPr sz="900">
                <a:solidFill>
                  <a:srgbClr val="F1F5F9"/>
                </a:solidFill>
                <a:latin typeface="Calibri"/>
              </a:rPr>
              <a:t>Con la misma inversión de 1 sola máquina importada, se construyen casi 4 unidades ExpendeX completas.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Disponibilidad de Refacciones: </a:t>
            </a:r>
            <a:r>
              <a:rPr sz="900">
                <a:solidFill>
                  <a:srgbClr val="F1F5F9"/>
                </a:solidFill>
                <a:latin typeface="Calibri"/>
              </a:rPr>
              <a:t>100% componentes estándar industriales reemplazables en Monterrey.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12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UNIT ECONOMICS Y MODELADO DE RENTABILIDAD OPERATIVA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Ecuación económica realista por combo ($85 MXN) y proyección de flujos mensuales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494483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DESGLOSE DEL COMBO ($85.00 MXN)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Calibri"/>
              </a:rPr>
              <a:t>$23.45 </a:t>
            </a:r>
            <a:r>
              <a:rPr sz="1100">
                <a:solidFill>
                  <a:srgbClr val="94A3B8"/>
                </a:solidFill>
                <a:latin typeface="Calibri"/>
              </a:rPr>
              <a:t>Margen Bruto / Combo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Guiso Casero Caliente + Bebida Fría 500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51176"/>
            <a:ext cx="512064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Precio al Consumidor: </a:t>
            </a:r>
            <a:r>
              <a:rPr sz="900">
                <a:solidFill>
                  <a:srgbClr val="F1F5F9"/>
                </a:solidFill>
                <a:latin typeface="Calibri"/>
              </a:rPr>
              <a:t>$85.00 MXN. Punto óptimo validado para el bolsillo del estudiante.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Pago a Lonchería Aliada: </a:t>
            </a:r>
            <a:r>
              <a:rPr sz="900">
                <a:solidFill>
                  <a:srgbClr val="F1F5F9"/>
                </a:solidFill>
                <a:latin typeface="Calibri"/>
              </a:rPr>
              <a:t>$45.00 MXN (52.9% del precio). Cubre insumos y asegura ganancia neta al negocio familiar.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Costo Mayoreo de Bebida: </a:t>
            </a:r>
            <a:r>
              <a:rPr sz="900">
                <a:solidFill>
                  <a:srgbClr val="F1F5F9"/>
                </a:solidFill>
                <a:latin typeface="Calibri"/>
              </a:rPr>
              <a:t>$14.00 MXN (16.5%). Adquirida en volumen institucional.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Comisión Pasarela QR: </a:t>
            </a:r>
            <a:r>
              <a:rPr sz="900">
                <a:solidFill>
                  <a:srgbClr val="F1F5F9"/>
                </a:solidFill>
                <a:latin typeface="Calibri"/>
              </a:rPr>
              <a:t>$2.55 MXN (3.0%). Tarifa MercadoPago / SPEI.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Margen Bruto ExpendeX: </a:t>
            </a:r>
            <a:r>
              <a:rPr sz="900">
                <a:solidFill>
                  <a:srgbClr val="F1F5F9"/>
                </a:solidFill>
                <a:latin typeface="Calibri"/>
              </a:rPr>
              <a:t>$23.45 MXN por combo (27.6%). Absorbe CFE, mantenimiento e inversión.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Escenario Base (85 combos/día): </a:t>
            </a:r>
            <a:r>
              <a:rPr sz="900">
                <a:solidFill>
                  <a:srgbClr val="F1F5F9"/>
                </a:solidFill>
                <a:latin typeface="Calibri"/>
              </a:rPr>
              <a:t>Utilidad neta mensual de $52,500 MXN descontando luz y conexión.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Retorno de Inversión (Payback): </a:t>
            </a:r>
            <a:r>
              <a:rPr sz="900">
                <a:solidFill>
                  <a:srgbClr val="F1F5F9"/>
                </a:solidFill>
                <a:latin typeface="Calibri"/>
              </a:rPr>
              <a:t>4.2 meses para amortizar íntegramente los $46,463.12 MXN del BOM.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art_unit_economic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261872"/>
            <a:ext cx="5340096" cy="502005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13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VALIDACIÓN EXPERIMENTAL: TEORÍA VS SIMULACIÓN VS MEDICIONES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Contraste metrológico del Apartado 19.0 del PIA entre modelos matemáticos y pruebas físicas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VALIDACIÓN METROLÓGICA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685800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10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Variable Evaluada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Teórico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Simulado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Medición Real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Error Sim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B6D4"/>
                          </a:solidFill>
                          <a:latin typeface="Calibri"/>
                        </a:rPr>
                        <a:t>Error Real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1F5F9"/>
                          </a:solidFill>
                          <a:latin typeface="Calibri"/>
                        </a:rPr>
                        <a:t>Par Torsor Espiral Ø 144 mm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0.382 N·m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0.385 N·m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0.389 N·m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0.79%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1.83%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1F5F9"/>
                          </a:solidFill>
                          <a:latin typeface="Calibri"/>
                        </a:rPr>
                        <a:t>Deflexión Máxima Bandeja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1.34 mm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1.36 mm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1.38 mm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1.49%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2.98%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1F5F9"/>
                          </a:solidFill>
                          <a:latin typeface="Calibri"/>
                        </a:rPr>
                        <a:t>Pico Inductivo en MOSFET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24.45 V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24.51 V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24.62 V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1F5F9"/>
                          </a:solidFill>
                          <a:latin typeface="Calibri"/>
                        </a:rPr>
                        <a:t>Latencia Cortina IR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1.20 ms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1.22 ms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1.25 ms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1.67%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4.17%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1F5F9"/>
                          </a:solidFill>
                          <a:latin typeface="Calibri"/>
                        </a:rPr>
                        <a:t>Tiempo Despacho Combo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10.0 seg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9.8 seg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F1F5F9"/>
                          </a:solidFill>
                          <a:latin typeface="Calibri"/>
                        </a:rPr>
                        <a:t>10.4 seg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0B981"/>
                          </a:solidFill>
                          <a:latin typeface="Calibri"/>
                        </a:rPr>
                        <a:t>4.00%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188720"/>
            <a:ext cx="420624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59" y="1325880"/>
            <a:ext cx="1645920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RIGOR METODOLÓGICO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1673352"/>
            <a:ext cx="38404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Calibri"/>
              </a:rPr>
              <a:t>&lt; 4.2% </a:t>
            </a:r>
            <a:r>
              <a:rPr sz="1100">
                <a:solidFill>
                  <a:srgbClr val="94A3B8"/>
                </a:solidFill>
                <a:latin typeface="Calibri"/>
              </a:rPr>
              <a:t>Error Máximo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2203704"/>
            <a:ext cx="3840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Convergencia de Ingeniería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2551176"/>
            <a:ext cx="3840479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Concordancia Superior al 96%: </a:t>
            </a:r>
            <a:r>
              <a:rPr sz="900">
                <a:solidFill>
                  <a:srgbClr val="F1F5F9"/>
                </a:solidFill>
                <a:latin typeface="Calibri"/>
              </a:rPr>
              <a:t>Todos los errores relativos entre cálculo analítico, simulación en software y medición en prototipo están por debajo del 4.2%.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Sin Suposiciones en el Vacío: </a:t>
            </a:r>
            <a:r>
              <a:rPr sz="900">
                <a:solidFill>
                  <a:srgbClr val="F1F5F9"/>
                </a:solidFill>
                <a:latin typeface="Calibri"/>
              </a:rPr>
              <a:t>Cada fórmula fue contrastada contra datos de fabricantes (Embraco, Infineon, Nidec).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Confiabilidad Demostrada: </a:t>
            </a:r>
            <a:r>
              <a:rPr sz="900">
                <a:solidFill>
                  <a:srgbClr val="F1F5F9"/>
                </a:solidFill>
                <a:latin typeface="Calibri"/>
              </a:rPr>
              <a:t>La electrónica matricial y el chasis soportan las cargas reales de operación sin calentamiento ni fatiga prematura.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14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F19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FFFFF"/>
                </a:solidFill>
                <a:latin typeface="Calibri"/>
              </a:rPr>
              <a:t>CONCLUSIONES DE INGENIERÍA, REPOSITORIO Y DEMOSTRACIÓN EN VIVO</a:t>
            </a:r>
          </a:p>
          <a:p>
            <a:r>
              <a:rPr sz="1000">
                <a:solidFill>
                  <a:srgbClr val="06B6D4"/>
                </a:solidFill>
                <a:latin typeface="Calibri"/>
              </a:rPr>
              <a:t>Síntesis de cumplimiento curricular de la rúbrica oficial FIME UANL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6304"/>
            <a:ext cx="3200400" cy="658368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Calibri"/>
              </a:rPr>
              <a:t>CIERRE TÉCNICO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658368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299155" cy="292608"/>
          </a:xfrm>
          <a:prstGeom prst="roundRect">
            <a:avLst>
              <a:gd name="adj" fmla="val 45000"/>
            </a:avLst>
          </a:prstGeom>
          <a:solidFill>
            <a:srgbClr val="0B0F1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Calibri"/>
              </a:rPr>
              <a:t>SÍNTESIS DE DESARROLLO DEL PROYECTO (PIA)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Alineación Curricular y Viabilidad Comprobada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6217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Cumplimiento FIME UANL al 100%: </a:t>
            </a:r>
            <a:r>
              <a:rPr sz="900">
                <a:solidFill>
                  <a:srgbClr val="F1F5F9"/>
                </a:solidFill>
                <a:latin typeface="Calibri"/>
              </a:rPr>
              <a:t>Integración multidisciplinar exitosa de mecánica 3D (Fusion 360), electrónica de potencia (EasyEDA), firmware FreeRTOS (ESP32) y desarrollo web full-stack.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Retos Técnicos Superados: </a:t>
            </a:r>
            <a:r>
              <a:rPr sz="900">
                <a:solidFill>
                  <a:srgbClr val="F1F5F9"/>
                </a:solidFill>
                <a:latin typeface="Calibri"/>
              </a:rPr>
              <a:t>Solución analítica al pandeo de charolas (Euler-Bernoulli), supresión de Back-EMF con aislamiento galvánico y refrigeración estricta NOM-251 a 42°C exterior.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Manufactura Nacional Factible: </a:t>
            </a:r>
            <a:r>
              <a:rPr sz="900">
                <a:solidFill>
                  <a:srgbClr val="F1F5F9"/>
                </a:solidFill>
                <a:latin typeface="Calibri"/>
              </a:rPr>
              <a:t>BOM de $46,463.12 MXN que demuestra que no se requiere importar tecnología extranjera costosa para innovar en automatización.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19" b="1">
                <a:solidFill>
                  <a:srgbClr val="06B6D4"/>
                </a:solidFill>
                <a:latin typeface="Calibri"/>
              </a:rPr>
              <a:t>Impacto Social Comunitario: </a:t>
            </a:r>
            <a:r>
              <a:rPr sz="900">
                <a:solidFill>
                  <a:srgbClr val="F1F5F9"/>
                </a:solidFill>
                <a:latin typeface="Calibri"/>
              </a:rPr>
              <a:t>Dignifica la alimentación estudiantil con comida caliente balanceada a $85 MXN en 10 segundos, beneficiando a loncherías locales.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88720"/>
            <a:ext cx="4389120" cy="5166360"/>
          </a:xfrm>
          <a:prstGeom prst="roundRect">
            <a:avLst>
              <a:gd name="adj" fmla="val 4000"/>
            </a:avLst>
          </a:prstGeom>
          <a:solidFill>
            <a:srgbClr val="131F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REPOSITORIO DIGITAL OFICIAL
</a:t>
            </a:r>
          </a:p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https://github.com/Anubys6/ExpendeX-Smart-Vending-FIME
</a:t>
            </a:r>
          </a:p>
          <a:p>
            <a:r>
              <a:rPr sz="1000" b="1">
                <a:solidFill>
                  <a:srgbClr val="10B981"/>
                </a:solidFill>
                <a:latin typeface="Calibri"/>
              </a:rPr>
              <a:t>DEMOSTRACIONES LISTAS EN VIVO:
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FFFFFF"/>
                </a:solidFill>
                <a:latin typeface="Calibri"/>
              </a:rPr>
              <a:t>• Quiosco Web Touchscreen 10.1": </a:t>
            </a:r>
            <a:r>
              <a:rPr sz="850">
                <a:solidFill>
                  <a:srgbClr val="F1F5F9"/>
                </a:solidFill>
                <a:latin typeface="Calibri"/>
              </a:rPr>
              <a:t>Catálogo interactivo y modal de cobro QR en localhost:3000.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FFFFFF"/>
                </a:solidFill>
                <a:latin typeface="Calibri"/>
              </a:rPr>
              <a:t>• Panel Administrativo (/admin): </a:t>
            </a:r>
            <a:r>
              <a:rPr sz="850">
                <a:solidFill>
                  <a:srgbClr val="F1F5F9"/>
                </a:solidFill>
                <a:latin typeface="Calibri"/>
              </a:rPr>
              <a:t>Control de stock FIFO y telemetría de temperatura.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FFFFFF"/>
                </a:solidFill>
                <a:latin typeface="Calibri"/>
              </a:rPr>
              <a:t>• Simulación Wokwi 36 LEDs: </a:t>
            </a:r>
            <a:r>
              <a:rPr sz="850">
                <a:solidFill>
                  <a:srgbClr val="F1F5F9"/>
                </a:solidFill>
                <a:latin typeface="Calibri"/>
              </a:rPr>
              <a:t>Despacho matricial de espirales de 24V con ESP32.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FFFFFF"/>
                </a:solidFill>
                <a:latin typeface="Calibri"/>
              </a:rPr>
              <a:t>• Simulador EasyEDA de Potencia: </a:t>
            </a:r>
            <a:r>
              <a:rPr sz="850">
                <a:solidFill>
                  <a:srgbClr val="F1F5F9"/>
                </a:solidFill>
                <a:latin typeface="Calibri"/>
              </a:rPr>
              <a:t>Conmutación High/Low Side interactiva en potencia.html.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Calibri"/>
              </a:rPr>
              <a:t>ExpendeX - Proyecto Integrador de Aprendizaje (PIA) | FIME UANL | Repositorio: https://github.com/Anubys6/ExpendeX-Smart-Vending-FIME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4710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1">
                <a:solidFill>
                  <a:srgbClr val="10B981"/>
                </a:solidFill>
                <a:latin typeface="Calibri"/>
              </a:rPr>
              <a:t>Diapositiva 15 de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3721</Words>
  <Application>Microsoft Office PowerPoint</Application>
  <PresentationFormat>Panorámica</PresentationFormat>
  <Paragraphs>301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Tovar Mujica</cp:lastModifiedBy>
  <cp:revision>2</cp:revision>
  <dcterms:created xsi:type="dcterms:W3CDTF">2013-01-27T09:14:16Z</dcterms:created>
  <dcterms:modified xsi:type="dcterms:W3CDTF">2026-10-26T07:16:16Z</dcterms:modified>
  <cp:category/>
</cp:coreProperties>
</file>