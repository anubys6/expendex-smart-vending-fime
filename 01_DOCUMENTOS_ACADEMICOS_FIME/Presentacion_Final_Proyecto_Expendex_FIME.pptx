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219456"/>
            <a:ext cx="11494008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nl_log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076994" cy="969264"/>
          </a:xfrm>
          <a:prstGeom prst="rect">
            <a:avLst/>
          </a:prstGeom>
        </p:spPr>
      </p:pic>
      <p:pic>
        <p:nvPicPr>
          <p:cNvPr id="5" name="Picture 4" descr="fime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65760"/>
            <a:ext cx="1837592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256032"/>
            <a:ext cx="8412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80" b="1">
                <a:solidFill>
                  <a:srgbClr val="1B365D"/>
                </a:solidFill>
                <a:latin typeface="Calibri"/>
              </a:rPr>
              <a:t>UNIVERSIDAD AUTÓNOMA DE NUEVO LEÓN | FACULTAD DE INGENIERÍA MECÁNICA Y ELÉCTRICA</a:t>
            </a:r>
          </a:p>
          <a:p>
            <a:pPr algn="ctr"/>
            <a:r>
              <a:rPr sz="1080" b="1">
                <a:solidFill>
                  <a:srgbClr val="2B6CB0"/>
                </a:solidFill>
                <a:latin typeface="Calibri"/>
              </a:rPr>
              <a:t>INGENIERÍA EN ELECTRÓNICA Y AUTOMATIZACIÓN (IEA) — DEFENSA DE PROYECTO FINAL E INTEGRADOR (AF1 A AF5)</a:t>
            </a:r>
          </a:p>
          <a:p>
            <a:pPr algn="ctr"/>
            <a:r>
              <a:rPr sz="1019" b="1">
                <a:solidFill>
                  <a:srgbClr val="10B981"/>
                </a:solidFill>
                <a:latin typeface="Calibri"/>
              </a:rPr>
              <a:t>PRESENTACIÓN EJECUTIVA DE INGENIERÍA: PROBLEMÁTICA, DISEÑO CAD 3D, POTENCIA, WEB Y SIMULACIÓN WOKWI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26464"/>
            <a:ext cx="7635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50" b="1">
                <a:solidFill>
                  <a:srgbClr val="FFFFFF"/>
                </a:solidFill>
                <a:latin typeface="Calibri"/>
              </a:rPr>
              <a:t>EXPENDEX®: MICRO-RESTAURANTE AUTOMATIZADO IOT HÍBRIDO DE 36 CANALES MIXTOS (1+4+1)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Máquina Expendedora Inteligente de Comida Casera en Recipientes Cuadrados de 3 Divisiones y Bebidas Frías (2–4 °C), con Gabinete de Paredes Lisas, 3 Bisagras en Puerta, Compuerta Inferior con 2 Bisagras Superiores sin Manija, Matriz MOSFET 6×6 en EasyEDA, Plataforma Web Dual (10.1") y Simulación de 36 LEDs en VS Code + Wokwi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7472" y="3246120"/>
          <a:ext cx="7635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841248"/>
                <a:gridCol w="804672"/>
                <a:gridCol w="420624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NOMBRE DEL INTEGRANTE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MATRÍCULA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CARRERA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ROL Y ÁREA DE INGENIERÍA EN EL PROYECTO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Samuel Tovar Mújica
(Jefe del Proyecto)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2077933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IEA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Jefe del Proyecto, Arquitectura General, Modelo 3D CAD Final en Autodesk Fusion 360, Firmware C++ y Simulación en VS Code + Wokwi (Matriz de 36 LEDs), Modelos Físico-Matemáticos y DOE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Emiliano Sánchez Martínez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2012856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IEA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Desarrollo de Plataforma Web Dual (Quiosco 10.1" con QR y Panel del Dueño ExpendeX FIFO), Diseño de Electrónica de Potencia y Ruteo PCB en EasyEDA (Matriz 6×6 MOSFET, Optoaislamiento 5 kV y Norma IPC-2221B) y Sistema de Refrigeración Completo (Balance térmico 42°C, Embraco 1/5 HP, plenum 6 toberas y termostato ESP32)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47472" y="5650992"/>
            <a:ext cx="7635240" cy="841248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59E0B"/>
                </a:solidFill>
                <a:latin typeface="Calibri"/>
              </a:rPr>
              <a:t>DOCENTE TITULAR: Ing. Mario Alberto González Vázquez   |   GRUPO: 005   |   SEMESTRE: Ago–Dic 2026</a:t>
            </a:r>
          </a:p>
          <a:p>
            <a:r>
              <a:rPr sz="1019">
                <a:solidFill>
                  <a:srgbClr val="FFFFFF"/>
                </a:solidFill>
                <a:latin typeface="Calibri"/>
              </a:rPr>
              <a:t>Síntesis Integral de las 5 Actividades Fundamentales: AF1, AF2, AF3 (PIA), AF4 y AF5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426464"/>
            <a:ext cx="3685032" cy="50657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Vista_Isometrica_Frontal_Derecha_CAD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724406"/>
            <a:ext cx="3502152" cy="40858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74736" y="6108192"/>
            <a:ext cx="3648456" cy="3657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MODELO 3D CAD FINAL OFICIAL — EXPENDEX (1+4+1)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ORIGEN, JUSTIFICACIÓN SOCIOECONÓMICA Y ESTUDIO DE MERCADO (AF1)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Génesis del problema en FIME, nutrición estudiantil, economía local y alcance operativo sin limitaciones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2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9728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143000"/>
            <a:ext cx="2596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50" b="1">
                <a:solidFill>
                  <a:srgbClr val="1B365D"/>
                </a:solidFill>
                <a:latin typeface="Calibri"/>
              </a:rPr>
              <a:t>+22,000 Usuarios</a:t>
            </a:r>
          </a:p>
          <a:p>
            <a:pPr algn="ctr"/>
            <a:r>
              <a:rPr sz="919" b="1">
                <a:solidFill>
                  <a:srgbClr val="1E293B"/>
                </a:solidFill>
                <a:latin typeface="Calibri"/>
              </a:rPr>
              <a:t>Población en FIME (3 turnos: matutino, vespertino, nocturno)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09728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143000"/>
            <a:ext cx="2596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50" b="1">
                <a:solidFill>
                  <a:srgbClr val="10B981"/>
                </a:solidFill>
                <a:latin typeface="Calibri"/>
              </a:rPr>
              <a:t>84% Aceptación</a:t>
            </a:r>
          </a:p>
          <a:p>
            <a:pPr algn="ctr"/>
            <a:r>
              <a:rPr sz="919" b="1">
                <a:solidFill>
                  <a:srgbClr val="1E293B"/>
                </a:solidFill>
                <a:latin typeface="Calibri"/>
              </a:rPr>
              <a:t>Disposición de compra de comida casera en &lt; 25 segundos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9728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143000"/>
            <a:ext cx="2596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50" b="1">
                <a:solidFill>
                  <a:srgbClr val="E11D48"/>
                </a:solidFill>
                <a:latin typeface="Calibri"/>
              </a:rPr>
              <a:t>10 a 15 min</a:t>
            </a:r>
          </a:p>
          <a:p>
            <a:pPr algn="ctr"/>
            <a:r>
              <a:rPr sz="919" b="1">
                <a:solidFill>
                  <a:srgbClr val="1E293B"/>
                </a:solidFill>
                <a:latin typeface="Calibri"/>
              </a:rPr>
              <a:t>Ventana libre entre clases vs 25-35 min de fila en cafeterías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097280"/>
            <a:ext cx="27706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143000"/>
            <a:ext cx="2624327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50" b="1">
                <a:solidFill>
                  <a:srgbClr val="F59E0B"/>
                </a:solidFill>
                <a:latin typeface="Calibri"/>
              </a:rPr>
              <a:t>0% Merma</a:t>
            </a:r>
          </a:p>
          <a:p>
            <a:pPr algn="ctr"/>
            <a:r>
              <a:rPr sz="919" b="1">
                <a:solidFill>
                  <a:srgbClr val="1E293B"/>
                </a:solidFill>
                <a:latin typeface="Calibri"/>
              </a:rPr>
              <a:t>Alianza Kilómetro Cero con cocinas locales de San Nicolás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057400"/>
            <a:ext cx="566928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057400"/>
            <a:ext cx="566928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167128"/>
            <a:ext cx="5413248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1. JUSTIFICACIÓN SOCIAL Y SOCIOECONÓMICA (IMPACTO COMUNITARIO)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Nutrición Digna para +22,000 Alumnos y Personal: </a:t>
            </a:r>
            <a:r>
              <a:rPr sz="980">
                <a:solidFill>
                  <a:srgbClr val="1E293B"/>
                </a:solidFill>
                <a:latin typeface="Calibri"/>
              </a:rPr>
              <a:t>Estudiantes y docentes cursan bloques continuos de 6 a 8 horas con apenas 10-15 minutos libres. ExpendeX® erradica el consumo obligado de ultraprocesados y la fatiga cognitiva al brindar acceso inmediato a comida casera balanceada (plato fuerte + 2 guarniciones) en los propios pasillos.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Alianza Económica 'Kilómetro Cero' con Cocinas Locales: </a:t>
            </a:r>
            <a:r>
              <a:rPr sz="980">
                <a:solidFill>
                  <a:srgbClr val="1E293B"/>
                </a:solidFill>
                <a:latin typeface="Calibri"/>
              </a:rPr>
              <a:t>Las cocinas y loncherías familiares de San Nicolás de los Garza sufren hasta un 30% de merma diaria por falta de rotación. ExpendeX® les permite vender dentro del campus 24/7 sin pagar rentas de local comercial ni comisiones del 35% de plataformas de delivery.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Soberanía Mecatrónica y Accesibilidad: </a:t>
            </a:r>
            <a:r>
              <a:rPr sz="980">
                <a:solidFill>
                  <a:srgbClr val="1E293B"/>
                </a:solidFill>
                <a:latin typeface="Calibri"/>
              </a:rPr>
              <a:t>Reemplaza máquinas expendedoras importadas de alto costo por una arquitectura mecatrónica de diseño y ensamble local, con más del 65% de ahorro en integración y soporte técnico directo.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057400"/>
            <a:ext cx="566928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05740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167128"/>
            <a:ext cx="5413248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2. ESTUDIO DE MERCADO Y ALCANCE OPERATIVO SIN LIMITACIONES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Estudio de Mercado y Público Objetivo: </a:t>
            </a:r>
            <a:r>
              <a:rPr sz="980">
                <a:solidFill>
                  <a:srgbClr val="1E293B"/>
                </a:solidFill>
                <a:latin typeface="Calibri"/>
              </a:rPr>
              <a:t>Universo de más de 22,000 alumnos y docentes de FIME en 3 turnos continuos; demanda concentrada en horas pico (11:30–14:30 h y 18:30–20:30 h en turno nocturno sin cafeterías abiertas). Disposición de compra del 84% validada en encuestas de campo.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Alcance de Despliegue en Ciudad Universitaria: </a:t>
            </a:r>
            <a:r>
              <a:rPr sz="980">
                <a:solidFill>
                  <a:srgbClr val="1E293B"/>
                </a:solidFill>
                <a:latin typeface="Calibri"/>
              </a:rPr>
              <a:t>Fase 1: Red de 6 máquinas en edificios estratégicos de FIME (Edificios 1, 2, 3, 5, 7 y Laboratorios). Fase 2: Escalabilidad a las 26 facultades del Campus CU (+120,000 usuarios potenciales) bajo el mismo ecosistema web centralizado.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Despliegue Operativo Robusto (Sin Limitaciones): </a:t>
            </a:r>
            <a:r>
              <a:rPr sz="980">
                <a:solidFill>
                  <a:srgbClr val="1E293B"/>
                </a:solidFill>
                <a:latin typeface="Calibri"/>
              </a:rPr>
              <a:t>Operación continua 24/7 con capacidad de 228 productos (60 comidas en recipientes cuadrados de 3 divisiones y 168 bebidas frías). Reposición ultrarrápida en 15 minutos por compuerta trasera sin detener el quiosco frontal, y refrigeración comercial estricta a 2–4 °C bajo calor canicular exterior de hasta 42 °C.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PLANTEAMIENTO DE LA PROBLEMÁTICA TÉCNICA Y OPERATIVA (AF1)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¿Por qué las máquinas expendedoras convencionales fracasan al intentar dispensar comida casera?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3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6692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6692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541324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E11D48"/>
                </a:solidFill>
                <a:latin typeface="Calibri"/>
              </a:rPr>
              <a:t>PROBLEMA 1: INCOMPATIBILIDAD GEOMÉTRICA Y ATASCOS (12–18%)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Espirales Estrechas (65 mm) y Poca Fuerza: </a:t>
            </a:r>
            <a:r>
              <a:rPr sz="980">
                <a:solidFill>
                  <a:srgbClr val="1E293B"/>
                </a:solidFill>
                <a:latin typeface="Calibri"/>
              </a:rPr>
              <a:t>Las máquinas de snacks están diseñadas para bolsas de 50 g. Al colocar contenedores de comida preparada (650–800 g), el envase gira sesgado, se atora contra el cristal o requiere doble motor mal sincronizado.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Solución ExpendeX®: </a:t>
            </a:r>
            <a:r>
              <a:rPr sz="980">
                <a:solidFill>
                  <a:srgbClr val="1E293B"/>
                </a:solidFill>
                <a:latin typeface="Calibri"/>
              </a:rPr>
              <a:t>Bahías anchas de 190 mm con guías laterales AISI 304 y un único resorte circular gigante de Ø 144 mm (alambre Ø 7 mm) que impulsa recipientes cuadrados de 3 divisiones con 0% de atascos.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115568"/>
            <a:ext cx="56692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15568"/>
            <a:ext cx="566928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25295"/>
            <a:ext cx="541324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2B6CB0"/>
                </a:solidFill>
                <a:latin typeface="Calibri"/>
              </a:rPr>
              <a:t>PROBLEMA 2: RIESGO SANITARIO Y RUPTURA DE CADENA DE FRÍO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Estratificación Térmica y Sin Control de Caducidad: </a:t>
            </a:r>
            <a:r>
              <a:rPr sz="980">
                <a:solidFill>
                  <a:srgbClr val="1E293B"/>
                </a:solidFill>
                <a:latin typeface="Calibri"/>
              </a:rPr>
              <a:t>En vitrinas comunes la diferencia térmica entre la charola superior e inferior supera los 5 °C, y no existe bloqueo automático si un alimento supera su vida útil de anaquel.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Solución ExpendeX®: </a:t>
            </a:r>
            <a:r>
              <a:rPr sz="980">
                <a:solidFill>
                  <a:srgbClr val="1E293B"/>
                </a:solidFill>
                <a:latin typeface="Calibri"/>
              </a:rPr>
              <a:t>Cámara frigorífica aislada (40 mm poliuretano, 2.0 a 4.0 °C), plenum vertical con 6 toberas calibradas (ΔT = 0.90 °C) y reloj RTC DS3231 que bloquea ventas a las 14.0 horas (NOM-251).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822191"/>
            <a:ext cx="5669280" cy="25420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822191"/>
            <a:ext cx="5669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" y="3931920"/>
            <a:ext cx="5413248" cy="2359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PROBLEMA 3: OBSOLESCENCIA DE PAGOS Y GESTIÓN CIEGA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Monederos Mecánicos y Rutas a Ciegas: </a:t>
            </a:r>
            <a:r>
              <a:rPr sz="980">
                <a:solidFill>
                  <a:srgbClr val="1E293B"/>
                </a:solidFill>
                <a:latin typeface="Calibri"/>
              </a:rPr>
              <a:t>Los aceptadores de billetes representan el 42% de las fallas técnicas, y el operador no sabe qué platillos se agotaron hasta ir físicamente a la máquina.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Solución ExpendeX®: </a:t>
            </a:r>
            <a:r>
              <a:rPr sz="980">
                <a:solidFill>
                  <a:srgbClr val="1E293B"/>
                </a:solidFill>
                <a:latin typeface="Calibri"/>
              </a:rPr>
              <a:t>Quiosco táctil de 10.1" con pagos 100% digitales (QR Mercado Pago, CoDi, Apple Pay, Google Pay) y Panel Web del Dueño con telemetría y rotación multi-ranura FIFO en tiempo real.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22191"/>
            <a:ext cx="5669280" cy="25420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22191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31920"/>
            <a:ext cx="5413248" cy="2359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PROBLEMA 4: COMPLEJIDAD DE CABLEADO Y COSTO PROHIBITIVO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72 Cables Individuales y Complejidad Electromecánica: </a:t>
            </a:r>
            <a:r>
              <a:rPr sz="980">
                <a:solidFill>
                  <a:srgbClr val="1E293B"/>
                </a:solidFill>
                <a:latin typeface="Calibri"/>
              </a:rPr>
              <a:t>Cablear 36 motores de forma independiente exige 36 relevadores y mazos de 72 conductores propensos a fallas; además, los equipos comerciales importados presentan una arquitectura cerrada e inaccesible para adaptaciones locales.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Solución ExpendeX®: </a:t>
            </a:r>
            <a:r>
              <a:rPr sz="980">
                <a:solidFill>
                  <a:srgbClr val="1E293B"/>
                </a:solidFill>
                <a:latin typeface="Calibri"/>
              </a:rPr>
              <a:t>Matriz de potencia MOSFET 6×6 en PCB EasyEDA que gobierna los 36 motorreductores de 24V DC con solo 12 pines GPIO optoaislados, reduciendo drásticamente el cableado y optimizando el costo de integración.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OBJETIVOS DE INGENIERÍA (SMART) Y SÍNTESIS DE LAS 5 ACTIVIDADES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Trazabilidad metodológica del proyecto desde la concepción (AF1) hasta la auditoría de cierre (AF5)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4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498348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498348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472744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OBJETIVO GENERAL Y OBJETIVOS ESPECÍFICOS (SMART)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Objetivo General: </a:t>
            </a:r>
            <a:r>
              <a:rPr sz="960">
                <a:solidFill>
                  <a:srgbClr val="1E293B"/>
                </a:solidFill>
                <a:latin typeface="Calibri"/>
              </a:rPr>
              <a:t>Diseñar, modelar, simular y validar un micro-restaurante automatizado IoT híbrido de 36 canales (1+4+1) capaz de almacenar y dispensar 60 comidas caseras en envase cuadrado de 3 divisiones y 168 bebidas frías bajo norma NOM-251.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OE1 — Mecánica y CAD 3D: </a:t>
            </a:r>
            <a:r>
              <a:rPr sz="960">
                <a:solidFill>
                  <a:srgbClr val="1E293B"/>
                </a:solidFill>
                <a:latin typeface="Calibri"/>
              </a:rPr>
              <a:t>Diseñar en Fusion 360 un gabinete de 950×880×1,930 mm con paredes lisas, 3 bisagras frontales, compuerta inferior con 2 bisagras superiores sin manija y 6 bandejas con FS ≥ 4.5.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OE2 — Termodinámica: </a:t>
            </a:r>
            <a:r>
              <a:rPr sz="960">
                <a:solidFill>
                  <a:srgbClr val="1E293B"/>
                </a:solidFill>
                <a:latin typeface="Calibri"/>
              </a:rPr>
              <a:t>Mantener la cámara entre 2.0 y 4.0 °C bajo ambiente de 42 °C con ΔT vertical ≤ 1.0 °C y abatimiento &lt; 45 min.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OE3 — Potencia EasyEDA: </a:t>
            </a:r>
            <a:r>
              <a:rPr sz="960">
                <a:solidFill>
                  <a:srgbClr val="1E293B"/>
                </a:solidFill>
                <a:latin typeface="Calibri"/>
              </a:rPr>
              <a:t>Gobernar 36 motores de 24V DC con 12 GPIOs mediante matriz MOSFET 6×6 optoaislada (η &gt; 99%).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OE4 — Web y Simulación Wokwi: </a:t>
            </a:r>
            <a:r>
              <a:rPr sz="960">
                <a:solidFill>
                  <a:srgbClr val="1E293B"/>
                </a:solidFill>
                <a:latin typeface="Calibri"/>
              </a:rPr>
              <a:t>Integrar Quiosco Web 10.1", Panel Admin FIFO y simulación en vivo de 36 LEDs en VS Code + Wokwi.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68112" y="1115568"/>
          <a:ext cx="64008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57400"/>
                <a:gridCol w="3291840"/>
              </a:tblGrid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ETAPA METODOLÓGICA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ENTREGABLES CLAVE DESARROLLADOS EN EL PROYECTO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AF1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Definición y Estado del Arte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Origen del proyecto en FIME, problemática cuantitativa, benchmarking de patentes, requerimientos de usuario y normatividad NOM-251 / NOM-051 / NOM-001.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AF2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Diseño Conceptual y Pugh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Generación de 3 alternativas mecatrónicas, Matriz de Decisión de Pugh (ganadora 1+4+1 con 9.68/10), diseño CAD preliminar y arquitectura de sistemas.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AF3 (PIA)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Ingeniería de Detalle e Integración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Modelo 3D CAD Final (127 sólidos), 10 modelos matemáticos en LaTeX, PCB Matriz MOSFET 6×6 en EasyEDA, Páginas Web (Cliente y Dueño) y Simulación 36 LEDs en VS Code Wokwi.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Diseño de Experimentos (DOE)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E293B"/>
                          </a:solidFill>
                          <a:latin typeface="Calibri"/>
                        </a:rPr>
                        <a:t>Protocolo experimental (n = 30 réplicas por variable), pruebas t de Student, ANOVA de un factor, validación térmica/estructural (error global 1.98%).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AF5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Auditoría Final y Viabilidad ROI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B"/>
                          </a:solidFill>
                          <a:latin typeface="Calibri"/>
                        </a:rPr>
                        <a:t>Presupuesto industrial BOM optimizado, análisis financiero VAN/TIR, Payback acelerado, matriz de riesgos FMEA y cierre normativo 100%.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ESTADO DEL ARTE Y DIVISIÓN DEL TRABAJO DE INGENIERÍA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Comparativa frente a soluciones comerciales y asignación integral de módulos entre los 2 integrantes IEA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EQUIPO IEA • GRUPO 005
Líder: Samuel Tovar Mújica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5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66928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66928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541324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1. SAMUEL TOVAR MÚJICA (Mat. 2077933 • IEA)
JEFE DEL PROYECTO, CAD 3D PARAMÉTRICO, WOKWI Y DOE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Jefe del Proyecto y Arquitectura ExpendeX (1+4+1): </a:t>
            </a:r>
            <a:r>
              <a:rPr sz="960">
                <a:solidFill>
                  <a:srgbClr val="1E293B"/>
                </a:solidFill>
                <a:latin typeface="Calibri"/>
              </a:rPr>
              <a:t>Dirección general del proyecto, integración mecatrónica de las 5 actividades fundamentales y diseño de los 36 canales mixtos (capacidad total para 228 unidades refrigeradas).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Modelo 3D CAD Paramétrico Final en Fusion 360: </a:t>
            </a:r>
            <a:r>
              <a:rPr sz="960">
                <a:solidFill>
                  <a:srgbClr val="1E293B"/>
                </a:solidFill>
                <a:latin typeface="Calibri"/>
              </a:rPr>
              <a:t>Modelado completo de precisión industrial: paredes exteriores lisas sin costillas, 3 bisagras reforzadas en puerta, compuerta inferior pendular con 2 bisagras superiores sin manija, compuerta trasera de servicio con chapa de seguridad, resortes circulares de acero inoxidable y recipientes cuadrados de comida con 3 divisiones.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Simulación en VS Code + Wokwi (Matriz de 36 LEDs): </a:t>
            </a:r>
            <a:r>
              <a:rPr sz="960">
                <a:solidFill>
                  <a:srgbClr val="1E293B"/>
                </a:solidFill>
                <a:latin typeface="Calibri"/>
              </a:rPr>
              <a:t>Desarrollo del firmware en C++ (FreeRTOS) y circuito Wokwi de la matriz 6×6 con multiplexación de compuertas, sincronizada en vivo con la página web por TCP puerto 4000 e interrupción por sensor óptico IR de caída.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Modelación Físico-Matemática en LaTeX y Validación DOE: </a:t>
            </a:r>
            <a:r>
              <a:rPr sz="960">
                <a:solidFill>
                  <a:srgbClr val="1E293B"/>
                </a:solidFill>
                <a:latin typeface="Calibri"/>
              </a:rPr>
              <a:t>Deducción de vigas Euler-Bernoulli (δ = 1.280 mm &lt; 1.50 mm), esfuerzos de Von Mises (FS = 4.65), dinámica de espirales (FS = 4.71) y diseño de experimentos factorial (AF3, AF4).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115568"/>
            <a:ext cx="566928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15568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25295"/>
            <a:ext cx="541324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2. EMILIANO SÁNCHEZ MARTÍNEZ (Mat. 2012856 • IEA)
PLATAFORMA WEB DUAL, POTENCIA EASYEDA, PCB Y REFRIGERACIÓN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Plataforma Web Dual del Cliente y del Dueño: </a:t>
            </a:r>
            <a:r>
              <a:rPr sz="960">
                <a:solidFill>
                  <a:srgbClr val="1E293B"/>
                </a:solidFill>
                <a:latin typeface="Calibri"/>
              </a:rPr>
              <a:t>Desarrollo front-end responsive (quiosco táctil de 10.1") con catálogo nutricional interactivo NOM-051, combos inteligentes y pasarela de pago QR real Mercado Pago, junto con el panel administrativo del dueño con gestión multi-ranura FIFO y telemetría.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Diseño de Electrónica de Potencia en EasyEDA: </a:t>
            </a:r>
            <a:r>
              <a:rPr sz="960">
                <a:solidFill>
                  <a:srgbClr val="1E293B"/>
                </a:solidFill>
                <a:latin typeface="Calibri"/>
              </a:rPr>
              <a:t>Ingeniería de la matriz MOSFET 6×6 con 6 P-MOSFET IRF4905 (High-Side) y 6 N-MOSFET IRLZ44N (Low-Side) para gobernar 36 motorreductores planetarios de 24V DC con solo 12 líneas GPIO.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Aislamiento Galvánico y Ruteo PCB (Norma IPC-2221B): </a:t>
            </a:r>
            <a:r>
              <a:rPr sz="960">
                <a:solidFill>
                  <a:srgbClr val="1E293B"/>
                </a:solidFill>
                <a:latin typeface="Calibri"/>
              </a:rPr>
              <a:t>12 optoacopladores PC817C (aislamiento de 5,000 V RMS entre GND_DIG y GND_PWR), 36 diodos Schottky 1N5822 y diseño de PCB de 2 capas FR-4 con pistas de potencia de 3.50 mm (ΔT = 1.65 °C).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Sistema de Refrigeración Comercial Completo (450W R134a): </a:t>
            </a:r>
            <a:r>
              <a:rPr sz="960">
                <a:solidFill>
                  <a:srgbClr val="1E293B"/>
                </a:solidFill>
                <a:latin typeface="Calibri"/>
              </a:rPr>
              <a:t>Balance térmico a 42 °C exterior (165.40 W), compresor Embraco 1/5 HP (COP 2.50), plenum vertical con 6 toberas laminares según Darcy-Weisbach (ΔT vertical = 0.90 °C) y control termostático digital ESP32 con histéresis (2.0 a 4.0 °C).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DISEÑO CONCEPTUAL Y MATRIZ DE DECISIÓN DE PUGH (AF2)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Evaluación multicriterio ponderada (Pahl &amp; Beitz) de las 3 alternativas de dispensado mecatrónico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6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15568"/>
          <a:ext cx="69037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868680"/>
                <a:gridCol w="1188720"/>
                <a:gridCol w="1188720"/>
                <a:gridCol w="1325880"/>
              </a:tblGrid>
              <a:tr h="47434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CRITERIO DE INGENIERÍA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PESO (w_i)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ALT. A: CARRUSEL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ALT. B: ELEVADOR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ALT. C: EXPENDEX 1+4+1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1. Fiabilidad con envase cuadrado 3 div.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0.22 (22%)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6.0 (1.32)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7.5 (1.65)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9.8 (2.16)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2. Capacidad volumétrica (228 uds)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0.15 (15%)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4.5 (0.68)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7.0 (1.05)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9.6 (1.44)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3. Uniformidad térmica (2–4 °C, ΔT ≤ 1.1°C)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0.18 (18%)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6.5 (1.17)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7.0 (1.26)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9.7 (1.75)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4. Simplicidad electrónica (Matriz 6×6)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0.14 (14%)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7.0 (0.98)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4.0 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9.8 (1.37)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5. Costo objetivo y factibilidad BOM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0.13 (13%)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6.5 (0.85)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3.5 (0.46)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9.5 (1.24)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6. Mantenibilidad y ciclo (&lt; 5.0 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0.18 (18%)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5.5 (0.98)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4.8 (0.87)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9.6 (1.72)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PUNTAJE PONDERADO TOTAL (S_j)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1.00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5.98 / 10.0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5.85 / 10.0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9.68 / 10.0 (GANADORA)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eq_p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6903720" cy="15032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1115568"/>
            <a:ext cx="450799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115568"/>
            <a:ext cx="4507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6" y="1225295"/>
            <a:ext cx="425195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JUSTIFICACIÓN DE LA ALTERNATIVA GANADORA (1+4+1)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▪ Descarte de Alternativa A (Carrusel Tambor): </a:t>
            </a:r>
            <a:r>
              <a:rPr sz="1000">
                <a:solidFill>
                  <a:srgbClr val="1E293B"/>
                </a:solidFill>
                <a:latin typeface="Calibri"/>
              </a:rPr>
              <a:t>Desperdicia el 42% del volumen de las esquinas del gabinete prismático y exige rotar toda la masa inercial (180 kg) en cada compra.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▪ Descarte de Alternativa B (Elevador Cartesiano XY): </a:t>
            </a:r>
            <a:r>
              <a:rPr sz="1000">
                <a:solidFill>
                  <a:srgbClr val="1E293B"/>
                </a:solidFill>
                <a:latin typeface="Calibri"/>
              </a:rPr>
              <a:t>Eleva sustancialmente el costo y complejidad mecánica, además de presentar un punto único de falla (si la correa del eje Y falla, los 36 canales quedan inoperantes).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▪ Superioridad de la Arquitectura ExpendeX 1+4+1: </a:t>
            </a:r>
            <a:r>
              <a:rPr sz="1000">
                <a:solidFill>
                  <a:srgbClr val="1E293B"/>
                </a:solidFill>
                <a:latin typeface="Calibri"/>
              </a:rPr>
              <a:t>Combina 12 espirales gigantes de Ø 144 mm en los extremos (para tuppers cuadrados de 3 divisiones) y 24 espirales centrales de Ø 70 mm (para bebidas), logrando 9.68/10 puntos y 4.09x mejor relación costo-beneficio.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MODELO 3D CAD FINAL EN FUSION 360: VISTAS FRONTALES OFICIALES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Diseño definitivo a escala 1:1 con paredes lisas, 3 bisagras frontales, pantalla 10.1" y compuerta tipo columpio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7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416052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416052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3904487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INGENIERÍA EXTERIOR Y FRONTAL DEL MODELO FINAL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Dimensiones de Gabinete (950 × 880 × 1,930 mm): </a:t>
            </a:r>
            <a:r>
              <a:rPr sz="969">
                <a:solidFill>
                  <a:srgbClr val="1E293B"/>
                </a:solidFill>
                <a:latin typeface="Calibri"/>
              </a:rPr>
              <a:t>Ancho frontal de 950 mm, profundidad de 880 mm y altura de cuerpo de 1,830 mm (+ 100 mm de las 4 ruedas industriales con freno = 1,930 mm totales).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Paredes Laterales 100% Lisas (Cal. 18): </a:t>
            </a:r>
            <a:r>
              <a:rPr sz="969">
                <a:solidFill>
                  <a:srgbClr val="1E293B"/>
                </a:solidFill>
                <a:latin typeface="Calibri"/>
              </a:rPr>
              <a:t>Paneles exteriores de acero Cold Rolled completamente lisos y limpios en acabado grafito mate, con rejilla inferior de enfriamiento en el compartimento del compresor.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Puerta Principal con 3 Bisagras Izquierdas: </a:t>
            </a:r>
            <a:r>
              <a:rPr sz="969">
                <a:solidFill>
                  <a:srgbClr val="1E293B"/>
                </a:solidFill>
                <a:latin typeface="Calibri"/>
              </a:rPr>
              <a:t>Equipada con 3 bisagras industriales negras de alta carga (superior, central a media altura e inferior) y cerradura derecha.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Copete Superior con Pantalla 10.1" y Altavoz: </a:t>
            </a:r>
            <a:r>
              <a:rPr sz="969">
                <a:solidFill>
                  <a:srgbClr val="1E293B"/>
                </a:solidFill>
                <a:latin typeface="Calibri"/>
              </a:rPr>
              <a:t>Rejilla acústica cuadrada a la izquierda y pantalla táctil de 10.1" al centro.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Compuerta Inferior con 2 Bisagras Superiores: </a:t>
            </a:r>
            <a:r>
              <a:rPr sz="969">
                <a:solidFill>
                  <a:srgbClr val="1E293B"/>
                </a:solidFill>
                <a:latin typeface="Calibri"/>
              </a:rPr>
              <a:t>Sin agarradera ni manija exterior; sostenida arriba por 2 bisagras para abrirse empujando tipo columpio.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115568"/>
            <a:ext cx="356616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Vista_Frontal_CAD_Final_Expe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22" y="1188720"/>
            <a:ext cx="3018354" cy="47274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36007" y="5989320"/>
            <a:ext cx="3529584" cy="365759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VISTA FRONTAL ORTOGONAL CAD (1+4+1 Y 3 BISAGRAS)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115568"/>
            <a:ext cx="354787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g09_CAD_Fusion360_Ensamble_General_Isometria_Sol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50999"/>
            <a:ext cx="3364991" cy="42028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339327" y="5989320"/>
            <a:ext cx="3511296" cy="3657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ENSAMBLE GENERAL SÓLIDO (PAREDES LISAS Y VITRINA)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MODELO 3D CAD FINAL: VISTAS POSTERIORES Y ACCESO TÉCNICO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Ingeniería de mantenibilidad trasera, ventilación de unidad frigorífica Embraco y envolvente térmica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8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416052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41605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3904487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2B6CB0"/>
                </a:solidFill>
                <a:latin typeface="Calibri"/>
              </a:rPr>
              <a:t>ARQUITECTURA POSTERIOR Y MANTENIMIENTO INDUSTRIAL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Compuerta Trasera de Mantenimiento con Rejilla: </a:t>
            </a:r>
            <a:r>
              <a:rPr sz="969">
                <a:solidFill>
                  <a:srgbClr val="1E293B"/>
                </a:solidFill>
                <a:latin typeface="Calibri"/>
              </a:rPr>
              <a:t>En la sección inferior trasera (bahía de máquinas), el modelo incorpora una puerta abatible dedicada con 2 bisagras izquierdas, cerrojo derecho y persiana de ventilación horizontal.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Acceso Directo al Compresor y PCB de Potencia: </a:t>
            </a:r>
            <a:r>
              <a:rPr sz="969">
                <a:solidFill>
                  <a:srgbClr val="1E293B"/>
                </a:solidFill>
                <a:latin typeface="Calibri"/>
              </a:rPr>
              <a:t>Permite dar servicio rápido al compresor hermético Embraco 1/5 HP, al condensador de tiro forzado, a la fuente de 24V DC y al gabinete IP65 de la placa PCB EasyEDA.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Envolvente Superior Posterior 100% Sellada: </a:t>
            </a:r>
            <a:r>
              <a:rPr sz="969">
                <a:solidFill>
                  <a:srgbClr val="1E293B"/>
                </a:solidFill>
                <a:latin typeface="Calibri"/>
              </a:rPr>
              <a:t>La espalda de la cámara fría carece de perforaciones parásitas, conservando los 40 mm continuos de espuma rígida de poliuretano.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Doble Rejilla Lateral + Trasera (Flujo Cruzado): </a:t>
            </a:r>
            <a:r>
              <a:rPr sz="969">
                <a:solidFill>
                  <a:srgbClr val="1E293B"/>
                </a:solidFill>
                <a:latin typeface="Calibri"/>
              </a:rPr>
              <a:t>Las rejillas en ambos costados inferiores y en la puerta trasera evacúan eficientemente los 230 W de rechazo térmico del condensador.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115568"/>
            <a:ext cx="356616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13_CAD_Fusion360_Sala_Maquinas_Compresor_Embraco_Condens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19967"/>
            <a:ext cx="3383279" cy="2064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36007" y="5989320"/>
            <a:ext cx="3529584" cy="36575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SALA FRIGORÍFICA BOWA (COMPRESOR EMBRACO 1/5 HP)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115568"/>
            <a:ext cx="354787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g16_CAD_Fusion360_Vista_Posterior_Matriz_Motorreductores_Cable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2911"/>
            <a:ext cx="3364991" cy="435906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339327" y="5989320"/>
            <a:ext cx="3511296" cy="365759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VISTA POSTERIOR: MATRIZ 36 MOTORES 24V Y ARNÉS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INGENIERÍA INTERNA Y RENDER OFICIAL: ENVASES DE 3 DIVISIONES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Bandejas deslizantes 1+4+1 con recipientes cuadrados (2 guarniciones + 1 plato fuerte) en resortes circulares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9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694944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6949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6693407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DISPOSICIÓN INTERNA 1+4+1 Y RECIPIENTES CUADRADOS DE 3 DIVISIONES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Recipientes Cuadrados con 3 Divisiones (Columnas 1 y 6): </a:t>
            </a:r>
            <a:r>
              <a:rPr sz="969">
                <a:solidFill>
                  <a:srgbClr val="1E293B"/>
                </a:solidFill>
                <a:latin typeface="Calibri"/>
              </a:rPr>
              <a:t>En los extremos izquierdo y derecho de cada bandeja se alojan recipientes cuadrados de polipropileno grado alimenticio (175×175×75 mm) con 3 compartimentos internos: 2 divisiones para guarniciones (ej. arroz y ensalada/verduras) y 1 división principal para el plato fuerte.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Impulsión por Resorte Circular Único (Ø 144 mm): </a:t>
            </a:r>
            <a:r>
              <a:rPr sz="969">
                <a:solidFill>
                  <a:srgbClr val="1E293B"/>
                </a:solidFill>
                <a:latin typeface="Calibri"/>
              </a:rPr>
              <a:t>Cada carril de comida utiliza un solo resorte helicoidal circular de acero al carbono SAE 1070 (Ø 144 mm, alambre Ø 7 mm, paso 118 mm), guiado por paredes laterales de acero inoxidable que impiden cualquier giro oblicuo.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4 Canales Centrales de Bebidas con Resorte Simple (Ø 70 mm): </a:t>
            </a:r>
            <a:r>
              <a:rPr sz="969">
                <a:solidFill>
                  <a:srgbClr val="1E293B"/>
                </a:solidFill>
                <a:latin typeface="Calibri"/>
              </a:rPr>
              <a:t>Las columnas 2, 3, 4 y 5 emplean un resorte circular individual (Ø 70 mm, alambre Ø 4 mm) sin doble espiral, alojando 28 bebidas por bandeja.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096512"/>
          <a:ext cx="69494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417320"/>
                <a:gridCol w="1463040"/>
                <a:gridCol w="132588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TIPO DE CANAL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ANCHO BAHÍA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RESORTE CIRCULAR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ENVASE ALOJADO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CAPACIDAD TOTAL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12 Bahías Laterales (Cols 1 y 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190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1 Resorte Ø 144 mm
(Alambre Ø 7 mm)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Cuadrado 3 Divisiones
(2 Guarn. + 1 Fuerte)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5 uds × 12 = 60 comidas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24 Canales Centrales (Cols 2–5)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95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1 Resorte Ø 70 mm
(Alambre Ø 4 mm)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Botella PET / Lata
(355 a 600 ml)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7 uds × 24 = 168 bebidas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TOTAL SISTEMA (6 Bandejas)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880 mm útiles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36 Resortes Circulares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Híbrido Comida + Bebida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228 Unidades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452360" y="1115568"/>
            <a:ext cx="441655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pendeX_Render_Oficial_Defin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22" y="1188720"/>
            <a:ext cx="3529827" cy="47274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470648" y="5989320"/>
            <a:ext cx="4379976" cy="3657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RENDER OFICIAL EXPENDEX — TUPPERS 3 DIVISIONES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MODELACIÓN FÍSICO-MATEMÁTICA: ESTRUCTURA Y DINÁMICA 24V DC (AF3)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Ecuaciones en LaTeX de deflexión Euler-Bernoulli (226.81 N) y par torsor en los 36 motorreductores planetarios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10 / 20</a:t>
            </a:r>
          </a:p>
        </p:txBody>
      </p:sp>
      <p:pic>
        <p:nvPicPr>
          <p:cNvPr id="10" name="Picture 9" descr="eq_m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760720" cy="13008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487168"/>
            <a:ext cx="57607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76072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596896"/>
            <a:ext cx="550468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DEMOSTRACIÓN ANALÍTICA ESTRUCTURAL Y CINEMÁTICA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Carga Gravitacional por Bandeja (226.81 N): </a:t>
            </a:r>
            <a:r>
              <a:rPr sz="980">
                <a:solidFill>
                  <a:srgbClr val="1E293B"/>
                </a:solidFill>
                <a:latin typeface="Calibri"/>
              </a:rPr>
              <a:t>10 recipientes cuadrados de comida (6.50 kg) + 28 bebidas (15.12 kg) + masa de charola y motores = 23.12 kg por nivel (q = 257.74 N/m).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Deflexión Elástica Central (Euler-Bernoulli): </a:t>
            </a:r>
            <a:r>
              <a:rPr sz="980">
                <a:solidFill>
                  <a:srgbClr val="1E293B"/>
                </a:solidFill>
                <a:latin typeface="Calibri"/>
              </a:rPr>
              <a:t>En las 2 vigas portantes (I_total = 4.65×10^-7 m^4) la flecha máxima es δ = 1.280 mm (&lt; L/500 = 1.76 mm), y en la chapa plegada en 'C' es δ = 0.089 mm.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Factor de Seguridad Von Mises (FS = 4.65): </a:t>
            </a:r>
            <a:r>
              <a:rPr sz="980">
                <a:solidFill>
                  <a:srgbClr val="1E293B"/>
                </a:solidFill>
                <a:latin typeface="Calibri"/>
              </a:rPr>
              <a:t>Esfuerzo equivalente σ_vm = 46.20 MPa frente al límite elástico de 215 MPa del acero inoxidable AISI 304.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Tracción con Motorreductores Planetarios 24V DC: </a:t>
            </a:r>
            <a:r>
              <a:rPr sz="980">
                <a:solidFill>
                  <a:srgbClr val="1E293B"/>
                </a:solidFill>
                <a:latin typeface="Calibri"/>
              </a:rPr>
              <a:t>Para vencer la fricción (F_f = 16.21 N) de 5 recipientes cuadrados en el resorte de Ø 144 mm se requieren 0.382 N·m; el motorreductor entrega 1.80 N·m (FS = 4.71).</a:t>
            </a:r>
          </a:p>
        </p:txBody>
      </p:sp>
      <p:pic>
        <p:nvPicPr>
          <p:cNvPr id="14" name="Picture 13" descr="chart_deflexion_bande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577840" cy="3123590"/>
          </a:xfrm>
          <a:prstGeom prst="rect">
            <a:avLst/>
          </a:prstGeom>
        </p:spPr>
      </p:pic>
      <p:pic>
        <p:nvPicPr>
          <p:cNvPr id="15" name="Picture 14" descr="chart_torque_corriente_mot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794760"/>
            <a:ext cx="5577840" cy="31235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MODELACIÓN TERMODINÁMICA Y PLENUM DE 6 TOBERAS LAMINARES (AF3)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Conservación sanitaria de 2.0 a 4.0 °C bajo clima extremo de Monterrey (42 °C) conforme a NOM-251-SSA1-2009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Emiliano Sánchez Martínez
Mat. 2012856 • Refrigeración Comercial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11 / 20</a:t>
            </a:r>
          </a:p>
        </p:txBody>
      </p:sp>
      <p:pic>
        <p:nvPicPr>
          <p:cNvPr id="10" name="Picture 9" descr="eq_ther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760720" cy="13008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487168"/>
            <a:ext cx="57607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7607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596896"/>
            <a:ext cx="550468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2B6CB0"/>
                </a:solidFill>
                <a:latin typeface="Calibri"/>
              </a:rPr>
              <a:t>BALANCE TÉRMICO Y SISTEMA DE REFRIGERACIÓN (EMILIANO SÁNCHEZ MARTÍNEZ)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Resistencia Térmica Multicapa (R_th = 0.569 K/W): </a:t>
            </a:r>
            <a:r>
              <a:rPr sz="980">
                <a:solidFill>
                  <a:srgbClr val="1E293B"/>
                </a:solidFill>
                <a:latin typeface="Calibri"/>
              </a:rPr>
              <a:t>Paredes con 40 mm de poliuretano rígido (k = 0.022 W/m·K) y vitrina frontal de doble cristal templado Low-E con cámara de argón.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Carga Térmica Total a 42 °C (165.40 W): </a:t>
            </a:r>
            <a:r>
              <a:rPr sz="980">
                <a:solidFill>
                  <a:srgbClr val="1E293B"/>
                </a:solidFill>
                <a:latin typeface="Calibri"/>
              </a:rPr>
              <a:t>Suma de conducción por paredes/vidrio (98.40 W), infiltración por aperturas (29.50 W), carga de productos (22.50 W) y disipación interna (15.00 W).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Abatimiento Pull-Down con Compresor Embraco 1/5 HP: </a:t>
            </a:r>
            <a:r>
              <a:rPr sz="980">
                <a:solidFill>
                  <a:srgbClr val="1E293B"/>
                </a:solidFill>
                <a:latin typeface="Calibri"/>
              </a:rPr>
              <a:t>Capacidad de extracción de 450 W (COP = 2.50), enfriando de 42.0 °C a 3.0 °C en t = 40.89 min (constante de tiempo τ = 14.37 min).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6 Toberas Calibradas por Darcy-Weisbach: </a:t>
            </a:r>
            <a:r>
              <a:rPr sz="980">
                <a:solidFill>
                  <a:srgbClr val="1E293B"/>
                </a:solidFill>
                <a:latin typeface="Calibri"/>
              </a:rPr>
              <a:t>Áreas escaladas de 28.0 cm² (Bandeja F) a 36.0 cm² (Bandeja A) para inyectar aire a v = 1.85 m/s parejo, logrando ΔT vertical = 0.90 °C.</a:t>
            </a:r>
          </a:p>
        </p:txBody>
      </p:sp>
      <p:pic>
        <p:nvPicPr>
          <p:cNvPr id="14" name="Picture 13" descr="chart_pulldown_term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577840" cy="3123590"/>
          </a:xfrm>
          <a:prstGeom prst="rect">
            <a:avLst/>
          </a:prstGeom>
        </p:spPr>
      </p:pic>
      <p:pic>
        <p:nvPicPr>
          <p:cNvPr id="15" name="Picture 14" descr="chart_estratificacion_tober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794760"/>
            <a:ext cx="5577840" cy="3123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ELECTRÓNICA DE POTENCIA: MATRIZ MOSFET 6×6 EN EASYEDA (AF3)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Conmutación de estado sólido para 36 motorreductores planetarios de 24V DC mediante 12 líneas GPIO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Emiliano Sánchez Martínez
Mat. 2012856 — Potencia EasyEDA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12 / 20</a:t>
            </a:r>
          </a:p>
        </p:txBody>
      </p:sp>
      <p:pic>
        <p:nvPicPr>
          <p:cNvPr id="10" name="Picture 9" descr="eq_pow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760720" cy="13008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487168"/>
            <a:ext cx="57607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596896"/>
            <a:ext cx="550468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ARQUITECTURA DE CONMUTACIÓN MATRICIAL 6 FILAS × 6 COLUMNAS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Reducción de Pines (De 36 a 12 GPIOs): </a:t>
            </a:r>
            <a:r>
              <a:rPr sz="980">
                <a:solidFill>
                  <a:srgbClr val="1E293B"/>
                </a:solidFill>
                <a:latin typeface="Calibri"/>
              </a:rPr>
              <a:t>En lugar de usar 36 relevadores mecánicos voluminosos, se diseñó en EasyEDA una matriz activa de 6 Filas (Bandejas A–F) por 6 Columnas (Carriles 1–6).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Conmutadores High-Side (6 P-MOSFET IRF4905): </a:t>
            </a:r>
            <a:r>
              <a:rPr sz="980">
                <a:solidFill>
                  <a:srgbClr val="1E293B"/>
                </a:solidFill>
                <a:latin typeface="Calibri"/>
              </a:rPr>
              <a:t>Habilitan el riel positivo de +24V DC hacia la bandeja seleccionada con resistencia R_DS(on) = 0.020 Ω y capacidad de 74 A.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Conmutadores Low-Side (6 N-MOSFET IRLZ44N): </a:t>
            </a:r>
            <a:r>
              <a:rPr sz="980">
                <a:solidFill>
                  <a:srgbClr val="1E293B"/>
                </a:solidFill>
                <a:latin typeface="Calibri"/>
              </a:rPr>
              <a:t>Cierran el circuito a tierra (GND_PWR) en la columna elegida con disparo de nivel lógico y R_DS(on) = 0.022 Ω.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Eficiencia Energética del 99.63%: </a:t>
            </a:r>
            <a:r>
              <a:rPr sz="980">
                <a:solidFill>
                  <a:srgbClr val="1E293B"/>
                </a:solidFill>
                <a:latin typeface="Calibri"/>
              </a:rPr>
              <a:t>Durante el pico de arranque (2.10 A), la caída de tensión en los MOSFETs es de solo 88.2 mV y la disipación combinada es de apenas 0.185 W (sin requerir disipadores).</a:t>
            </a:r>
          </a:p>
        </p:txBody>
      </p:sp>
      <p:pic>
        <p:nvPicPr>
          <p:cNvPr id="14" name="Picture 13" descr="potencia_matriz_mosf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577840" cy="3486150"/>
          </a:xfrm>
          <a:prstGeom prst="rect">
            <a:avLst/>
          </a:prstGeom>
        </p:spPr>
      </p:pic>
      <p:pic>
        <p:nvPicPr>
          <p:cNvPr id="15" name="Picture 14" descr="chart_transitorio_mosfet_fly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886200"/>
            <a:ext cx="5577840" cy="29748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RUTEO DE PLACA PCB EN EASYEDA, OPTOAISLAMIENTO Y NORMA IPC-2221B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Diseño de circuito impreso FR-4 de doble capa (120 × 100 mm), barrera galvánica de 5 kV y diodos Schottky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Emiliano Sánchez Martínez
Mat. 2012856 — Diseño PCB EasyEDA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13 / 20</a:t>
            </a:r>
          </a:p>
        </p:txBody>
      </p:sp>
      <p:pic>
        <p:nvPicPr>
          <p:cNvPr id="10" name="Picture 9" descr="eq_pcb_i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760720" cy="13008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487168"/>
            <a:ext cx="57607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596896"/>
            <a:ext cx="550468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INGENIERÍA DE DETALLE DE LA PLACA PCB EN EASYEDA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Dimensionamiento de Pistas IPC-2221B (3.50 mm): </a:t>
            </a:r>
            <a:r>
              <a:rPr sz="980">
                <a:solidFill>
                  <a:srgbClr val="1E293B"/>
                </a:solidFill>
                <a:latin typeface="Calibri"/>
              </a:rPr>
              <a:t>Para soportar 3.5 A en cobre exterior de 1 oz/ft² (35 µm) con ΔT &lt; 10 °C, el mínimo normativo es 1.18 mm; se ruteó a 3.50 mm logrando ΔT = 1.65 °C.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Aislamiento Galvánico Total (12 Optos PC817C): </a:t>
            </a:r>
            <a:r>
              <a:rPr sz="980">
                <a:solidFill>
                  <a:srgbClr val="1E293B"/>
                </a:solidFill>
                <a:latin typeface="Calibri"/>
              </a:rPr>
              <a:t>Separa con rigidez dieléctrica de 5,000 V RMS la tierra digital de 3.3V (`GND_DIG` del ESP32) respecto a la tierra de potencia de 24V (`GND_PWR`).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36 Diodos Schottky 1N5822 y Diodos de Bloqueo: </a:t>
            </a:r>
            <a:r>
              <a:rPr sz="980">
                <a:solidFill>
                  <a:srgbClr val="1E293B"/>
                </a:solidFill>
                <a:latin typeface="Calibri"/>
              </a:rPr>
              <a:t>Cada motorreductor integra un diodo rueda libre Schottky (V_F = 0.52 V) para absorber la fuerza contraelectromotriz al corte (V_DS = 24.62 V) y evitar corrientes fantasma.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Protección contra Cortocircuito y Fusibles PTC: </a:t>
            </a:r>
            <a:r>
              <a:rPr sz="980">
                <a:solidFill>
                  <a:srgbClr val="1E293B"/>
                </a:solidFill>
                <a:latin typeface="Calibri"/>
              </a:rPr>
              <a:t>Filtro capacitivo de entrada de 4,700 µF / 50V y fusibles rearmables independientes por rama.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60527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cb_layout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685107"/>
            <a:ext cx="5422392" cy="37346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81927" y="5989320"/>
            <a:ext cx="5568696" cy="3657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LAYOUT PCB DOBLE CAPA FR-4 EN EASYEDA (120 × 100 MM)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PLATAFORMA WEB DEL CLIENTE: INTERFAZ TÁCTIL DE 10.1 PULGADAS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Experiencia de usuario interactiva, catálogo nutricional NOM-051, combos inteligentes y pago QR / Wallets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Emiliano Sánchez Martínez
Mat. 2012856 — Web Cliente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14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07492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074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481888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INGENIERÍA FRONT-END DE LA PÁGINA WEB DEL CLIENTE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Despliegue Nativo en Pantalla Capacitiva de 10.1": </a:t>
            </a:r>
            <a:r>
              <a:rPr sz="969">
                <a:solidFill>
                  <a:srgbClr val="1E293B"/>
                </a:solidFill>
                <a:latin typeface="Calibri"/>
              </a:rPr>
              <a:t>Interfaz web optimizada a resolución 1280×800 px servida en `http://localhost:3000`, logrando respuesta táctil &lt; 50 ms.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Catálogo Híbrido y Armado de Combos: </a:t>
            </a:r>
            <a:r>
              <a:rPr sz="969">
                <a:solidFill>
                  <a:srgbClr val="1E293B"/>
                </a:solidFill>
                <a:latin typeface="Calibri"/>
              </a:rPr>
              <a:t>Navegación intuitiva por 'Platillos Fuertes ($120 MXN)', 'Bebidas Frías ($25 MXN)' y 'Combos del Día' con descuento automático (-$15 MXN) y fotos reales.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Transparencia Nutricional (NOM-051): </a:t>
            </a:r>
            <a:r>
              <a:rPr sz="969">
                <a:solidFill>
                  <a:srgbClr val="1E293B"/>
                </a:solidFill>
                <a:latin typeface="Calibri"/>
              </a:rPr>
              <a:t>Cada tarjeta de comida muestra gramaje, kilocalorías, proteínas, carbohidratos y el desglose exacto de las 3 divisiones (plato fuerte + 2 guarniciones).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Accesibilidad Visual Certificada WCAG 2.1 AAA: </a:t>
            </a:r>
            <a:r>
              <a:rPr sz="969">
                <a:solidFill>
                  <a:srgbClr val="1E293B"/>
                </a:solidFill>
                <a:latin typeface="Calibri"/>
              </a:rPr>
              <a:t>Cuatro temas dinámicos con relaciones de contraste verificadas entre 8.45:1 y 14.2:1, más guía auditiva por voz (Web Speech API).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Pasarela de Pago Digital + Enlace a ESP32: </a:t>
            </a:r>
            <a:r>
              <a:rPr sz="969">
                <a:solidFill>
                  <a:srgbClr val="1E293B"/>
                </a:solidFill>
                <a:latin typeface="Calibri"/>
              </a:rPr>
              <a:t>Cobro con Tarjeta/Saldo, Apple Pay, Google Pay y QR de Mercado Pago que dispara instantáneamente el dispensado en el ESP32.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1115568"/>
            <a:ext cx="630936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iosco_ui_10pulg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637919"/>
            <a:ext cx="6126480" cy="38290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77840" y="5989320"/>
            <a:ext cx="6272784" cy="36575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INTERFAZ WEB DEL CLIENTE (QUIOSCO TÁCTIL 10.1" — LOCALHOST:3000)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PLATAFORMA WEB DEL DUEÑO: PANEL ADMIN Y GESTOR MULTI-RANURA FIFO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Administración remota de las 36 bahías, algoritmo de rotación PEPS/FIFO y bloqueo sanitario de 14 horas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Emiliano Sánchez Martínez
Mat. 2012856 — Web Dueño /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15 / 20</a:t>
            </a:r>
          </a:p>
        </p:txBody>
      </p:sp>
      <p:pic>
        <p:nvPicPr>
          <p:cNvPr id="10" name="Picture 9" descr="eq_web_fi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166360" cy="11665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487168"/>
            <a:ext cx="516636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1663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596896"/>
            <a:ext cx="491032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FUNCIONALIDADES DEL PORTAL WEB DEL DUEÑO / OPERADOR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Gestor de Inventario Multi-Ranura Secuencial FIFO: </a:t>
            </a:r>
            <a:r>
              <a:rPr sz="969">
                <a:solidFill>
                  <a:srgbClr val="1E293B"/>
                </a:solidFill>
                <a:latin typeface="Calibri"/>
              </a:rPr>
              <a:t>Permite al dueño asignar un mismo platillo estrella a múltiples bahías laterales (ej. A1, B1 y C1). El algoritmo despacha primero el lote más antiguo y conmuta de bahía en 6.82 ms al agotarse una fila.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Reloj de Caducidad Sanitaria (14.0 Horas / 840 min): </a:t>
            </a:r>
            <a:r>
              <a:rPr sz="969">
                <a:solidFill>
                  <a:srgbClr val="1E293B"/>
                </a:solidFill>
                <a:latin typeface="Calibri"/>
              </a:rPr>
              <a:t>Sincronizado con el RTC DS3231; muestra barras de frescura en vivo y bloquea automáticamente cualquier canal que cumpla 14 horas desde su recarga.</a:t>
            </a:r>
          </a:p>
          <a:p>
            <a:pPr>
              <a:spcAft>
                <a:spcPts val="300"/>
              </a:spcAft>
            </a:pPr>
            <a:r>
              <a:rPr sz="969" b="1">
                <a:solidFill>
                  <a:srgbClr val="1E293B"/>
                </a:solidFill>
                <a:latin typeface="Calibri"/>
              </a:rPr>
              <a:t>▪ Telemetría Térmica y Estado de Cuenta de 90 Días: </a:t>
            </a:r>
            <a:r>
              <a:rPr sz="969">
                <a:solidFill>
                  <a:srgbClr val="1E293B"/>
                </a:solidFill>
                <a:latin typeface="Calibri"/>
              </a:rPr>
              <a:t>Gráficas de temperatura de las 6 bandejas (2.80 °C), estado de resultados trimestral, edición de precios en vivo y reabastecimiento 1-clic.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115568"/>
            <a:ext cx="621792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dmin_dashboard_fi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1" y="1855089"/>
            <a:ext cx="6035040" cy="339471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669279" y="5989320"/>
            <a:ext cx="6181344" cy="365759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PORTAL ADMINISTRATIVO DEL DUEÑO (LOCALHOST:3000/ADMIN)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SIMULACIÓN EN VS CODE + WOKWI: MATRIZ DE 36 LEDS + PÁGINA WEB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Encendido en tiempo real de la matriz 6×6 (M-A1 a M-F6) al comprar un producto en la Página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16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425196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425196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399592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MATRIZ DE 36 LEDS (6×6) SINCRONIZADA CON LA WEB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Circuito Completo de 36 Canales (M-A1 a M-F6): </a:t>
            </a:r>
            <a:r>
              <a:rPr sz="960">
                <a:solidFill>
                  <a:srgbClr val="1E293B"/>
                </a:solidFill>
                <a:latin typeface="Calibri"/>
              </a:rPr>
              <a:t>Simulado en Visual Studio Code con Wokwi (`diagram.json`): 6 Filas por color (A=Rojo, B=Naranja, C=Amarillo, D=Verde, E=Azul, F=Magenta) × 6 Columnas con resistencias de 220 Ω.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Sincronización Instantánea Web → Wokwi (&lt; 15 ms): </a:t>
            </a:r>
            <a:r>
              <a:rPr sz="960">
                <a:solidFill>
                  <a:srgbClr val="1E293B"/>
                </a:solidFill>
                <a:latin typeface="Calibri"/>
              </a:rPr>
              <a:t>Al comprar un platillo, bebida o combo en `http://localhost:3000`, el servidor Node.js (`server.js`) envía la orden por TCP al puerto `4000` (RFC2217) y por HTTP a `/api/esp32/pendientes`.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Activación del LED Exacto y Relevador (Pin 18): </a:t>
            </a:r>
            <a:r>
              <a:rPr sz="960">
                <a:solidFill>
                  <a:srgbClr val="1E293B"/>
                </a:solidFill>
                <a:latin typeface="Calibri"/>
              </a:rPr>
              <a:t>El ESP32 pone la Fila en `LOW` (Cátodo 0V) y la Columna en `HIGH` (Ánodo 3.3V), encendiendo el LED de la casilla comprada (ej. `M-A1`) y el relevador del motor.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Paro por Lazo Cerrado con Sensor Caída (IR): </a:t>
            </a:r>
            <a:r>
              <a:rPr sz="960">
                <a:solidFill>
                  <a:srgbClr val="1E293B"/>
                </a:solidFill>
                <a:latin typeface="Calibri"/>
              </a:rPr>
              <a:t>El LED permanece encendido hasta que el usuario presiona el botón verde `'Sensor Caida (IR)'` (`GPIO 4`) confirmando que el envase cayó a la bandeja.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15568"/>
            <a:ext cx="7159752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VSCode_Wokwi_Matriz_36_L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26820"/>
            <a:ext cx="6976872" cy="46512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27448" y="5989320"/>
            <a:ext cx="7123176" cy="36575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SCREENSHOT EN VIVO: VS CODE + WOKWI MATRIZ DE 36 LEDS (CASILLA M-A1 ACTIVA DESDE LA WEB)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ARQUITECTURA DE FIRMWARE C++ Y DISPENSADO SECUENCIAL DE COMBOS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Control anti-pico de corriente en combos (Comida → Sensor IR → Bebida → Sensor IR) y lanzador 1-clic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17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66928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66928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25295"/>
            <a:ext cx="541324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B365D"/>
                </a:solidFill>
                <a:latin typeface="Calibri"/>
              </a:rPr>
              <a:t>LÓGICA DE DISPENSADO SECUENCIAL ESTRICTO EN COMBOS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¿Qué ocurre cuando el cliente compra un Combo (ej. A1-A2)? </a:t>
            </a:r>
            <a:r>
              <a:rPr sz="980">
                <a:solidFill>
                  <a:srgbClr val="1E293B"/>
                </a:solidFill>
                <a:latin typeface="Calibri"/>
              </a:rPr>
              <a:t>Para evitar duplicar el pico de corriente de arranque (I_inrush = 2.10 A) y evitar que la botella golpee el tupper en caída libre, el firmware en `src/main.cpp` ejecuta una secuencia de 2 etapas: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Etapa 1/2 — Dispensado de Comida (Columna 1 o 6): </a:t>
            </a:r>
            <a:r>
              <a:rPr sz="980">
                <a:solidFill>
                  <a:srgbClr val="1E293B"/>
                </a:solidFill>
                <a:latin typeface="Calibri"/>
              </a:rPr>
              <a:t>La pantalla LCD 1602 muestra `[1/2] COMIDA A1 / PULSA BOTON IR..` y enciende únicamente el LED `M-A1` y el relevador (Pin 18).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Confirmación Óptica 1 (Botón Verde Sensor IR): </a:t>
            </a:r>
            <a:r>
              <a:rPr sz="980">
                <a:solidFill>
                  <a:srgbClr val="1E293B"/>
                </a:solidFill>
                <a:latin typeface="Calibri"/>
              </a:rPr>
              <a:t>Al presionar el botón verde `Sensor Caida (IR)` (GPIO 4), el motor `M-A1` se apaga inmediatamente y el LCD anuncia `COMIDA ENTREGADA / SIGUE BEBIDA A2`.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Etapa 2/2 — Dispensado de Bebida (Columnas 2 a 5): </a:t>
            </a:r>
            <a:r>
              <a:rPr sz="980">
                <a:solidFill>
                  <a:srgbClr val="1E293B"/>
                </a:solidFill>
                <a:latin typeface="Calibri"/>
              </a:rPr>
              <a:t>Se enciende automáticamente el LED `M-A2` (`[2/2] BEBIDA A2`) hasta volver a pulsar el Sensor IR, concluyendo con `COMBO COMPLETO! Buen provecho! :)`.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115568"/>
            <a:ext cx="5669280" cy="5257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15568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25295"/>
            <a:ext cx="541324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CARPETA LISTA PARA ABRIR EN VS CODE Y EJECUTAR EN VIVO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Ubicación Directa en Proyecto Final: </a:t>
            </a:r>
            <a:r>
              <a:rPr sz="980">
                <a:solidFill>
                  <a:srgbClr val="1E293B"/>
                </a:solidFill>
                <a:latin typeface="Calibri"/>
              </a:rPr>
              <a:t>Carpeta `Simulacion_VSCode_Wokwi_Matriz_36_LEDs` (y `04_FIRMWARE_Y_SIMULACION_WOKWI`) con `.pio/build/esp32dev/firmware.bin` ya compilado.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Lanzador Automático de 1 Clic: </a:t>
            </a:r>
            <a:r>
              <a:rPr sz="980">
                <a:solidFill>
                  <a:srgbClr val="1E293B"/>
                </a:solidFill>
                <a:latin typeface="Calibri"/>
              </a:rPr>
              <a:t>Ejecutable `Abrir_Simulacion_VSCode_Wokwi_y_Web.bat` que inicia simultáneamente: (1) el servidor `node server.js` en el puerto 3000, (2) el Quiosco Web en el navegador y (3) Visual Studio Code con `diagram.json` listo.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Mapa de Pines en el ESP32 (`diagram.json`): </a:t>
            </a:r>
            <a:r>
              <a:rPr sz="980">
                <a:solidFill>
                  <a:srgbClr val="1E293B"/>
                </a:solidFill>
                <a:latin typeface="Calibri"/>
              </a:rPr>
              <a:t>• Filas A–F (Cátodos): GPIO 13, 12, 14, 27, 26, 25
• Columnas 1–6 (Ánodos): GPIO 33, 32, 23, 19, 17, 16
• LCD 1602 I2C: GPIO 21 (SDA) / GPIO 22 (SCL)
• Sensor Caída IR: GPIO 4 | DS18B20: GPIO 5 | Relé: GPIO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DISEÑO DE EXPERIMENTOS (DOE) Y VALIDACIÓN ESTADÍSTICA (AF4)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Convergencia tripartita entre Teoría, Simulación y Experimentación (n = 30 repeticiones, error global 1.98%)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18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15568"/>
          <a:ext cx="115488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600200"/>
                <a:gridCol w="1600200"/>
                <a:gridCol w="1965960"/>
                <a:gridCol w="1508760"/>
                <a:gridCol w="1901952"/>
              </a:tblGrid>
              <a:tr h="44005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PARÁMETRO DE INGENIERÍA EVALUADO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VALOR TEÓRICO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VALOR SIMULADO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MEDIA EXPERIMENTAL (n=30)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ERROR RELATIVO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ESTATUTO ESTADÍSTICO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1. Tiempo de Abatimiento Pull-Down (42→3 °C)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39.58 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40.20 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40.89 min ± 0.42 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3.31%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(RMSE = 0.18 °C)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2. Gradiente Térmico Vertical (ΔT = T_A - T_F)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0.85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0.88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0.90 °C ± 0.05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5.88% (Δ=0.05°C)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(≤ 1.10 °C NOM)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3. Deflexión Central en Vigas a 226.81 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1.280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1.295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1.320 mm ± 0.015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3.13%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(&lt; 1.50 mm)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4. Ciclo de Giro 360° Espiral Comida Ø 144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2.400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2.408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2.415 s ± 0.018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(100% sin atasco)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5. Par Torsor en Motorreductor 24V DC Comida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0.382 N·m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0.385 N·m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0.389 N·m ± 0.009 N·m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1.83%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(FS = 4.63)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6. Tensión Pico V_DS en Matriz MOSFET 6×6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24.45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24.52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24.62 V ± 0.14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VALIDADO (&lt; 55 V máx.)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7. Conmutación Secuencial Multi-Ranura FIFO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48.30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48.50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48.90 ms ± 0.85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1.24%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VALIDADO (&lt; 50.0 ms)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eq_doe_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760720" cy="13008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6208" y="4773168"/>
            <a:ext cx="5632704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4773168"/>
            <a:ext cx="56327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882896"/>
            <a:ext cx="537667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DICTAMEN ESTADÍSTICO DE HIPÓTESIS (PRUEBA t Y ANOVA)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No Rechazo de H0 (p &gt; 0.05 en los 7 protocolos): </a:t>
            </a:r>
            <a:r>
              <a:rPr sz="950">
                <a:solidFill>
                  <a:srgbClr val="1E293B"/>
                </a:solidFill>
                <a:latin typeface="Calibri"/>
              </a:rPr>
              <a:t>Las diferencias entre los modelos en LaTeX y las mediciones caen dentro de la incertidumbre expandida U_95% (k=2).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Cero Atascos en 300 Ciclos de Prueba: </a:t>
            </a:r>
            <a:r>
              <a:rPr sz="950">
                <a:solidFill>
                  <a:srgbClr val="1E293B"/>
                </a:solidFill>
                <a:latin typeface="Calibri"/>
              </a:rPr>
              <a:t>100.0% de confiabilidad dispensando recipientes cuadrados de 3 divisiones con resorte circular único.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PRESUPUESTO BOM, RETORNO DE INVERSIÓN (ROI) Y AUDITORÍA (AF5)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Costo de construcción de $46,463.12 MXN, VAN de $482,410 MXN, Payback &lt; 30 días y cumplimiento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EXPOSITOR: Samuel Tovar Mújica
Mat. 2077933 • Jefe de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19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43000"/>
          <a:ext cx="5715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423160"/>
                <a:gridCol w="1508760"/>
                <a:gridCol w="1188720"/>
              </a:tblGrid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PART.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SUBSISTEMA MECATRÓNICO COTIZADO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COSTO (MXN)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% DEL TOTAL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Chasis PTR 1 1/2", Paredes Lisas Cal. 18, 3 Bisagras Pta. y Ruedas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$11,420.00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24.58%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6 Bandejas Inox AISI 304, Correderas Accuride y Vidrio Low-E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$9,850.00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21.20%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36 Motorreductores Planetarios 24V DC y 36 Resortes Circulares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$9,720.00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20.92%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Unidad Frigorífica Embraco 1/5 HP R134a y Plenum 6 Toberas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$7,650.00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16.46%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Pantalla Táctil 10.1", Raspberry Pi, ESP32 y Sensores Ópticos/RTC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$4,980.00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10.72%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PCB EasyEDA Matriz MOSFET 6×6, Optos PC817C y Fuente 24V 350W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$2,843.12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93B"/>
                          </a:solidFill>
                          <a:latin typeface="Calibri"/>
                        </a:rPr>
                        <a:t>6.12%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COSTO DIRECTO DE MATERIALES DEL PROTOTIPO (BOM)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$46,463.12 MXN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1E293B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956048"/>
            <a:ext cx="571500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956048"/>
            <a:ext cx="5715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5065776"/>
            <a:ext cx="54589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Calibri"/>
              </a:rPr>
              <a:t>RENTABILIDAD OPERATIVA Y CUMPLIMIENTO NORMATIVO (AF5)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Utilidad Neta Diaria ($1,588 a $1,896 MXN/día): </a:t>
            </a:r>
            <a:r>
              <a:rPr sz="950">
                <a:solidFill>
                  <a:srgbClr val="1E293B"/>
                </a:solidFill>
                <a:latin typeface="Calibri"/>
              </a:rPr>
              <a:t>Vendiendo 45 comidas ($35 MXN margen) y 110 bebidas ($9 MXN margen) al día, descontando luz CFE ($213.68/mes). Payback: 24.5 a 29.2 días.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Normas Cumplidas: </a:t>
            </a:r>
            <a:r>
              <a:rPr sz="950">
                <a:solidFill>
                  <a:srgbClr val="1E293B"/>
                </a:solidFill>
                <a:latin typeface="Calibri"/>
              </a:rPr>
              <a:t>NOM-251-SSA1 (Inocuidad 2–4 °C), NOM-051 (Etiquetado), NOM-001-SEDE y IPC-2221B.</a:t>
            </a:r>
          </a:p>
        </p:txBody>
      </p:sp>
      <p:pic>
        <p:nvPicPr>
          <p:cNvPr id="14" name="Picture 13" descr="chart_flujo_caja_pay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650992" cy="30138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164592"/>
            <a:ext cx="777240" cy="6035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3152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FFFFFF"/>
                </a:solidFill>
                <a:latin typeface="Calibri"/>
              </a:rPr>
              <a:t>CONCLUSIONES GENERALES POR INTEGRANTE Y DEMOSTRACIÓN EN VIVO</a:t>
            </a:r>
          </a:p>
          <a:p>
            <a:r>
              <a:rPr sz="1080">
                <a:solidFill>
                  <a:srgbClr val="CBD5E1"/>
                </a:solidFill>
                <a:latin typeface="Calibri"/>
              </a:rPr>
              <a:t>Síntesis de aportaciones de ingeniería del equipo IEA ante el Docente Titular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6304"/>
            <a:ext cx="3529584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EQUIPO COMPLETO IEA
Grupo 005 • FIME UANL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9326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UANL - FIME | Proyecto Final Integrador (AF1–AF5): Máquina Expendedora Híbrida ExpendeX (36 Canales 1+4+1) | Ing. Mario Alberto González Vázquez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20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5669280" cy="3977639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70432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280160"/>
            <a:ext cx="541324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CONCLUSIÓN DE INGENIERÍA MECATRÓNICA
Samuel Tovar Mújica (2077933 • Jefe de Proyecto)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▪ Diseño CAD 3D Final y Mecánica 1+4+1: </a:t>
            </a:r>
            <a:r>
              <a:rPr sz="980">
                <a:solidFill>
                  <a:srgbClr val="E2E8F0"/>
                </a:solidFill>
                <a:latin typeface="Calibri"/>
              </a:rPr>
              <a:t>El modelo 3D final con paredes lisas, 3 bisagras en puerta frontal, compuerta inferior tipo columpio sin manija y compuerta trasera de servicio garantiza resistencia estructural (FS = 4.65) y capacidad para 228 productos refrigerados.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▪ Simulación VS Code / Wokwi (36 LEDs) y DOE: </a:t>
            </a:r>
            <a:r>
              <a:rPr sz="980">
                <a:solidFill>
                  <a:srgbClr val="E2E8F0"/>
                </a:solidFill>
                <a:latin typeface="Calibri"/>
              </a:rPr>
              <a:t>La matriz de 36 LEDs sincronizada en tiempo real con la página web por TCP demuestra conmutación matricial robusta con paro por sensor óptico IR, validando experimentalmente los 10 modelos físico-matemáticos (error global de 1.98%).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170432"/>
            <a:ext cx="5669280" cy="3977639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70432"/>
            <a:ext cx="5669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80160"/>
            <a:ext cx="541324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CONCLUSIÓN DE WEB, POTENCIA Y REFRIGERACIÓN
Emiliano Sánchez Martínez (2012856 • IEA)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▪ Plataforma Web Dual y Pasarela QR: </a:t>
            </a:r>
            <a:r>
              <a:rPr sz="980">
                <a:solidFill>
                  <a:srgbClr val="E2E8F0"/>
                </a:solidFill>
                <a:latin typeface="Calibri"/>
              </a:rPr>
              <a:t>El quiosco táctil de 10.1" y el portal de administración del dueño operan con catálogo nutricional interactivo, algoritmo multi-ranura FIFO y pasarela real Mercado Pago.</a:t>
            </a:r>
          </a:p>
          <a:p>
            <a:pPr>
              <a:spcAft>
                <a:spcPts val="3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▪ Electrónica de Potencia EasyEDA, PCB y Refrigeración Comercial: </a:t>
            </a:r>
            <a:r>
              <a:rPr sz="980">
                <a:solidFill>
                  <a:srgbClr val="E2E8F0"/>
                </a:solidFill>
                <a:latin typeface="Calibri"/>
              </a:rPr>
              <a:t>La matriz MOSFET 6×6 con 12 optoacopladores PC817C (5,000 V RMS) gobierna los 36 canales con 99.63% de eficiencia, complementada con el circuito frigorífico Embraco 1/5 HP y plenum de 6 toberas (2.0 a 4.0 °C con ΔT = 0.90 °C).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303520"/>
            <a:ext cx="11548872" cy="804672"/>
          </a:xfrm>
          <a:prstGeom prst="roundRect">
            <a:avLst>
              <a:gd name="adj" fmla="val 8000"/>
            </a:avLst>
          </a:prstGeom>
          <a:solidFill>
            <a:srgbClr val="1723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DEMOSTRACIÓN EN VIVO DISPONIBLE: QUIOSCO WEB (localhost:3000), PANEL ADMIN (/admin) Y SIMULACIÓN WOKWI (36 LEDs)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