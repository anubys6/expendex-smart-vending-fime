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anl_logo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0040"/>
            <a:ext cx="1665514" cy="777240"/>
          </a:xfrm>
          <a:prstGeom prst="rect">
            <a:avLst/>
          </a:prstGeom>
        </p:spPr>
      </p:pic>
      <p:pic>
        <p:nvPicPr>
          <p:cNvPr id="3" name="Picture 2" descr="fime_logo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320040"/>
            <a:ext cx="1644162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34640" y="292608"/>
            <a:ext cx="8823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BD5E1"/>
                </a:solidFill>
                <a:latin typeface="Calibri"/>
              </a:rPr>
              <a:t>UNIVERSIDAD AUTÓNOMA DE NUEVO LEÓN • FACULTAD DE INGENIERÍA MECÁNICA Y ELÉCTRICA
</a:t>
            </a:r>
            <a:r>
              <a:rPr sz="1000">
                <a:solidFill>
                  <a:srgbClr val="10B981"/>
                </a:solidFill>
                <a:latin typeface="Calibri"/>
              </a:rPr>
              <a:t>UNIDAD DE APRENDIZAJE: PROYECTO DE INGENIERÍA APLICADA (IEAI) • PITCH DE NEGOCIO Y MERCADO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EXPENDEX</a:t>
            </a:r>
          </a:p>
          <a:p>
            <a:r>
              <a:rPr sz="1400" b="1">
                <a:solidFill>
                  <a:srgbClr val="10B981"/>
                </a:solidFill>
                <a:latin typeface="Calibri"/>
              </a:rPr>
              <a:t>MÁQUINA AUTOMATIZADA HÍBRIDA AUTOMATIZADO DESATENDIDO DE COMIDA CASERA Y BEBIDAS</a:t>
            </a:r>
          </a:p>
          <a:p>
            <a:r>
              <a:rPr sz="1150">
                <a:solidFill>
                  <a:srgbClr val="E2E8F0"/>
                </a:solidFill>
                <a:latin typeface="Calibri"/>
              </a:rPr>
              <a:t>Contexto Estratégico, Análisis de Competencia, Estudio Socioeconómico, Segmentación de Mercado y Rendimiento Financiero para Monterrey y Zona Metropolitana</a:t>
            </a:r>
          </a:p>
        </p:txBody>
      </p:sp>
      <p:pic>
        <p:nvPicPr>
          <p:cNvPr id="6" name="Picture 5" descr="Expendex_Render_Oficial_Definitiv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234440"/>
            <a:ext cx="4160520" cy="55721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3520440"/>
            <a:ext cx="4023360" cy="2788920"/>
          </a:xfrm>
          <a:prstGeom prst="roundRect">
            <a:avLst>
              <a:gd name="adj" fmla="val 3000"/>
            </a:avLst>
          </a:prstGeom>
          <a:solidFill>
            <a:srgbClr val="17233D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3520440"/>
            <a:ext cx="40233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3630168"/>
            <a:ext cx="3767328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Calibri"/>
              </a:rPr>
              <a:t>EQUIPO DE DESARROLLO (IEA • FIME UANL)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FFFFFF"/>
                </a:solidFill>
                <a:latin typeface="Calibri"/>
              </a:rPr>
              <a:t>▪ Samuel Tovar Mújica (Mat. 2077933): </a:t>
            </a:r>
            <a:r>
              <a:rPr sz="919">
                <a:solidFill>
                  <a:srgbClr val="E2E8F0"/>
                </a:solidFill>
                <a:latin typeface="Calibri"/>
              </a:rPr>
              <a:t>Jefe del Proyecto. Modelado 3D CAD en Fusion 360, Renders Oficiales, Electrónica Digital / Firmware Wokwi, Estudio Financiero y Redacción.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FFFFFF"/>
                </a:solidFill>
                <a:latin typeface="Calibri"/>
              </a:rPr>
              <a:t>▪ Emiliano Sánchez Martínez (Mat. 2012856): </a:t>
            </a:r>
            <a:r>
              <a:rPr sz="919">
                <a:solidFill>
                  <a:srgbClr val="E2E8F0"/>
                </a:solidFill>
                <a:latin typeface="Calibri"/>
              </a:rPr>
              <a:t>Plataformas Web Duales (Quiosco Táctil 10.1" con QR Mercado Pago y Panel Admin FIFO) y Electrónica de Potencia / PCB EasyEDA.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FFFFFF"/>
                </a:solidFill>
                <a:latin typeface="Calibri"/>
              </a:rPr>
              <a:t>▪ Docente Titular: </a:t>
            </a:r>
            <a:r>
              <a:rPr sz="919">
                <a:solidFill>
                  <a:srgbClr val="E2E8F0"/>
                </a:solidFill>
                <a:latin typeface="Calibri"/>
              </a:rPr>
              <a:t>Ing. Mario Alberto González Vázquez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FFFFFF"/>
                </a:solidFill>
                <a:latin typeface="Calibri"/>
              </a:rPr>
              <a:t>▪ Grupo / Brigada: </a:t>
            </a:r>
            <a:r>
              <a:rPr sz="919">
                <a:solidFill>
                  <a:srgbClr val="E2E8F0"/>
                </a:solidFill>
                <a:latin typeface="Calibri"/>
              </a:rPr>
              <a:t>Grupo: 001 | Grupo: 005 | Salón: 7208 | Jueves M4 a M6 | Semestre: Agosto – Diciembre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3520440"/>
            <a:ext cx="2834640" cy="2788920"/>
          </a:xfrm>
          <a:prstGeom prst="roundRect">
            <a:avLst>
              <a:gd name="adj" fmla="val 3000"/>
            </a:avLst>
          </a:prstGeom>
          <a:solidFill>
            <a:srgbClr val="17233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3520440"/>
            <a:ext cx="28346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91455" y="3630168"/>
            <a:ext cx="2578608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Calibri"/>
              </a:rPr>
              <a:t>PROPUESTA DE VALOR EN CIFRAS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FFFFFF"/>
                </a:solidFill>
                <a:latin typeface="Calibri"/>
              </a:rPr>
              <a:t>▪ Inversión de Fabricación BOM: </a:t>
            </a:r>
            <a:r>
              <a:rPr sz="919">
                <a:solidFill>
                  <a:srgbClr val="E2E8F0"/>
                </a:solidFill>
                <a:latin typeface="Calibri"/>
              </a:rPr>
              <a:t>$46,463.12 MXN (-73% vs importado)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FFFFFF"/>
                </a:solidFill>
                <a:latin typeface="Calibri"/>
              </a:rPr>
              <a:t>▪ Platillo Casero 500g: </a:t>
            </a:r>
            <a:r>
              <a:rPr sz="919">
                <a:solidFill>
                  <a:srgbClr val="E2E8F0"/>
                </a:solidFill>
                <a:latin typeface="Calibri"/>
              </a:rPr>
              <a:t>$120.00 MXN (Margen: 34.1%)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FFFFFF"/>
                </a:solidFill>
                <a:latin typeface="Calibri"/>
              </a:rPr>
              <a:t>▪ Bebida Fría Refrigerada: </a:t>
            </a:r>
            <a:r>
              <a:rPr sz="919">
                <a:solidFill>
                  <a:srgbClr val="E2E8F0"/>
                </a:solidFill>
                <a:latin typeface="Calibri"/>
              </a:rPr>
              <a:t>$25.00 MXN (Margen: 40.6%)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FFFFFF"/>
                </a:solidFill>
                <a:latin typeface="Calibri"/>
              </a:rPr>
              <a:t>▪ Capacidad Híbrida 1+4+1: </a:t>
            </a:r>
            <a:r>
              <a:rPr sz="919">
                <a:solidFill>
                  <a:srgbClr val="E2E8F0"/>
                </a:solidFill>
                <a:latin typeface="Calibri"/>
              </a:rPr>
              <a:t>60 comidas + 168 bebidas = 228 uds.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FFFFFF"/>
                </a:solidFill>
                <a:latin typeface="Calibri"/>
              </a:rPr>
              <a:t>▪ Retorno de Inversión: </a:t>
            </a:r>
            <a:r>
              <a:rPr sz="919">
                <a:solidFill>
                  <a:srgbClr val="E2E8F0"/>
                </a:solidFill>
                <a:latin typeface="Calibri"/>
              </a:rPr>
              <a:t>Payback en 24.5 días (&lt; 1 mes)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FFFFFF"/>
                </a:solidFill>
                <a:latin typeface="Calibri"/>
              </a:rPr>
              <a:t>▪ Inocuidad Estricta: </a:t>
            </a:r>
            <a:r>
              <a:rPr sz="919">
                <a:solidFill>
                  <a:srgbClr val="E2E8F0"/>
                </a:solidFill>
                <a:latin typeface="Calibri"/>
              </a:rPr>
              <a:t>Cadena de frío 2-4 °C (NOM-251)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64748B"/>
                </a:solidFill>
                <a:latin typeface="Calibri"/>
              </a:rPr>
              <a:t>UANL - FIME | Proyecto Final: Máquina Automatizada Híbrida ExpendeX (Contexto, Mercado, Competencia y Rendimiento) | Ing. Mario Alberto González Vázquez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28016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ORIGEN Y MOTIVACIÓN: ¿QUÉ NOS IMPULSÓ A CREAR ESTA MÁQUINA?</a:t>
            </a:r>
          </a:p>
          <a:p>
            <a:r>
              <a:rPr sz="1050">
                <a:solidFill>
                  <a:srgbClr val="CBD5E1"/>
                </a:solidFill>
                <a:latin typeface="Calibri"/>
              </a:rPr>
              <a:t>La vivencia cotidiana del estudiante y trabajador en Nuevo León frente a la barrera de alimentación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146304"/>
            <a:ext cx="3337560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MOTIVACIÓN Y PROPÓSITO
ExpendeX • FIME UANL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64748B"/>
                </a:solidFill>
                <a:latin typeface="Calibri"/>
              </a:rPr>
              <a:t>UANL - FIME | Proyecto Final: Máquina Automatizada Híbrida ExpendeX (Contexto, Mercado, Competencia y Rendimiento) | Ing. Mario Alberto González Vázquez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2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553212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5532120" cy="731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252728"/>
            <a:ext cx="5276088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B365D"/>
                </a:solidFill>
                <a:latin typeface="Calibri"/>
              </a:rPr>
              <a:t>1. LA REALIDAD EN EL CAMPUS UNIVERSITARIO Y LA INDUSTRIA</a:t>
            </a:r>
          </a:p>
          <a:p>
            <a:pPr>
              <a:spcAft>
                <a:spcPts val="25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Población Cautiva Masiva: </a:t>
            </a:r>
            <a:r>
              <a:rPr sz="980">
                <a:solidFill>
                  <a:srgbClr val="1E293B"/>
                </a:solidFill>
                <a:latin typeface="Calibri"/>
              </a:rPr>
              <a:t>La FIME cuenta con más de 22,000 estudiantes y docentes; el campus Ciudad Universitaria supera los 216,000 alumnos en turnos matutino, vespertino y nocturno.</a:t>
            </a:r>
          </a:p>
          <a:p>
            <a:pPr>
              <a:spcAft>
                <a:spcPts val="25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Jornadas Continuas de 8 a 12 Horas: </a:t>
            </a:r>
            <a:r>
              <a:rPr sz="980">
                <a:solidFill>
                  <a:srgbClr val="1E293B"/>
                </a:solidFill>
                <a:latin typeface="Calibri"/>
              </a:rPr>
              <a:t>Alumnos de ingeniería y técnicos combinan clases, laboratorios y turnos laborales, requiriendo energía y nutrición balanceada para rendir académicamente.</a:t>
            </a:r>
          </a:p>
          <a:p>
            <a:pPr>
              <a:spcAft>
                <a:spcPts val="25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Recesos Críticos de 20 a 30 Minutos: </a:t>
            </a:r>
            <a:r>
              <a:rPr sz="980">
                <a:solidFill>
                  <a:srgbClr val="1E293B"/>
                </a:solidFill>
                <a:latin typeface="Calibri"/>
              </a:rPr>
              <a:t>El cambio de clase no permite salir del campus ni sentarse en un restaurante formal. Las cafeterías internas colapsan con filas de 25 a 40 minutos.</a:t>
            </a:r>
          </a:p>
          <a:p>
            <a:pPr>
              <a:spcAft>
                <a:spcPts val="25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Desabasto Nocturno Severo: </a:t>
            </a:r>
            <a:r>
              <a:rPr sz="980">
                <a:solidFill>
                  <a:srgbClr val="1E293B"/>
                </a:solidFill>
                <a:latin typeface="Calibri"/>
              </a:rPr>
              <a:t>A partir de las 18:30 h, las cafeterías y fondas cierran sus cocinas. Los turnos nocturnos quedan completamente desprovistos de comida casera caliente.</a:t>
            </a:r>
          </a:p>
          <a:p>
            <a:pPr>
              <a:spcAft>
                <a:spcPts val="25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Consecuencia Directa: </a:t>
            </a:r>
            <a:r>
              <a:rPr sz="980">
                <a:solidFill>
                  <a:srgbClr val="1E293B"/>
                </a:solidFill>
                <a:latin typeface="Calibri"/>
              </a:rPr>
              <a:t>El estudiante y trabajador se ven forzados a consumir 'comida chatarra' (galletas, frituras y refrescos) o gastar sumas excesivas en plataformas de delivery.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143000"/>
            <a:ext cx="571500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1143000"/>
            <a:ext cx="57150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8776" y="1252728"/>
            <a:ext cx="5458968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Calibri"/>
              </a:rPr>
              <a:t>2. LA PARADOJA DE LAS LONCHERÍAS Y FONDAS FAMILIARES</a:t>
            </a:r>
          </a:p>
          <a:p>
            <a:pPr>
              <a:spcAft>
                <a:spcPts val="25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Riqueza Culinaria Inmediata: </a:t>
            </a:r>
            <a:r>
              <a:rPr sz="980">
                <a:solidFill>
                  <a:srgbClr val="1E293B"/>
                </a:solidFill>
                <a:latin typeface="Calibri"/>
              </a:rPr>
              <a:t>A menos de 1.5 km de los campus y naves industriales operan miles de loncherías y fondas caseras que preparan comida tradicional completa, fresca y abundante ($80-$110 MXN).</a:t>
            </a:r>
          </a:p>
          <a:p>
            <a:pPr>
              <a:spcAft>
                <a:spcPts val="25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Barrera Logística Infranqueable: </a:t>
            </a:r>
            <a:r>
              <a:rPr sz="980">
                <a:solidFill>
                  <a:srgbClr val="1E293B"/>
                </a:solidFill>
                <a:latin typeface="Calibri"/>
              </a:rPr>
              <a:t>Estos negocios familiares no tienen flotillas de reparto ni vehículos para hacer entregas individuales, limitándose al cliente que entra a su local.</a:t>
            </a:r>
          </a:p>
          <a:p>
            <a:pPr>
              <a:spcAft>
                <a:spcPts val="25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Comisiones Voraces de Apps Transnacionales: </a:t>
            </a:r>
            <a:r>
              <a:rPr sz="980">
                <a:solidFill>
                  <a:srgbClr val="1E293B"/>
                </a:solidFill>
                <a:latin typeface="Calibri"/>
              </a:rPr>
              <a:t>Plataformas como UberEats, DidiFood o Rappi cobran entre 25% y 35% de comisión, forzando a la lonchería a encarecer sus platillos o perder su margen operativo.</a:t>
            </a:r>
          </a:p>
          <a:p>
            <a:pPr>
              <a:spcAft>
                <a:spcPts val="25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Restricción de Acceso a Edificios: </a:t>
            </a:r>
            <a:r>
              <a:rPr sz="980">
                <a:solidFill>
                  <a:srgbClr val="1E293B"/>
                </a:solidFill>
                <a:latin typeface="Calibri"/>
              </a:rPr>
              <a:t>Por protocolos de seguridad patrimonial de la UANL y de las fábricas, las motocicletas de reparto tienen prohibido el ingreso a pasillos, aulas y plantas.</a:t>
            </a:r>
          </a:p>
          <a:p>
            <a:pPr>
              <a:spcAft>
                <a:spcPts val="25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La Misión de ExpendeX: </a:t>
            </a:r>
            <a:r>
              <a:rPr sz="980">
                <a:solidFill>
                  <a:srgbClr val="1E293B"/>
                </a:solidFill>
                <a:latin typeface="Calibri"/>
              </a:rPr>
              <a:t>Tender un puente automatizado desatendido que conecte la sazón casera de las loncherías con el consumidor cautivo en menos de 9 segundos, 24 horas al día.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28016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EL PROBLEMA: 'DESIERTOS ALIMENTARIOS' Y COMIDA CHATARRA FORZADA</a:t>
            </a:r>
          </a:p>
          <a:p>
            <a:r>
              <a:rPr sz="1050">
                <a:solidFill>
                  <a:srgbClr val="CBD5E1"/>
                </a:solidFill>
                <a:latin typeface="Calibri"/>
              </a:rPr>
              <a:t>Diagnóstico cuantitativo del impacto en salud, economía y productividad en Nuevo León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146304"/>
            <a:ext cx="3337560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PROBLEMÁTICA REAL
Salud y Productividad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64748B"/>
                </a:solidFill>
                <a:latin typeface="Calibri"/>
              </a:rPr>
              <a:t>UANL - FIME | Proyecto Final: Máquina Automatizada Híbrida ExpendeX (Contexto, Mercado, Competencia y Rendimiento) | Ing. Mario Alberto González Vázquez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3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35204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3520440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216152"/>
            <a:ext cx="3374136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11D48"/>
                </a:solidFill>
                <a:latin typeface="Calibri"/>
              </a:rPr>
              <a:t>84.3%</a:t>
            </a:r>
          </a:p>
          <a:p>
            <a:pPr algn="ctr"/>
            <a:r>
              <a:rPr sz="880">
                <a:solidFill>
                  <a:srgbClr val="64748B"/>
                </a:solidFill>
                <a:latin typeface="Calibri"/>
              </a:rPr>
              <a:t>Estudiantes consumen ultraprocesados por falta de tiempo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1143000"/>
            <a:ext cx="38404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9080" y="1143000"/>
            <a:ext cx="38404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2232" y="1216152"/>
            <a:ext cx="3694176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Calibri"/>
              </a:rPr>
              <a:t>$195.00 MXN</a:t>
            </a:r>
          </a:p>
          <a:p>
            <a:pPr algn="ctr"/>
            <a:r>
              <a:rPr sz="880">
                <a:solidFill>
                  <a:srgbClr val="64748B"/>
                </a:solidFill>
                <a:latin typeface="Calibri"/>
              </a:rPr>
              <a:t>Costo promedio de pedir comida por App hasta el campus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143000"/>
            <a:ext cx="37033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143000"/>
            <a:ext cx="3703320" cy="54864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1216152"/>
            <a:ext cx="3557015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B365D"/>
                </a:solidFill>
                <a:latin typeface="Calibri"/>
              </a:rPr>
              <a:t>0 Opciones</a:t>
            </a:r>
          </a:p>
          <a:p>
            <a:pPr algn="ctr"/>
            <a:r>
              <a:rPr sz="880">
                <a:solidFill>
                  <a:srgbClr val="64748B"/>
                </a:solidFill>
                <a:latin typeface="Calibri"/>
              </a:rPr>
              <a:t>Comida casera caliente disponible de 22:00 a 06:00 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468880"/>
            <a:ext cx="5532120" cy="3886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468880"/>
            <a:ext cx="5532120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" y="2578608"/>
            <a:ext cx="527608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E11D48"/>
                </a:solidFill>
                <a:latin typeface="Calibri"/>
              </a:rPr>
              <a:t>DETERIORO DE LA SALUD Y RENDIMIENTO COGNITIVO</a:t>
            </a:r>
          </a:p>
          <a:p>
            <a:pPr>
              <a:spcAft>
                <a:spcPts val="25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▪ Epidemia de Sellos Negros (NOM-051): </a:t>
            </a:r>
            <a:r>
              <a:rPr sz="950">
                <a:solidFill>
                  <a:srgbClr val="1E293B"/>
                </a:solidFill>
                <a:latin typeface="Calibri"/>
              </a:rPr>
              <a:t>Las máquinas expendedoras actuales ofrecen 95% productos altos en azúcares, grasas saturadas y sodio. Ninguna ofrece platillos balanceados con proteína y verduras.</a:t>
            </a:r>
          </a:p>
          <a:p>
            <a:pPr>
              <a:spcAft>
                <a:spcPts val="25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▪ Somnolencia Postprandial y Fatiga: </a:t>
            </a:r>
            <a:r>
              <a:rPr sz="950">
                <a:solidFill>
                  <a:srgbClr val="1E293B"/>
                </a:solidFill>
                <a:latin typeface="Calibri"/>
              </a:rPr>
              <a:t>El consumo excesivo de carbohidratos refinados y sodas genera picos glicémicos seguidos de caídas drásticas de energía, afectando el aprendizaje y la concentración en exámenes y turnos.</a:t>
            </a:r>
          </a:p>
          <a:p>
            <a:pPr>
              <a:spcAft>
                <a:spcPts val="25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▪ Riesgo Cardiovascular a Mediano Plazo: </a:t>
            </a:r>
            <a:r>
              <a:rPr sz="950">
                <a:solidFill>
                  <a:srgbClr val="1E293B"/>
                </a:solidFill>
                <a:latin typeface="Calibri"/>
              </a:rPr>
              <a:t>Nuevo León lidera estadísticas nacionales de sobrepeso y diabetes temprana en jóvenes por hábitos adquiridos durante la etapa universitaria y técnica.</a:t>
            </a:r>
          </a:p>
          <a:p>
            <a:pPr>
              <a:spcAft>
                <a:spcPts val="25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▪ Necesidad No Atendida: </a:t>
            </a:r>
            <a:r>
              <a:rPr sz="950">
                <a:solidFill>
                  <a:srgbClr val="1E293B"/>
                </a:solidFill>
                <a:latin typeface="Calibri"/>
              </a:rPr>
              <a:t>Demanda urgente de comida real: guisados caseros tradicionales con arroz, frijoles y ensalada en porciones balanceadas de 500 gramos.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2468880"/>
            <a:ext cx="5715000" cy="3886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2468880"/>
            <a:ext cx="5715000" cy="731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08776" y="2578608"/>
            <a:ext cx="545896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B365D"/>
                </a:solidFill>
                <a:latin typeface="Calibri"/>
              </a:rPr>
              <a:t>DESIERTOS ALIMENTARIOS NOCTURNOS E INDUSTRIALES</a:t>
            </a:r>
          </a:p>
          <a:p>
            <a:pPr>
              <a:spcAft>
                <a:spcPts val="25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▪ El Calvario del Tercer Turno (23:00 a 06:00 h): </a:t>
            </a:r>
            <a:r>
              <a:rPr sz="950">
                <a:solidFill>
                  <a:srgbClr val="1E293B"/>
                </a:solidFill>
                <a:latin typeface="Calibri"/>
              </a:rPr>
              <a:t>En los parques industriales de Apodaca, Pesquería y San Nicolás, más de 120,000 obreros del turno nocturno carecen de servicio de comedor activo.</a:t>
            </a:r>
          </a:p>
          <a:p>
            <a:pPr>
              <a:spcAft>
                <a:spcPts val="25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▪ Guardias de Laboratorio y Hospitales: </a:t>
            </a:r>
            <a:r>
              <a:rPr sz="950">
                <a:solidFill>
                  <a:srgbClr val="1E293B"/>
                </a:solidFill>
                <a:latin typeface="Calibri"/>
              </a:rPr>
              <a:t>Estudiantes en proyectos de titulación y médicos internos no tienen acceso a alimentos higiénicos de madrugada; las cafeterías cierran temprano.</a:t>
            </a:r>
          </a:p>
          <a:p>
            <a:pPr>
              <a:spcAft>
                <a:spcPts val="25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▪ Pérdida de Tiempo Productivo: </a:t>
            </a:r>
            <a:r>
              <a:rPr sz="950">
                <a:solidFill>
                  <a:srgbClr val="1E293B"/>
                </a:solidFill>
                <a:latin typeface="Calibri"/>
              </a:rPr>
              <a:t>Salir del campus o planta en busca de comida toma entre 35 y 50 minutos entre caminar, cruzar avenidas de alto tráfico, ordenar y regresar.</a:t>
            </a:r>
          </a:p>
          <a:p>
            <a:pPr>
              <a:spcAft>
                <a:spcPts val="25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▪ Inseguridad Urbana Nocturna: </a:t>
            </a:r>
            <a:r>
              <a:rPr sz="950">
                <a:solidFill>
                  <a:srgbClr val="1E293B"/>
                </a:solidFill>
                <a:latin typeface="Calibri"/>
              </a:rPr>
              <a:t>Caminar de noche por los alrededores de las zonas fabriles o avenidas para buscar puestos ambulantes expone al personal a riesgos de seguridad.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28016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LA COMPETENCIA Y EL ESTADO DEL MERCADO: ¿POR QUÉ FRACASAN?</a:t>
            </a:r>
          </a:p>
          <a:p>
            <a:r>
              <a:rPr sz="1050">
                <a:solidFill>
                  <a:srgbClr val="CBD5E1"/>
                </a:solidFill>
                <a:latin typeface="Calibri"/>
              </a:rPr>
              <a:t>Análisis crítico de las 4 soluciones actuales y sus barreras técnicas, logísticas y de costo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146304"/>
            <a:ext cx="3337560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ANÁLISIS COMPETITIVO
Modos de Falla del Mercado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64748B"/>
                </a:solidFill>
                <a:latin typeface="Calibri"/>
              </a:rPr>
              <a:t>UANL - FIME | Proyecto Final: Máquina Automatizada Híbrida ExpendeX (Contexto, Mercado, Competencia y Rendimiento) | Ing. Mario Alberto González Vázquez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4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365760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3657600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252728"/>
            <a:ext cx="3401568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E11D48"/>
                </a:solidFill>
                <a:latin typeface="Calibri"/>
              </a:rPr>
              <a:t>1. VENDING TRADICIONAL DE ESPIRALES (Jofemar / AMS / Fas)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Atascos Mecánicos Inevitables: </a:t>
            </a:r>
            <a:r>
              <a:rPr sz="900">
                <a:solidFill>
                  <a:srgbClr val="1E293B"/>
                </a:solidFill>
                <a:latin typeface="Calibri"/>
              </a:rPr>
              <a:t>Diseñadas para botanas ligeras (30-50 g). Las espirales estrechas de 70 mm atascan recipientes gastronómicos de 500 g por fricción asimétrica y cabeceo.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Estratificación Térmica Fatal: </a:t>
            </a:r>
            <a:r>
              <a:rPr sz="900">
                <a:solidFill>
                  <a:srgbClr val="1E293B"/>
                </a:solidFill>
                <a:latin typeface="Calibri"/>
              </a:rPr>
              <a:t>Soplan aire desde abajo sin ductos. En Monterrey (42 °C exterior), se generan gradientes de 8 a 10 °C entre bandejas, violando la NOM-251.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Cero Control de Frescura Diaria: </a:t>
            </a:r>
            <a:r>
              <a:rPr sz="900">
                <a:solidFill>
                  <a:srgbClr val="1E293B"/>
                </a:solidFill>
                <a:latin typeface="Calibri"/>
              </a:rPr>
              <a:t>No existe bloqueo por caducidad; los productos vencidos quedan rezagados días.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Vulnerabilidad de Efectivo: </a:t>
            </a:r>
            <a:r>
              <a:rPr sz="900">
                <a:solidFill>
                  <a:srgbClr val="1E293B"/>
                </a:solidFill>
                <a:latin typeface="Calibri"/>
              </a:rPr>
              <a:t>Monederos y billeteros sufren vandalismo y atascos continuos.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143000"/>
            <a:ext cx="370332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143000"/>
            <a:ext cx="3703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4255" y="1252728"/>
            <a:ext cx="3447287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2. APPS DE REPARTO POR MOTO (Uber Eats / Didi Food / Rappi)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Sobreprecio Inflacionario (+65%): </a:t>
            </a:r>
            <a:r>
              <a:rPr sz="900">
                <a:solidFill>
                  <a:srgbClr val="1E293B"/>
                </a:solidFill>
                <a:latin typeface="Calibri"/>
              </a:rPr>
              <a:t>Un platillo de $110 MXN termina costando $180 a $220 MXN por tarifa de servicio, costo de envío y propina obligatoria.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Tiempos Incompatibles (45 min): </a:t>
            </a:r>
            <a:r>
              <a:rPr sz="900">
                <a:solidFill>
                  <a:srgbClr val="1E293B"/>
                </a:solidFill>
                <a:latin typeface="Calibri"/>
              </a:rPr>
              <a:t>El tiempo promedio de espera de 35 a 55 minutos hace imposible comer en recesos de 20-30 minutos.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Restricción de Acceso Físico: </a:t>
            </a:r>
            <a:r>
              <a:rPr sz="900">
                <a:solidFill>
                  <a:srgbClr val="1E293B"/>
                </a:solidFill>
                <a:latin typeface="Calibri"/>
              </a:rPr>
              <a:t>Prohibido el ingreso de repartidores a edificios de aulas, facultades y líneas de manufactura por seguridad patrimonial.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Canibalización del Negocio Local: </a:t>
            </a:r>
            <a:r>
              <a:rPr sz="900">
                <a:solidFill>
                  <a:srgbClr val="1E293B"/>
                </a:solidFill>
                <a:latin typeface="Calibri"/>
              </a:rPr>
              <a:t>Comisiones del 25% al 35% destruyen el margen de ganancia de las loncherías.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143000"/>
            <a:ext cx="370332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143000"/>
            <a:ext cx="37033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0456" y="1252728"/>
            <a:ext cx="3447287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Calibri"/>
              </a:rPr>
              <a:t>3. NEVERAS RFID Y ROBOTS (Byte Tech / Chowbotics Sally)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Neveras Inteligentes con RFID: </a:t>
            </a:r>
            <a:r>
              <a:rPr sz="900">
                <a:solidFill>
                  <a:srgbClr val="1E293B"/>
                </a:solidFill>
                <a:latin typeface="Calibri"/>
              </a:rPr>
              <a:t>Requieren una etiqueta RFID ($0.35 USD) por platillo que encarece la comida. Merma del 12-18% por robo o manipulación antihigiénica.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Robots Cocinadores (Chowbotics): </a:t>
            </a:r>
            <a:r>
              <a:rPr sz="900">
                <a:solidFill>
                  <a:srgbClr val="1E293B"/>
                </a:solidFill>
                <a:latin typeface="Calibri"/>
              </a:rPr>
              <a:t>Costo de adquisición astronómico ($35,000 USD). Atascos continuos por salsas y grasas; mantenimiento prohibitivo.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Poco Prácticos para Comida Norteña: </a:t>
            </a:r>
            <a:r>
              <a:rPr sz="900">
                <a:solidFill>
                  <a:srgbClr val="1E293B"/>
                </a:solidFill>
                <a:latin typeface="Calibri"/>
              </a:rPr>
              <a:t>No procesan guisados con caldillo, cortadillo o mole; solo ensaladas frías.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Inalcanzable para Fondas: </a:t>
            </a:r>
            <a:r>
              <a:rPr sz="900">
                <a:solidFill>
                  <a:srgbClr val="1E293B"/>
                </a:solidFill>
                <a:latin typeface="Calibri"/>
              </a:rPr>
              <a:t>Ninguna lonchería familiar puede invertir $700,000 MXN en un robot importado.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28016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MATRIZ DE BENCHMARKING: EXPENDEX FRENTE A TODAS LAS ALTERNATIVAS</a:t>
            </a:r>
          </a:p>
          <a:p>
            <a:r>
              <a:rPr sz="1050">
                <a:solidFill>
                  <a:srgbClr val="CBD5E1"/>
                </a:solidFill>
                <a:latin typeface="Calibri"/>
              </a:rPr>
              <a:t>Comparativa cuantitativa multidimensional de costos, tiempos, inocuidad y accesibilidad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146304"/>
            <a:ext cx="3337560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BENCHMARKING TÉCNICO
Ventaja Competitiva 10x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64748B"/>
                </a:solidFill>
                <a:latin typeface="Calibri"/>
              </a:rPr>
              <a:t>UANL - FIME | Proyecto Final: Máquina Automatizada Híbrida ExpendeX (Contexto, Mercado, Competencia y Rendimiento) | Ing. Mario Alberto González Vázquez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5 / 20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143000"/>
          <a:ext cx="621792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914400"/>
                <a:gridCol w="960120"/>
                <a:gridCol w="960120"/>
                <a:gridCol w="960120"/>
                <a:gridCol w="960120"/>
              </a:tblGrid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FFFFFF"/>
                          </a:solidFill>
                          <a:latin typeface="Calibri"/>
                        </a:rPr>
                        <a:t>PARÁMETRO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FFFFFF"/>
                          </a:solidFill>
                          <a:latin typeface="Calibri"/>
                        </a:rPr>
                        <a:t>EXPENDEX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FFFFFF"/>
                          </a:solidFill>
                          <a:latin typeface="Calibri"/>
                        </a:rPr>
                        <a:t>VENDING BOTANA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FFFFFF"/>
                          </a:solidFill>
                          <a:latin typeface="Calibri"/>
                        </a:rPr>
                        <a:t>DELIVERY APP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FFFFFF"/>
                          </a:solidFill>
                          <a:latin typeface="Calibri"/>
                        </a:rPr>
                        <a:t>FONDA FÍSICA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30" b="1">
                          <a:solidFill>
                            <a:srgbClr val="FFFFFF"/>
                          </a:solidFill>
                          <a:latin typeface="Calibri"/>
                        </a:rPr>
                        <a:t>NEVERA RFID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B365D"/>
                          </a:solidFill>
                          <a:latin typeface="Calibri"/>
                        </a:rPr>
                        <a:t>Costo Usuario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$120 MXN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$55 MXN (chatarra)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$195 MXN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$130 MXN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$175 MXN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B365D"/>
                          </a:solidFill>
                          <a:latin typeface="Calibri"/>
                        </a:rPr>
                        <a:t>Tiempo Acceso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&lt; 9 seg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15 seg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45 min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35 min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25 seg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B365D"/>
                          </a:solidFill>
                          <a:latin typeface="Calibri"/>
                        </a:rPr>
                        <a:t>Inocuidad NOM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2-4 °C Certif.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Deficiente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Riesgo en moto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Riesgo manip.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B365D"/>
                          </a:solidFill>
                          <a:latin typeface="Calibri"/>
                        </a:rPr>
                        <a:t>Bloqueo Caduc.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Auto (14 h)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No tiene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Descarte manual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Manual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8051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B365D"/>
                          </a:solidFill>
                          <a:latin typeface="Calibri"/>
                        </a:rPr>
                        <a:t>Acceso Edificio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En pasillo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En pasillo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Prohibido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Fuera campus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En pasillo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8054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B365D"/>
                          </a:solidFill>
                          <a:latin typeface="Calibri"/>
                        </a:rPr>
                        <a:t>Margen Lonchería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58.3% ($70)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0% (chatarra)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65% (alta com.)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75% (paga renta)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293B"/>
                          </a:solidFill>
                          <a:latin typeface="Calibri"/>
                        </a:rPr>
                        <a:t>40% (alto fee)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 descr="chart_competencia_costo_tiem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234440"/>
            <a:ext cx="5120640" cy="33087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28016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ESTUDIO SOCIOECONÓMICO: RADIOGRAFÍA DEL PÚBLICO OBJETIVO</a:t>
            </a:r>
          </a:p>
          <a:p>
            <a:r>
              <a:rPr sz="1050">
                <a:solidFill>
                  <a:srgbClr val="CBD5E1"/>
                </a:solidFill>
                <a:latin typeface="Calibri"/>
              </a:rPr>
              <a:t>Validación demográfica, capacidad de gasto y adopción tecnológica en Nuevo León (INEGI)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146304"/>
            <a:ext cx="3337560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ESTUDIO SOCIOECONÓMICO
Poder Adquisitivo y Hábitos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64748B"/>
                </a:solidFill>
                <a:latin typeface="Calibri"/>
              </a:rPr>
              <a:t>UANL - FIME | Proyecto Final: Máquina Automatizada Híbrida ExpendeX (Contexto, Mercado, Competencia y Rendimiento) | Ing. Mario Alberto González Vázquez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6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557784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5577840" cy="731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252728"/>
            <a:ext cx="5321807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B365D"/>
                </a:solidFill>
                <a:latin typeface="Calibri"/>
              </a:rPr>
              <a:t>1. NIVEL SOCIOECONÓMICO Y PRESUPUESTO DIARIO DE ALIMENTACIÓN</a:t>
            </a:r>
          </a:p>
          <a:p>
            <a:pPr>
              <a:spcAft>
                <a:spcPts val="25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Nivel Socioeconómico Predominante: </a:t>
            </a:r>
            <a:r>
              <a:rPr sz="960">
                <a:solidFill>
                  <a:srgbClr val="1E293B"/>
                </a:solidFill>
                <a:latin typeface="Calibri"/>
              </a:rPr>
              <a:t>NSE C+, C, C- y D+ (estudiantes universitarios, personal técnico y operarios industriales de Monterrey).</a:t>
            </a:r>
          </a:p>
          <a:p>
            <a:pPr>
              <a:spcAft>
                <a:spcPts val="25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Ingreso Familiar Promedio: </a:t>
            </a:r>
            <a:r>
              <a:rPr sz="960">
                <a:solidFill>
                  <a:srgbClr val="1E293B"/>
                </a:solidFill>
                <a:latin typeface="Calibri"/>
              </a:rPr>
              <a:t>$12,500 a $32,000 MXN mensuales en hogares estudiantiles; salarios de operarios entre $2,800 y $4,500 MXN semanales.</a:t>
            </a:r>
          </a:p>
          <a:p>
            <a:pPr>
              <a:spcAft>
                <a:spcPts val="25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Presupuesto Diario para Comida en Campus: </a:t>
            </a:r>
            <a:r>
              <a:rPr sz="960">
                <a:solidFill>
                  <a:srgbClr val="1E293B"/>
                </a:solidFill>
                <a:latin typeface="Calibri"/>
              </a:rPr>
              <a:t>Encuestas y datos de campo revelan un rango de **$80 a $130 MXN diarios**. El precio de **$120.00 MXN** de ExpendeX encaja en el techo de máxima disposición de pago por una comida completa y caliente.</a:t>
            </a:r>
          </a:p>
          <a:p>
            <a:pPr>
              <a:spcAft>
                <a:spcPts val="25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Población Cautiva Inmediata: </a:t>
            </a:r>
            <a:r>
              <a:rPr sz="960">
                <a:solidFill>
                  <a:srgbClr val="1E293B"/>
                </a:solidFill>
                <a:latin typeface="Calibri"/>
              </a:rPr>
              <a:t>22,000 alumnos en FIME; 216,000 en Ciudad Universitaria; más de 550,000 trabajadores en corredores industriales.</a:t>
            </a:r>
          </a:p>
          <a:p>
            <a:pPr>
              <a:spcAft>
                <a:spcPts val="25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Elasticidad de Precio: </a:t>
            </a:r>
            <a:r>
              <a:rPr sz="960">
                <a:solidFill>
                  <a:srgbClr val="1E293B"/>
                </a:solidFill>
                <a:latin typeface="Calibri"/>
              </a:rPr>
              <a:t>Si el platillo supera los $140 MXN, la demanda cae 48%; a $120 MXN, el 89% de los encuestados prefiere ExpendeX sobre la cafetería tradicional.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43000"/>
            <a:ext cx="566928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143000"/>
            <a:ext cx="5669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1252728"/>
            <a:ext cx="5413248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Calibri"/>
              </a:rPr>
              <a:t>2. ADOPCIÓN DIGITAL Y HÁBITOS DE PAGO ELECTRÓNICO (INEGI / BANXICO)</a:t>
            </a:r>
          </a:p>
          <a:p>
            <a:pPr>
              <a:spcAft>
                <a:spcPts val="25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Primer Lugar Nacional en Conectividad: </a:t>
            </a:r>
            <a:r>
              <a:rPr sz="960">
                <a:solidFill>
                  <a:srgbClr val="1E293B"/>
                </a:solidFill>
                <a:latin typeface="Calibri"/>
              </a:rPr>
              <a:t>Según la encuesta ENDUTIH del INEGI, Nuevo León lidera el país con **93.9% de usuarios activos de internet** y 89.9% de cobertura en hogares.</a:t>
            </a:r>
          </a:p>
          <a:p>
            <a:pPr>
              <a:spcAft>
                <a:spcPts val="25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Penetración de Smartphones (97.0%): </a:t>
            </a:r>
            <a:r>
              <a:rPr sz="960">
                <a:solidFill>
                  <a:srgbClr val="1E293B"/>
                </a:solidFill>
                <a:latin typeface="Calibri"/>
              </a:rPr>
              <a:t>El 97% de los estudiantes y trabajadores en Nuevo León cuenta con celular inteligente con cámara capaz de escanear códigos QR en milisegundos.</a:t>
            </a:r>
          </a:p>
          <a:p>
            <a:pPr>
              <a:spcAft>
                <a:spcPts val="25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Explosión de Pagos Digitales (Banxico SPEI): </a:t>
            </a:r>
            <a:r>
              <a:rPr sz="960">
                <a:solidFill>
                  <a:srgbClr val="1E293B"/>
                </a:solidFill>
                <a:latin typeface="Calibri"/>
              </a:rPr>
              <a:t>Banxico procesa más de 20 millones de transferencias SPEI al día; el 90% son microtransacciones (&lt; $200 MXN) vía Mercado Pago, CoDi o débito contactless.</a:t>
            </a:r>
          </a:p>
          <a:p>
            <a:pPr>
              <a:spcAft>
                <a:spcPts val="25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Eliminación del Manejo de Efectivo: </a:t>
            </a:r>
            <a:r>
              <a:rPr sz="960">
                <a:solidFill>
                  <a:srgbClr val="1E293B"/>
                </a:solidFill>
                <a:latin typeface="Calibri"/>
              </a:rPr>
              <a:t>El 92% de los jóvenes de 18 a 28 años prefiere pagar con su tarjeta o billetera digital para no cargar monedas sueltas ni perder tiempo con cambio.</a:t>
            </a:r>
          </a:p>
          <a:p>
            <a:pPr>
              <a:spcAft>
                <a:spcPts val="25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Seguridad Total: </a:t>
            </a:r>
            <a:r>
              <a:rPr sz="960">
                <a:solidFill>
                  <a:srgbClr val="1E293B"/>
                </a:solidFill>
                <a:latin typeface="Calibri"/>
              </a:rPr>
              <a:t>Cero efectivo en la máquina elimina al 100% el riesgo de asaltos, vandalismo y fallas por monedas atoradas.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28016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¿PARA QUIÉN ES ESTA MÁQUINA? — MERCADO DE DOBLE CARA (DUAL TARGET)</a:t>
            </a:r>
          </a:p>
          <a:p>
            <a:r>
              <a:rPr sz="1050">
                <a:solidFill>
                  <a:srgbClr val="CBD5E1"/>
                </a:solidFill>
                <a:latin typeface="Calibri"/>
              </a:rPr>
              <a:t>Un modelo virtuoso que articula beneficios simultáneos para consumidores y productores locales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146304"/>
            <a:ext cx="3337560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MERCADO OBJETIVO
Alianza de Triple Impacto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64748B"/>
                </a:solidFill>
                <a:latin typeface="Calibri"/>
              </a:rPr>
              <a:t>UANL - FIME | Proyecto Final: Máquina Automatizada Híbrida ExpendeX (Contexto, Mercado, Competencia y Rendimiento) | Ing. Mario Alberto González Vázquez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7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370332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3703320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252728"/>
            <a:ext cx="3447287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1. EL CONSUMIDOR CAUTIVO (Estudiante / Docente / Operario)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¿Quién es?: </a:t>
            </a:r>
            <a:r>
              <a:rPr sz="919">
                <a:solidFill>
                  <a:srgbClr val="1E293B"/>
                </a:solidFill>
                <a:latin typeface="Calibri"/>
              </a:rPr>
              <a:t>Alumnos de FIME, docentes de tiempo completo y trabajadores de manufactura en Monterrey.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Dolores Actuales: </a:t>
            </a:r>
            <a:r>
              <a:rPr sz="919">
                <a:solidFill>
                  <a:srgbClr val="1E293B"/>
                </a:solidFill>
                <a:latin typeface="Calibri"/>
              </a:rPr>
              <a:t>Hambre voraz entre clases, filas de 20 minutos en cafeterías, comer botanas chatarras y gastar hasta $200 MXN en delivery.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Lo que Recibe con ExpendeX: </a:t>
            </a:r>
            <a:r>
              <a:rPr sz="919">
                <a:solidFill>
                  <a:srgbClr val="1E293B"/>
                </a:solidFill>
                <a:latin typeface="Calibri"/>
              </a:rPr>
              <a:t>Comida casera fresca, sabrosa y calientita (porción de 500g con 2 guarniciones) en 9 segundos por solo $120 MXN.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Experiencia sin Fricción: </a:t>
            </a:r>
            <a:r>
              <a:rPr sz="919">
                <a:solidFill>
                  <a:srgbClr val="1E293B"/>
                </a:solidFill>
                <a:latin typeface="Calibri"/>
              </a:rPr>
              <a:t>Selecciona en pantalla táctil de 10.1", escanea el QR con Mercado Pago y retira su comida en la compuerta ergonómica.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143000"/>
            <a:ext cx="370332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143000"/>
            <a:ext cx="3703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9976" y="1252728"/>
            <a:ext cx="3447287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Calibri"/>
              </a:rPr>
              <a:t>2. EL SOCIO PRODUCTOR (Loncherías, Fondas y Cocinas Caseras)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¿Quién es?: </a:t>
            </a:r>
            <a:r>
              <a:rPr sz="919">
                <a:solidFill>
                  <a:srgbClr val="1E293B"/>
                </a:solidFill>
                <a:latin typeface="Calibri"/>
              </a:rPr>
              <a:t>Microempresas gastronómicas familiares ubicadas a 1-3 km de los centros de consumo.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Dolores Actuales: </a:t>
            </a:r>
            <a:r>
              <a:rPr sz="919">
                <a:solidFill>
                  <a:srgbClr val="1E293B"/>
                </a:solidFill>
                <a:latin typeface="Calibri"/>
              </a:rPr>
              <a:t>Ventas estancadas a la clientela de paso; imposible costear rentas comerciales de $30,000 MXN; comisiones del 35% en apps.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Lo que Recibe con ExpendeX: </a:t>
            </a:r>
            <a:r>
              <a:rPr sz="919">
                <a:solidFill>
                  <a:srgbClr val="1E293B"/>
                </a:solidFill>
                <a:latin typeface="Calibri"/>
              </a:rPr>
              <a:t>Un punto de venta automatizado 24/7 sin pagar renta fija; venta de 60 platillos diarios garantizados.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Ingreso Justo: </a:t>
            </a:r>
            <a:r>
              <a:rPr sz="919">
                <a:solidFill>
                  <a:srgbClr val="1E293B"/>
                </a:solidFill>
                <a:latin typeface="Calibri"/>
              </a:rPr>
              <a:t>Captura $70.00 MXN netos por comida (58.3% del precio de venta), con dispersión diaria automática y cero cuentas por cobrar.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143000"/>
            <a:ext cx="370332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143000"/>
            <a:ext cx="37033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1252728"/>
            <a:ext cx="3447287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Calibri"/>
              </a:rPr>
              <a:t>3. LA INSTITUCIÓN ANFITRIONA (UANL / Parques Industriales)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¿Quién es?: </a:t>
            </a:r>
            <a:r>
              <a:rPr sz="919">
                <a:solidFill>
                  <a:srgbClr val="1E293B"/>
                </a:solidFill>
                <a:latin typeface="Calibri"/>
              </a:rPr>
              <a:t>Directores de facultades, administradores de campus y gerentes de Recursos Humanos en plantas.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Dolores Actuales: </a:t>
            </a:r>
            <a:r>
              <a:rPr sz="919">
                <a:solidFill>
                  <a:srgbClr val="1E293B"/>
                </a:solidFill>
                <a:latin typeface="Calibri"/>
              </a:rPr>
              <a:t>Quejas por mala calidad de concesiones de comida; empleados desnutridos en turnos de noche; descontrol de repartidores en moto.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Lo que Recibe con ExpendeX: </a:t>
            </a:r>
            <a:r>
              <a:rPr sz="919">
                <a:solidFill>
                  <a:srgbClr val="1E293B"/>
                </a:solidFill>
                <a:latin typeface="Calibri"/>
              </a:rPr>
              <a:t>Mejora inmediata del clima laboral y bienestar estudiantil sin costo de instalación ni operación para la institución.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Instalación Compacta: </a:t>
            </a:r>
            <a:r>
              <a:rPr sz="919">
                <a:solidFill>
                  <a:srgbClr val="1E293B"/>
                </a:solidFill>
                <a:latin typeface="Calibri"/>
              </a:rPr>
              <a:t>Solo requiere 0.84 m² de piso y una toma eléctrica estándar monofásica de 127V AC.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28016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LA SOLUCIÓN: EXPENDEX — EL MÁQUINA AUTOMATIZADA HÍBRIDA AUTOMATIZADO</a:t>
            </a:r>
          </a:p>
          <a:p>
            <a:r>
              <a:rPr sz="1050">
                <a:solidFill>
                  <a:srgbClr val="CBD5E1"/>
                </a:solidFill>
                <a:latin typeface="Calibri"/>
              </a:rPr>
              <a:t>Arquitectura híbrida 1+4+1, refrigeración estricta NOM-251 y quiosco digital de 10.1 pulgadas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146304"/>
            <a:ext cx="3337560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SOLUCIÓN MECATRÓNICA
Hardware + Software Integrado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64748B"/>
                </a:solidFill>
                <a:latin typeface="Calibri"/>
              </a:rPr>
              <a:t>UANL - FIME | Proyecto Final: Máquina Automatizada Híbrida ExpendeX (Contexto, Mercado, Competencia y Rendimiento) | Ing. Mario Alberto González Vázquez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8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557784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5577840" cy="731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252728"/>
            <a:ext cx="5321807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B365D"/>
                </a:solidFill>
                <a:latin typeface="Calibri"/>
              </a:rPr>
              <a:t>INNOVACIONES DE INGENIERÍA QUE HACEN POSIBLE EL MODELO</a:t>
            </a:r>
          </a:p>
          <a:p>
            <a:pPr>
              <a:spcAft>
                <a:spcPts val="25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▪ Arquitectura Híbrida 1+4+1 (36 Canales): </a:t>
            </a:r>
            <a:r>
              <a:rPr sz="950">
                <a:solidFill>
                  <a:srgbClr val="1E293B"/>
                </a:solidFill>
                <a:latin typeface="Calibri"/>
              </a:rPr>
              <a:t>6 bandejas deslizantes de acero inoxidable. 12 bahías laterales gigantes de 190 mm con espirales reforzadas de Ø 144 mm (alojan 60 platillos caseros de 500 g sin cabeceo) y 24 canales centrales de 95 mm (espirales de Ø 70 mm) para 168 bebidas frías. Capacidad total: 228 productos.</a:t>
            </a:r>
          </a:p>
          <a:p>
            <a:pPr>
              <a:spcAft>
                <a:spcPts val="25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▪ Cadena de Frío Estricta NOM-251-SSA1-2009: </a:t>
            </a:r>
            <a:r>
              <a:rPr sz="950">
                <a:solidFill>
                  <a:srgbClr val="1E293B"/>
                </a:solidFill>
                <a:latin typeface="Calibri"/>
              </a:rPr>
              <a:t>Unidad frigorífica Embraco 1/5 HP (R134a) y plenum vertical posterior con 6 toberas laminares que mantienen la cabina entre 2.0 °C y 4.0 °C homogéneos (ΔT vertical &lt; 0.9 °C aun bajo 42 °C exterior).</a:t>
            </a:r>
          </a:p>
          <a:p>
            <a:pPr>
              <a:spcAft>
                <a:spcPts val="25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▪ Gabinete Robusto con Paredes Lisas: </a:t>
            </a:r>
            <a:r>
              <a:rPr sz="950">
                <a:solidFill>
                  <a:srgbClr val="1E293B"/>
                </a:solidFill>
                <a:latin typeface="Calibri"/>
              </a:rPr>
              <a:t>Estructura en lámina Cal. 18 de alta durabilidad, 3 bisagras industriales reforzadas en la puerta principal y compuerta de entrega tipo columpio sin manijas exteriores (antivandálica).</a:t>
            </a:r>
          </a:p>
          <a:p>
            <a:pPr>
              <a:spcAft>
                <a:spcPts val="250"/>
              </a:spcAft>
            </a:pPr>
            <a:r>
              <a:rPr sz="950" b="1">
                <a:solidFill>
                  <a:srgbClr val="1E293B"/>
                </a:solidFill>
                <a:latin typeface="Calibri"/>
              </a:rPr>
              <a:t>▪ Consola Táctil de 10.1" con Raspberry Pi y ESP32: </a:t>
            </a:r>
            <a:r>
              <a:rPr sz="950">
                <a:solidFill>
                  <a:srgbClr val="1E293B"/>
                </a:solidFill>
                <a:latin typeface="Calibri"/>
              </a:rPr>
              <a:t>Quiosco interactivo intuitivo que muestra catálogo con fotos reales, información nutricional con sellos NOM-051, combos ahorro y cobro dinámico con Mercado Pago.</a:t>
            </a:r>
          </a:p>
        </p:txBody>
      </p:sp>
      <p:pic>
        <p:nvPicPr>
          <p:cNvPr id="12" name="Picture 11" descr="Expendex_Render_Oficial_Defini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188720"/>
            <a:ext cx="5623560" cy="75315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28016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INOCUIDAD SANITARIA: PROTOCOLO DE FRESCURA Y BLOQUEO AUTOMÁTICO</a:t>
            </a:r>
          </a:p>
          <a:p>
            <a:r>
              <a:rPr sz="1050">
                <a:solidFill>
                  <a:srgbClr val="CBD5E1"/>
                </a:solidFill>
                <a:latin typeface="Calibri"/>
              </a:rPr>
              <a:t>Algoritmo de rotación diaria que garantiza alimentos 100% frescos y elimina mermas biológicas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146304"/>
            <a:ext cx="3337560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INOCUIDAD ALIMENTARIA
NOM-251 y Frescura Garantizada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64748B"/>
                </a:solidFill>
                <a:latin typeface="Calibri"/>
              </a:rPr>
              <a:t>UANL - FIME | Proyecto Final: Máquina Automatizada Híbrida ExpendeX (Contexto, Mercado, Competencia y Rendimiento) | Ing. Mario Alberto González Vázquez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9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557784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5577840" cy="731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252728"/>
            <a:ext cx="5321807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B365D"/>
                </a:solidFill>
                <a:latin typeface="Calibri"/>
              </a:rPr>
              <a:t>1. EL PROTOCOLO DE FRESCURA DIARIA DE 14 HORAS</a:t>
            </a:r>
          </a:p>
          <a:p>
            <a:pPr>
              <a:spcAft>
                <a:spcPts val="25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06:30 h — Cocina e Inocuidad Matutina: </a:t>
            </a:r>
            <a:r>
              <a:rPr sz="960">
                <a:solidFill>
                  <a:srgbClr val="1E293B"/>
                </a:solidFill>
                <a:latin typeface="Calibri"/>
              </a:rPr>
              <a:t>La lonchería aliada elabora los guisados del día bajo estrictas prácticas de higiene y los porciona en envases gastronómicos herméticos de 3 divisiones.</a:t>
            </a:r>
          </a:p>
          <a:p>
            <a:pPr>
              <a:spcAft>
                <a:spcPts val="25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07:30 h — Abastecimiento y Registro FIFO: </a:t>
            </a:r>
            <a:r>
              <a:rPr sz="960">
                <a:solidFill>
                  <a:srgbClr val="1E293B"/>
                </a:solidFill>
                <a:latin typeface="Calibri"/>
              </a:rPr>
              <a:t>El operador surte las bandejas; el panel web registra cada lote con sello de tiempo (Timestamp) para control de rotación FIFO estricto.</a:t>
            </a:r>
          </a:p>
          <a:p>
            <a:pPr>
              <a:spcAft>
                <a:spcPts val="25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08:00 a 21:00 h — Venta y Monitoreo Activo: </a:t>
            </a:r>
            <a:r>
              <a:rPr sz="960">
                <a:solidFill>
                  <a:srgbClr val="1E293B"/>
                </a:solidFill>
                <a:latin typeface="Calibri"/>
              </a:rPr>
              <a:t>La máquina mantiene la temperatura en 2.8 °C. Si la temperatura sube a &gt; 5.0 °C por más de 15 minutos, el firmware bloquea la venta automáticamente para prevenir riesgos.</a:t>
            </a:r>
          </a:p>
          <a:p>
            <a:pPr>
              <a:spcAft>
                <a:spcPts val="25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21:30 h — Bloqueo Sanitario Automático: </a:t>
            </a:r>
            <a:r>
              <a:rPr sz="960">
                <a:solidFill>
                  <a:srgbClr val="1E293B"/>
                </a:solidFill>
                <a:latin typeface="Calibri"/>
              </a:rPr>
              <a:t>Al cumplirse las 14 horas de jornada útil, el microcontrolador ESP32 bloquea los canales de comida restantes. Se impide vender comida rezagada.</a:t>
            </a:r>
          </a:p>
          <a:p>
            <a:pPr>
              <a:spcAft>
                <a:spcPts val="25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22:00 h — Retiro de Excedentes: </a:t>
            </a:r>
            <a:r>
              <a:rPr sz="960">
                <a:solidFill>
                  <a:srgbClr val="1E293B"/>
                </a:solidFill>
                <a:latin typeface="Calibri"/>
              </a:rPr>
              <a:t>La lonchería retira los remanentes mínimos o se liquidan a precio de descuento en la última hora, asegurando que al día siguiente todo sea 100% nuevo.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43000"/>
            <a:ext cx="566928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143000"/>
            <a:ext cx="5669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1252728"/>
            <a:ext cx="5413248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Calibri"/>
              </a:rPr>
              <a:t>2. ESPECIFICACIÓN DEL RECIPIENTE GASTRONÓMICO HERMÉTICO</a:t>
            </a:r>
          </a:p>
          <a:p>
            <a:pPr>
              <a:spcAft>
                <a:spcPts val="25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Geometría Cuadrada con 3 Divisiones: </a:t>
            </a:r>
            <a:r>
              <a:rPr sz="960">
                <a:solidFill>
                  <a:srgbClr val="1E293B"/>
                </a:solidFill>
                <a:latin typeface="Calibri"/>
              </a:rPr>
              <a:t>175 × 175 × 65 mm. Cuenta con dos compartimentos de 150 ml (guarniciones: arroz y frijoles/verduras) y un compartimento mayor de 350 ml (guisado proteico).</a:t>
            </a:r>
          </a:p>
          <a:p>
            <a:pPr>
              <a:spcAft>
                <a:spcPts val="25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Material Certificado Grado Alimenticio: </a:t>
            </a:r>
            <a:r>
              <a:rPr sz="960">
                <a:solidFill>
                  <a:srgbClr val="1E293B"/>
                </a:solidFill>
                <a:latin typeface="Calibri"/>
              </a:rPr>
              <a:t>Polipropileno (PP) virgen inyectado, libre de BPA, aprobado por COFEPRIS y FDA 21 CFR para contacto con alimentos calientes y fríos.</a:t>
            </a:r>
          </a:p>
          <a:p>
            <a:pPr>
              <a:spcAft>
                <a:spcPts val="25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Tapa Hermética Antiderrames: </a:t>
            </a:r>
            <a:r>
              <a:rPr sz="960">
                <a:solidFill>
                  <a:srgbClr val="1E293B"/>
                </a:solidFill>
                <a:latin typeface="Calibri"/>
              </a:rPr>
              <a:t>Cierre a presión perimetral que impide escurrimientos de caldillos o salsas durante el desplazamiento de la espiral y la caída a la compuerta.</a:t>
            </a:r>
          </a:p>
          <a:p>
            <a:pPr>
              <a:spcAft>
                <a:spcPts val="25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Apto para Horno de Microondas: </a:t>
            </a:r>
            <a:r>
              <a:rPr sz="960">
                <a:solidFill>
                  <a:srgbClr val="1E293B"/>
                </a:solidFill>
                <a:latin typeface="Calibri"/>
              </a:rPr>
              <a:t>El estudiante retira el tupper y puede calentarlo en los microondas situados junto a la máquina en solo 90 segundos.</a:t>
            </a:r>
          </a:p>
          <a:p>
            <a:pPr>
              <a:spcAft>
                <a:spcPts val="25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Ecológico y 100% Reciclable: </a:t>
            </a:r>
            <a:r>
              <a:rPr sz="960">
                <a:solidFill>
                  <a:srgbClr val="1E293B"/>
                </a:solidFill>
                <a:latin typeface="Calibri"/>
              </a:rPr>
              <a:t>Material lavable y reutilizable en el hogar, reduciendo la basura plástica frente a unicel o bolsas desechables.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28016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¿EN QUÉ MERCADOS PODEMOS ESTABLECERNOS? — RUTA DE EXPANSIÓN</a:t>
            </a:r>
          </a:p>
          <a:p>
            <a:r>
              <a:rPr sz="1050">
                <a:solidFill>
                  <a:srgbClr val="CBD5E1"/>
                </a:solidFill>
                <a:latin typeface="Calibri"/>
              </a:rPr>
              <a:t>Estrategia de penetración por fases en centros de alta densidad y demanda desatendida en NL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146304"/>
            <a:ext cx="3337560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SEGMENTACIÓN DE MERCADOS
Estrategia de Despliegue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64748B"/>
                </a:solidFill>
                <a:latin typeface="Calibri"/>
              </a:rPr>
              <a:t>UANL - FIME | Proyecto Final: Máquina Automatizada Híbrida ExpendeX (Contexto, Mercado, Competencia y Rendimiento) | Ing. Mario Alberto González Vázquez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10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557784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5577840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252728"/>
            <a:ext cx="5321807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FASE 1: CAMPUS UNIVERSITARIOS (Mercado Inmediato)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Campus FIME UANL (Punta de Lanza): </a:t>
            </a:r>
            <a:r>
              <a:rPr sz="900">
                <a:solidFill>
                  <a:srgbClr val="1E293B"/>
                </a:solidFill>
                <a:latin typeface="Calibri"/>
              </a:rPr>
              <a:t>22,000 alumnos y docentes en Ciudad Universitaria. Edificios de aulas 1 a 7, polideportivo y biblioteca central.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Expansión a Ciudad Universitaria: </a:t>
            </a:r>
            <a:r>
              <a:rPr sz="900">
                <a:solidFill>
                  <a:srgbClr val="1E293B"/>
                </a:solidFill>
                <a:latin typeface="Calibri"/>
              </a:rPr>
              <a:t>FACPYA, Medicina, Ciencias Químicas, Arquitectura y Leyes. Potencial de más de 45 máquinas en campus CU.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Dinámica de Venta: </a:t>
            </a:r>
            <a:r>
              <a:rPr sz="900">
                <a:solidFill>
                  <a:srgbClr val="1E293B"/>
                </a:solidFill>
                <a:latin typeface="Calibri"/>
              </a:rPr>
              <a:t>Picos de venta concentrados en recesos (10:00 a 14:00 h y 17:00 a 20:30 h).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43000"/>
            <a:ext cx="566928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143000"/>
            <a:ext cx="5669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1252728"/>
            <a:ext cx="541324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Calibri"/>
              </a:rPr>
              <a:t>FASE 2: PARQUES INDUSTRIALES Y MANUFACTURA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Corredores Fabriles de Apodaca y Pesquería: </a:t>
            </a:r>
            <a:r>
              <a:rPr sz="900">
                <a:solidFill>
                  <a:srgbClr val="1E293B"/>
                </a:solidFill>
                <a:latin typeface="Calibri"/>
              </a:rPr>
              <a:t>Más de 150 parques industriales con 550,000 operarios (Kia Motors, Ternium, Nemak, Carrier, Whirlpool).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El Nicho del 3er Turno Nocturno: </a:t>
            </a:r>
            <a:r>
              <a:rPr sz="900">
                <a:solidFill>
                  <a:srgbClr val="1E293B"/>
                </a:solidFill>
                <a:latin typeface="Calibri"/>
              </a:rPr>
              <a:t>Cobertura de 23:00 a 06:00 h donde los comedores cierran. Cero competencia y alta disposición de pago.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Contratos B2B Corporativos: </a:t>
            </a:r>
            <a:r>
              <a:rPr sz="900">
                <a:solidFill>
                  <a:srgbClr val="1E293B"/>
                </a:solidFill>
                <a:latin typeface="Calibri"/>
              </a:rPr>
              <a:t>Arrendamiento de máquinas a empresas para retención de personal.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5577840" cy="2514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577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" y="3904488"/>
            <a:ext cx="5321807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FASE 3: COMPLEJOS HOSPITALARIOS PÚBLICOS Y PRIVADOS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Hospital Universitario y Clínicas IMSS (25, 33, 67): </a:t>
            </a:r>
            <a:r>
              <a:rPr sz="900">
                <a:solidFill>
                  <a:srgbClr val="1E293B"/>
                </a:solidFill>
                <a:latin typeface="Calibri"/>
              </a:rPr>
              <a:t>Población flotante ininterrumpida las 24 horas del día.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Personal Médico de Guardia y Familiares: </a:t>
            </a:r>
            <a:r>
              <a:rPr sz="900">
                <a:solidFill>
                  <a:srgbClr val="1E293B"/>
                </a:solidFill>
                <a:latin typeface="Calibri"/>
              </a:rPr>
              <a:t>Médicos residentes, enfermeras y familiares en salas de espera que no pueden descuidar a su paciente ni salir del hospital de noche.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Higiene Absoluta: </a:t>
            </a:r>
            <a:r>
              <a:rPr sz="900">
                <a:solidFill>
                  <a:srgbClr val="1E293B"/>
                </a:solidFill>
                <a:latin typeface="Calibri"/>
              </a:rPr>
              <a:t>La máquina garantiza que los alimentos no estuvieron expuestos al polvo ni a moscas de la vía pública.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794760"/>
            <a:ext cx="5669280" cy="2514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794760"/>
            <a:ext cx="56692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4496" y="3904488"/>
            <a:ext cx="5413248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Calibri"/>
              </a:rPr>
              <a:t>FASE 4: NODOS DE MOVILIDAD Y CENTROS CORPORATIVOS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Estaciones de Transferencia Metrorrey: </a:t>
            </a:r>
            <a:r>
              <a:rPr sz="900">
                <a:solidFill>
                  <a:srgbClr val="1E293B"/>
                </a:solidFill>
                <a:latin typeface="Calibri"/>
              </a:rPr>
              <a:t>Estaciones Cuauhtémoc, Sendero y San Nicolás con miles de pasajeros en tránsito diario que no desayunaron en casa.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Torres de Oficinas y Call Centers: </a:t>
            </a:r>
            <a:r>
              <a:rPr sz="900">
                <a:solidFill>
                  <a:srgbClr val="1E293B"/>
                </a:solidFill>
                <a:latin typeface="Calibri"/>
              </a:rPr>
              <a:t>Centros de trabajo en San Pedro y Monterrey donde los empleados de oficina buscan comida casera a precio razonable.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Escalabilidad Regional: </a:t>
            </a:r>
            <a:r>
              <a:rPr sz="900">
                <a:solidFill>
                  <a:srgbClr val="1E293B"/>
                </a:solidFill>
                <a:latin typeface="Calibri"/>
              </a:rPr>
              <a:t>Modelo replicable a Saltillo, Ramos Arizpe, Reynosa y Querétaro.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28016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TAMAÑO DE MERCADO: TAM, SAM Y SOM EN NUEVO LEÓN</a:t>
            </a:r>
          </a:p>
          <a:p>
            <a:r>
              <a:rPr sz="1050">
                <a:solidFill>
                  <a:srgbClr val="CBD5E1"/>
                </a:solidFill>
                <a:latin typeface="Calibri"/>
              </a:rPr>
              <a:t>Dimensionamiento del valor de mercado potencial en vending de comida y bebidas preparadas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146304"/>
            <a:ext cx="3337560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TAMAÑO DE MERCADO
Oportunidad en Millones de MXN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64748B"/>
                </a:solidFill>
                <a:latin typeface="Calibri"/>
              </a:rPr>
              <a:t>UANL - FIME | Proyecto Final: Máquina Automatizada Híbrida ExpendeX (Contexto, Mercado, Competencia y Rendimiento) | Ing. Mario Alberto González Vázquez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11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557784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5577840" cy="731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252728"/>
            <a:ext cx="5321807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B365D"/>
                </a:solidFill>
                <a:latin typeface="Calibri"/>
              </a:rPr>
              <a:t>DIMENSIONAMIENTO CUANTITATIVO DEL MERCADO</a:t>
            </a:r>
          </a:p>
          <a:p>
            <a:pPr>
              <a:spcAft>
                <a:spcPts val="25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TAM — Total Addressable Market ($1,400 MDP/año): </a:t>
            </a:r>
            <a:r>
              <a:rPr sz="980">
                <a:solidFill>
                  <a:srgbClr val="1E293B"/>
                </a:solidFill>
                <a:latin typeface="Calibri"/>
              </a:rPr>
              <a:t>Gasto anual total en venta automática de bebidas, botanas y comida rápida en los más de 12,000 puntos potenciales en Nuevo León (universidades, preparatorias, fábricas, hospitales y oficinas).</a:t>
            </a:r>
          </a:p>
          <a:p>
            <a:pPr>
              <a:spcAft>
                <a:spcPts val="25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SAM — Serviceable Available Market ($280 MDP/año): </a:t>
            </a:r>
            <a:r>
              <a:rPr sz="980">
                <a:solidFill>
                  <a:srgbClr val="1E293B"/>
                </a:solidFill>
                <a:latin typeface="Calibri"/>
              </a:rPr>
              <a:t>1,800 puntos de venta de muy alta densidad en el Área Metropolitana de Monterrey con jornadas extendidas o múltiples turnos de trabajo, accesibles con el modelo ExpendeX.</a:t>
            </a:r>
          </a:p>
          <a:p>
            <a:pPr>
              <a:spcAft>
                <a:spcPts val="25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SOM — Serviceable Obtainable Market ($153.6 MDP/año): </a:t>
            </a:r>
            <a:r>
              <a:rPr sz="980">
                <a:solidFill>
                  <a:srgbClr val="1E293B"/>
                </a:solidFill>
                <a:latin typeface="Calibri"/>
              </a:rPr>
              <a:t>Meta operativa a 3 años: Red de **120 máquinas ExpendeX** activas en alianza con 30 loncherías locales, vendiendo en promedio 60 comidas y 100 bebidas diarias por unidad.</a:t>
            </a:r>
          </a:p>
          <a:p>
            <a:pPr>
              <a:spcAft>
                <a:spcPts val="250"/>
              </a:spcAft>
            </a:pPr>
            <a:r>
              <a:rPr sz="980" b="1">
                <a:solidFill>
                  <a:srgbClr val="1E293B"/>
                </a:solidFill>
                <a:latin typeface="Calibri"/>
              </a:rPr>
              <a:t>▪ Potencial de Captura en FIME (Piloto Inicial): </a:t>
            </a:r>
            <a:r>
              <a:rPr sz="980">
                <a:solidFill>
                  <a:srgbClr val="1E293B"/>
                </a:solidFill>
                <a:latin typeface="Calibri"/>
              </a:rPr>
              <a:t>Con 3 máquinas en FIME se capturan más de **$600,000 MXN mensuales** en facturación bruta, demostrando la viabilidad comercial inmediata.</a:t>
            </a:r>
          </a:p>
        </p:txBody>
      </p:sp>
      <p:pic>
        <p:nvPicPr>
          <p:cNvPr id="12" name="Picture 11" descr="chart_tam_sam_s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4440"/>
            <a:ext cx="5669280" cy="36632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28016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ARQUITECTURA MECATRÓNICA: EL SOPORTE QUE HACE VIABLE EL NEGOCIO</a:t>
            </a:r>
          </a:p>
          <a:p>
            <a:r>
              <a:rPr sz="1050">
                <a:solidFill>
                  <a:srgbClr val="CBD5E1"/>
                </a:solidFill>
                <a:latin typeface="Calibri"/>
              </a:rPr>
              <a:t>Diseño paramétrico 3D, electrónica matricial de potencia EasyEDA y control en tiempo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146304"/>
            <a:ext cx="3337560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INGENIERÍA MECATRÓNICA
Hardware Soberano y Confiable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64748B"/>
                </a:solidFill>
                <a:latin typeface="Calibri"/>
              </a:rPr>
              <a:t>UANL - FIME | Proyecto Final: Máquina Automatizada Híbrida ExpendeX (Contexto, Mercado, Competencia y Rendimiento) | Ing. Mario Alberto González Vázquez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12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370332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3703320" cy="731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252728"/>
            <a:ext cx="3447287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B365D"/>
                </a:solidFill>
                <a:latin typeface="Calibri"/>
              </a:rPr>
              <a:t>1. DISEÑO CAD 3D EN FUSION 360 (Samuel Tovar Mújica)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Gabinete Paramétrico a Escala 1:1: </a:t>
            </a:r>
            <a:r>
              <a:rPr sz="919">
                <a:solidFill>
                  <a:srgbClr val="1E293B"/>
                </a:solidFill>
                <a:latin typeface="Calibri"/>
              </a:rPr>
              <a:t>950 mm ancho × 880 mm fondo × 1,930 mm altura total con 4 ruedas de freno de uso rudo.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Paredes Exteriores Lisas: </a:t>
            </a:r>
            <a:r>
              <a:rPr sz="919">
                <a:solidFill>
                  <a:srgbClr val="1E293B"/>
                </a:solidFill>
                <a:latin typeface="Calibri"/>
              </a:rPr>
              <a:t>Chapa de acero Cal. 18 rolada en frío, sin costillas visibles, con acabado electrostático gris grafito.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3 Bisagras de Alta Resistencia: </a:t>
            </a:r>
            <a:r>
              <a:rPr sz="919">
                <a:solidFill>
                  <a:srgbClr val="1E293B"/>
                </a:solidFill>
                <a:latin typeface="Calibri"/>
              </a:rPr>
              <a:t>Puerta frontal con triple punto de articulación para soportar el peso del vidrio y el uso rudo.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Compuerta Tipo Columpio sin Manija: </a:t>
            </a:r>
            <a:r>
              <a:rPr sz="919">
                <a:solidFill>
                  <a:srgbClr val="1E293B"/>
                </a:solidFill>
                <a:latin typeface="Calibri"/>
              </a:rPr>
              <a:t>Apertura por empuje hacia adentro con 2 bisagras superiores, eliminando piezas rompibles.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143000"/>
            <a:ext cx="370332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143000"/>
            <a:ext cx="3703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9976" y="1252728"/>
            <a:ext cx="3447287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Calibri"/>
              </a:rPr>
              <a:t>2. POTENCIA Y PCB EASYEDA (Emiliano Sánchez Martínez)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Matriz MOSFET 6×6 Optoaislada: </a:t>
            </a:r>
            <a:r>
              <a:rPr sz="919">
                <a:solidFill>
                  <a:srgbClr val="1E293B"/>
                </a:solidFill>
                <a:latin typeface="Calibri"/>
              </a:rPr>
              <a:t>Control de 36 motorreductores planetarios 24V DC con únicamente 12 GPIOs del microcontrolador ESP32.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Aislamiento Galvánico de 5,000 V RMS: </a:t>
            </a:r>
            <a:r>
              <a:rPr sz="919">
                <a:solidFill>
                  <a:srgbClr val="1E293B"/>
                </a:solidFill>
                <a:latin typeface="Calibri"/>
              </a:rPr>
              <a:t>Optoacopladores PC817C protegen la lógica digital contra picos inductivos de los motores.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Ruteo PCB Bajo Norma IPC-2221B: </a:t>
            </a:r>
            <a:r>
              <a:rPr sz="919">
                <a:solidFill>
                  <a:srgbClr val="1E293B"/>
                </a:solidFill>
                <a:latin typeface="Calibri"/>
              </a:rPr>
              <a:t>Pistas de 1.8 mm en cobre de 1 oz, capaces de conducir 2.5 A pico con elevación térmica &lt; 8 °C.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Ahorro de Costo: </a:t>
            </a:r>
            <a:r>
              <a:rPr sz="919">
                <a:solidFill>
                  <a:srgbClr val="1E293B"/>
                </a:solidFill>
                <a:latin typeface="Calibri"/>
              </a:rPr>
              <a:t>Abarata el sistema en 83% frente a controladores PLC comerciales.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143000"/>
            <a:ext cx="370332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143000"/>
            <a:ext cx="37033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1252728"/>
            <a:ext cx="3447287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Calibri"/>
              </a:rPr>
              <a:t>3. SOFTWARE DUAL Y WOKWI (Trabajo en Equipo)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Quiosco Táctil Web 10.1": </a:t>
            </a:r>
            <a:r>
              <a:rPr sz="919">
                <a:solidFill>
                  <a:srgbClr val="1E293B"/>
                </a:solidFill>
                <a:latin typeface="Calibri"/>
              </a:rPr>
              <a:t>Interfaz amigable para Raspberry Pi con catálogo visual de comidas caseras y bebidas, combos y cobro QR Mercado Pago.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Panel de Administración Web: </a:t>
            </a:r>
            <a:r>
              <a:rPr sz="919">
                <a:solidFill>
                  <a:srgbClr val="1E293B"/>
                </a:solidFill>
                <a:latin typeface="Calibri"/>
              </a:rPr>
              <a:t>Monitoreo remoto de inventario por canal, rotación FIFO, temperatura y corte de caja diario.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Simulador Wokwi en Tiempo Real: </a:t>
            </a:r>
            <a:r>
              <a:rPr sz="919">
                <a:solidFill>
                  <a:srgbClr val="1E293B"/>
                </a:solidFill>
                <a:latin typeface="Calibri"/>
              </a:rPr>
              <a:t>Validación del firmware en VS Code con matriz de 36 LEDs sincronizada vía TCP con la web.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Sensor Óptico Infrarrojo de Paro: </a:t>
            </a:r>
            <a:r>
              <a:rPr sz="919">
                <a:solidFill>
                  <a:srgbClr val="1E293B"/>
                </a:solidFill>
                <a:latin typeface="Calibri"/>
              </a:rPr>
              <a:t>Garantiza que la espiral se detenga en la posición exacta tras expulsar el producto.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28016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COSTOS DE FABRICACIÓN (BOM INDUSTRIAL DETALLADO)</a:t>
            </a:r>
          </a:p>
          <a:p>
            <a:r>
              <a:rPr sz="1050">
                <a:solidFill>
                  <a:srgbClr val="CBD5E1"/>
                </a:solidFill>
                <a:latin typeface="Calibri"/>
              </a:rPr>
              <a:t>Desglose de inversión física por máquina: $46,463.12 MXN frente a $180,000+ MXN importada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146304"/>
            <a:ext cx="3337560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COSTOS INDUSTRIALES
Ahorro del 73.4% en CAPEX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64748B"/>
                </a:solidFill>
                <a:latin typeface="Calibri"/>
              </a:rPr>
              <a:t>UANL - FIME | Proyecto Final: Máquina Automatizada Híbrida ExpendeX (Contexto, Mercado, Competencia y Rendimiento) | Ing. Mario Alberto González Vázquez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13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35204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35204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216152"/>
            <a:ext cx="3374136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Calibri"/>
              </a:rPr>
              <a:t>$46,463.12 MXN</a:t>
            </a:r>
          </a:p>
          <a:p>
            <a:pPr algn="ctr"/>
            <a:r>
              <a:rPr sz="880">
                <a:solidFill>
                  <a:srgbClr val="64748B"/>
                </a:solidFill>
                <a:latin typeface="Calibri"/>
              </a:rPr>
              <a:t>Costo Total BOM Fabricación (con IVA)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1143000"/>
            <a:ext cx="38404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9080" y="1143000"/>
            <a:ext cx="3840480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2232" y="1216152"/>
            <a:ext cx="3694176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11D48"/>
                </a:solidFill>
                <a:latin typeface="Calibri"/>
              </a:rPr>
              <a:t>$185,000.00 MXN</a:t>
            </a:r>
          </a:p>
          <a:p>
            <a:pPr algn="ctr"/>
            <a:r>
              <a:rPr sz="880">
                <a:solidFill>
                  <a:srgbClr val="64748B"/>
                </a:solidFill>
                <a:latin typeface="Calibri"/>
              </a:rPr>
              <a:t>Costo de máquina comercial equivalente importada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143000"/>
            <a:ext cx="37033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143000"/>
            <a:ext cx="3703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1216152"/>
            <a:ext cx="3557015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9E0B"/>
                </a:solidFill>
                <a:latin typeface="Calibri"/>
              </a:rPr>
              <a:t>-73.4%</a:t>
            </a:r>
          </a:p>
          <a:p>
            <a:pPr algn="ctr"/>
            <a:r>
              <a:rPr sz="880">
                <a:solidFill>
                  <a:srgbClr val="64748B"/>
                </a:solidFill>
                <a:latin typeface="Calibri"/>
              </a:rPr>
              <a:t>Ahorro directo en inversión de capital (CAPEX)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5760" y="2468880"/>
          <a:ext cx="114300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754880"/>
                <a:gridCol w="2011680"/>
                <a:gridCol w="1737360"/>
              </a:tblGrid>
              <a:tr h="647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SUBSISTEMA INDUSTRIAL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COMPONENTES Y MATERIALES PRINCIPALES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COSTO NETO (MXN)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% DEL TOTAL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1B365D"/>
                          </a:solidFill>
                          <a:latin typeface="Calibri"/>
                        </a:rPr>
                        <a:t>1. Gabinete y Estructura Mecánica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Chapa Cal. 18, pintura electrostática gris grafito, vidrio templado, 4 ruedas rudo y bisagras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$15,820.00 MXN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34.05%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1B365D"/>
                          </a:solidFill>
                          <a:latin typeface="Calibri"/>
                        </a:rPr>
                        <a:t>2. Sistema Frigorífico R134a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Compresor Embraco 1/5 HP, condensador, evaporador, filtro deshidratador y plenum 6 toberas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$11,350.00 MXN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24.43%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1B365D"/>
                          </a:solidFill>
                          <a:latin typeface="Calibri"/>
                        </a:rPr>
                        <a:t>3. Cinemática y Dispensación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36 motorreductores planetarios 24V DC, 12 espirales Ø 144 mm, 24 espirales Ø 70 mm y bandejas AISI 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$9,840.00 MXN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21.18%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1B365D"/>
                          </a:solidFill>
                          <a:latin typeface="Calibri"/>
                        </a:rPr>
                        <a:t>4. Electrónica, Control y Pantalla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PCB EasyEDA MOSFET 6×6, ESP32, Raspberry Pi 4, Pantalla táctil 10.1", Fuente Mean Well 350W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$7,853.12 MXN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16.90%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1B365D"/>
                          </a:solidFill>
                          <a:latin typeface="Calibri"/>
                        </a:rPr>
                        <a:t>5. Insumos y Ensamble Final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Tornillería inoxidable, cableado automotriz, burletes de sellado EPDM y mano de obra taller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$1,600.00 MXN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3.44%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28016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ESTRUCTURA DE PRECIOS Y UNIT ECONOMICS POR PRODUCTO</a:t>
            </a:r>
          </a:p>
          <a:p>
            <a:r>
              <a:rPr sz="1050">
                <a:solidFill>
                  <a:srgbClr val="CBD5E1"/>
                </a:solidFill>
                <a:latin typeface="Calibri"/>
              </a:rPr>
              <a:t>Ecuación financiera de cada venta: márgenes atractivos para la lonchería y para ExpendeX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146304"/>
            <a:ext cx="3337560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UNIT ECONOMICS
Ganancia por Unidad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64748B"/>
                </a:solidFill>
                <a:latin typeface="Calibri"/>
              </a:rPr>
              <a:t>UANL - FIME | Proyecto Final: Máquina Automatizada Híbrida ExpendeX (Contexto, Mercado, Competencia y Rendimiento) | Ing. Mario Alberto González Vázquez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14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557784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5577840" cy="731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252728"/>
            <a:ext cx="5321807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B365D"/>
                </a:solidFill>
                <a:latin typeface="Calibri"/>
              </a:rPr>
              <a:t>DESGLOSE DE PRECIOS Y MÁRGENES DE GANANCIA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1. PLATILLO CASERO FRESCO (Precio: $120.00 MXN): </a:t>
            </a:r>
            <a:r>
              <a:rPr sz="919">
                <a:solidFill>
                  <a:srgbClr val="1E293B"/>
                </a:solidFill>
                <a:latin typeface="Calibri"/>
              </a:rPr>
              <a:t>Recipiente hermético de 500 g con 3 divisiones (guisado norteño + 2 guarniciones abundantes).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Pago a Lonchería Aliada ($70.00 MXN / 58.3%): </a:t>
            </a:r>
            <a:r>
              <a:rPr sz="919">
                <a:solidFill>
                  <a:srgbClr val="1E293B"/>
                </a:solidFill>
                <a:latin typeface="Calibri"/>
              </a:rPr>
              <a:t>Cubre con creces el costo de ingredientes ($38 MXN) y deja a la fonda $32 MXN netos de utilidad por platillo sin pagar meseros ni renta.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Costo de Envase Hermético PP ($5.00 MXN / 4.2%): </a:t>
            </a:r>
            <a:r>
              <a:rPr sz="919">
                <a:solidFill>
                  <a:srgbClr val="1E293B"/>
                </a:solidFill>
                <a:latin typeface="Calibri"/>
              </a:rPr>
              <a:t>Envase rígido grado alimenticio de 3 divisiones apto para microondas.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Comisión Pasarela Mercado Pago ($4.10 MXN / 3.4%): </a:t>
            </a:r>
            <a:r>
              <a:rPr sz="919">
                <a:solidFill>
                  <a:srgbClr val="1E293B"/>
                </a:solidFill>
                <a:latin typeface="Calibri"/>
              </a:rPr>
              <a:t>Tarifa de procesamiento digital transparente (2.95% + IVA).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Margen Bruto ExpendeX ($40.90 MXN / 34.1%): </a:t>
            </a:r>
            <a:r>
              <a:rPr sz="919">
                <a:solidFill>
                  <a:srgbClr val="1E293B"/>
                </a:solidFill>
                <a:latin typeface="Calibri"/>
              </a:rPr>
              <a:t>Margen capturado por máquina por cada platillo dispensado.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2. BEBIDA FRÍA REFRIGERADA (Precio: $25.00 MXN): </a:t>
            </a:r>
            <a:r>
              <a:rPr sz="919">
                <a:solidFill>
                  <a:srgbClr val="1E293B"/>
                </a:solidFill>
                <a:latin typeface="Calibri"/>
              </a:rPr>
              <a:t>Refrescos y jugos en lata o pet de 600 ml.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Costo Mayoreo ($14.00 MXN) + Comisión ($0.85 MXN): </a:t>
            </a:r>
            <a:r>
              <a:rPr sz="919">
                <a:solidFill>
                  <a:srgbClr val="1E293B"/>
                </a:solidFill>
                <a:latin typeface="Calibri"/>
              </a:rPr>
              <a:t>Margen bruto para ExpendeX de **$10.15 MXN por bebida (40.6%)**.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3. COMBO AHORRO (Comida + Bebida = $135.00 MXN): </a:t>
            </a:r>
            <a:r>
              <a:rPr sz="919">
                <a:solidFill>
                  <a:srgbClr val="1E293B"/>
                </a:solidFill>
                <a:latin typeface="Calibri"/>
              </a:rPr>
              <a:t>Ahorro de $10 MXN para el estudiante; margen combinado de **$41.05 MXN por combo**.</a:t>
            </a:r>
          </a:p>
        </p:txBody>
      </p:sp>
      <p:pic>
        <p:nvPicPr>
          <p:cNvPr id="12" name="Picture 11" descr="chart_unit_economics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4440"/>
            <a:ext cx="56692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28016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¿CUÁNTO RENDIMIENTO GENERA ESTA MÁQUINA? — FLUJOS MENSUALES</a:t>
            </a:r>
          </a:p>
          <a:p>
            <a:r>
              <a:rPr sz="1050">
                <a:solidFill>
                  <a:srgbClr val="CBD5E1"/>
                </a:solidFill>
                <a:latin typeface="Calibri"/>
              </a:rPr>
              <a:t>Modelación financiera de 3 escenarios operativos reales: Conservador, Base y Alta Demanda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146304"/>
            <a:ext cx="3337560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RENDIMIENTO FINANCIERO
Flujo de Caja y Utilidades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64748B"/>
                </a:solidFill>
                <a:latin typeface="Calibri"/>
              </a:rPr>
              <a:t>UANL - FIME | Proyecto Final: Máquina Automatizada Híbrida ExpendeX (Contexto, Mercado, Competencia y Rendimiento) | Ing. Mario Alberto González Vázquez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15 / 20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143000"/>
          <a:ext cx="1143000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651760"/>
                <a:gridCol w="2651760"/>
                <a:gridCol w="2651760"/>
              </a:tblGrid>
              <a:tr h="64579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VARIABLE FINANCIERA (MENSUAL / 30 DÍAS)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ESCENARIO CONSERVADOR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ESCENARIO BASE (CAMPUS FIME)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ESCENARIO ALTO (3 TURNOS)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1B365D"/>
                          </a:solidFill>
                          <a:latin typeface="Calibri"/>
                        </a:rPr>
                        <a:t>Ventas Diarias Promedio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40 comidas + 60 bebidas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60 comidas + 120 bebidas (Rotación 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80 comidas + 150 bebidas (Recarga 2 veces)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1B365D"/>
                          </a:solidFill>
                          <a:latin typeface="Calibri"/>
                        </a:rPr>
                        <a:t>Ingreso Bruto Mensual (Total ventas)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$189,000.00 MXN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$306,000.00 MXN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$400,500.00 MXN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1B365D"/>
                          </a:solidFill>
                          <a:latin typeface="Calibri"/>
                        </a:rPr>
                        <a:t>Dispersión a Loncherías (Comidas)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$84,000.00 MXN ($70/c)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$126,000.00 MXN ($70/c)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$168,000.00 MXN ($70/c)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1B365D"/>
                          </a:solidFill>
                          <a:latin typeface="Calibri"/>
                        </a:rPr>
                        <a:t>Costo Mayoreo Bebidas + Envases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$37,650.00 MXN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$69,060.00 MXN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$86,490.00 MXN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1B365D"/>
                          </a:solidFill>
                          <a:latin typeface="Calibri"/>
                        </a:rPr>
                        <a:t>Margen Bruto Mensual ExpendeX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$67,350.00 MXN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$110,940.00 MXN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$146,010.00 MXN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1B365D"/>
                          </a:solidFill>
                          <a:latin typeface="Calibri"/>
                        </a:rPr>
                        <a:t>Gastos Operativos (Luz, 4G, Mermas 3%)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$3,200.00 MXN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$4,200.00 MXN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$5,500.00 MXN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1B365D"/>
                          </a:solidFill>
                          <a:latin typeface="Calibri"/>
                        </a:rPr>
                        <a:t>UTILIDAD NETA MENSUAL POR MÁQUINA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$64,150.00 MXN / 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$106,740.00 MXN / 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1E293B"/>
                          </a:solidFill>
                          <a:latin typeface="Calibri"/>
                        </a:rPr>
                        <a:t>$140,510.00 MXN / 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28016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MÉTRICAS FINANCIERAS DE INVERSIÓN: VAN, TIR Y RETORNO ROI</a:t>
            </a:r>
          </a:p>
          <a:p>
            <a:r>
              <a:rPr sz="1050">
                <a:solidFill>
                  <a:srgbClr val="CBD5E1"/>
                </a:solidFill>
                <a:latin typeface="Calibri"/>
              </a:rPr>
              <a:t>Evaluación económica formal a 12 meses sobre la inversión inicial de $46,463.12 MXN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146304"/>
            <a:ext cx="3337560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EVALUACIÓN DE INVERSIÓN
Payback en 24.5 Días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64748B"/>
                </a:solidFill>
                <a:latin typeface="Calibri"/>
              </a:rPr>
              <a:t>UANL - FIME | Proyecto Final: Máquina Automatizada Híbrida ExpendeX (Contexto, Mercado, Competencia y Rendimiento) | Ing. Mario Alberto González Vázquez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16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557784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5577840" cy="731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252728"/>
            <a:ext cx="5321807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B365D"/>
                </a:solidFill>
                <a:latin typeface="Calibri"/>
              </a:rPr>
              <a:t>INDICADORES DE RENTABILIDAD EXTRAORDINARIA</a:t>
            </a:r>
          </a:p>
          <a:p>
            <a:pPr>
              <a:spcAft>
                <a:spcPts val="25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Payback (Recuperación de la Máquina): </a:t>
            </a:r>
            <a:r>
              <a:rPr sz="960">
                <a:solidFill>
                  <a:srgbClr val="1E293B"/>
                </a:solidFill>
                <a:latin typeface="Calibri"/>
              </a:rPr>
              <a:t>¡Apenas **24.5 días de operación continua**! La máquina se paga a sí misma en su primer mes de trabajo en el campus.</a:t>
            </a:r>
          </a:p>
          <a:p>
            <a:pPr>
              <a:spcAft>
                <a:spcPts val="25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Valor Actual Neto (VAN a 12 meses): </a:t>
            </a:r>
            <a:r>
              <a:rPr sz="960">
                <a:solidFill>
                  <a:srgbClr val="1E293B"/>
                </a:solidFill>
                <a:latin typeface="Calibri"/>
              </a:rPr>
              <a:t>**+$466,190.28 MXN** descontando flujos netos con una Tasa Mínima Aceptable de Rendimiento (TMAR) del 18.0% anual sobre la inversión inicial de $46,463.12 MXN. Demuestra una viabilidad económica masiva.</a:t>
            </a:r>
          </a:p>
          <a:p>
            <a:pPr>
              <a:spcAft>
                <a:spcPts val="25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Tasa Interna de Retorno (TIR): </a:t>
            </a:r>
            <a:r>
              <a:rPr sz="960">
                <a:solidFill>
                  <a:srgbClr val="1E293B"/>
                </a:solidFill>
                <a:latin typeface="Calibri"/>
              </a:rPr>
              <a:t>**101.1% mensual** (anualizada &gt; 300%), superando por múltiplos cualquier instrumento de renta fija, bolsa o franquicia tradicional.</a:t>
            </a:r>
          </a:p>
          <a:p>
            <a:pPr>
              <a:spcAft>
                <a:spcPts val="25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Retorno de la Inversión (ROI Anual): </a:t>
            </a:r>
            <a:r>
              <a:rPr sz="960">
                <a:solidFill>
                  <a:srgbClr val="1E293B"/>
                </a:solidFill>
                <a:latin typeface="Calibri"/>
              </a:rPr>
              <a:t>Mayor al **1,000% anual** por máquina operada en esquema base.</a:t>
            </a:r>
          </a:p>
          <a:p>
            <a:pPr>
              <a:spcAft>
                <a:spcPts val="250"/>
              </a:spcAft>
            </a:pPr>
            <a:r>
              <a:rPr sz="960" b="1">
                <a:solidFill>
                  <a:srgbClr val="1E293B"/>
                </a:solidFill>
                <a:latin typeface="Calibri"/>
              </a:rPr>
              <a:t>▪ Punto de Equilibrio Operativo (Break-even): </a:t>
            </a:r>
            <a:r>
              <a:rPr sz="960">
                <a:solidFill>
                  <a:srgbClr val="1E293B"/>
                </a:solidFill>
                <a:latin typeface="Calibri"/>
              </a:rPr>
              <a:t>Solo se requiere vender **387 platillos** para recuperar el costo total de los fierros y componentes de la máquina (menos de 7 días laborales).</a:t>
            </a:r>
          </a:p>
        </p:txBody>
      </p:sp>
      <p:pic>
        <p:nvPicPr>
          <p:cNvPr id="12" name="Picture 11" descr="chart_flujo_acumulado_e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4440"/>
            <a:ext cx="5669280" cy="350161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28016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MODELOS DE COMERCIALIZACIÓN Y MONETIZACIÓN</a:t>
            </a:r>
          </a:p>
          <a:p>
            <a:r>
              <a:rPr sz="1050">
                <a:solidFill>
                  <a:srgbClr val="CBD5E1"/>
                </a:solidFill>
                <a:latin typeface="Calibri"/>
              </a:rPr>
              <a:t>Tres esquemas comerciales complementarios para expandir y escalar el proyecto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146304"/>
            <a:ext cx="3337560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MODELOS DE NEGOCIO
Vías de Captura de Valor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64748B"/>
                </a:solidFill>
                <a:latin typeface="Calibri"/>
              </a:rPr>
              <a:t>UANL - FIME | Proyecto Final: Máquina Automatizada Híbrida ExpendeX (Contexto, Mercado, Competencia y Rendimiento) | Ing. Mario Alberto González Vázquez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17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370332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3703320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252728"/>
            <a:ext cx="3447287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VÍA 1: OPERADOR PROPIETARIO (Revenue Share con Loncherías)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Esquema: </a:t>
            </a:r>
            <a:r>
              <a:rPr sz="919">
                <a:solidFill>
                  <a:srgbClr val="1E293B"/>
                </a:solidFill>
                <a:latin typeface="Calibri"/>
              </a:rPr>
              <a:t>ExpendeX instala y opera las máquinas directamente en facultades y plantas.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Alianza: </a:t>
            </a:r>
            <a:r>
              <a:rPr sz="919">
                <a:solidFill>
                  <a:srgbClr val="1E293B"/>
                </a:solidFill>
                <a:latin typeface="Calibri"/>
              </a:rPr>
              <a:t>La lonchería aliada no invierte un solo peso; únicamente surte las bandejas a diario.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Captura de Valor: </a:t>
            </a:r>
            <a:r>
              <a:rPr sz="919">
                <a:solidFill>
                  <a:srgbClr val="1E293B"/>
                </a:solidFill>
                <a:latin typeface="Calibri"/>
              </a:rPr>
              <a:t>La lonchería recibe el 58.3% ($70/comida) y ExpendeX retiene entre **$64,000 y $106,000 MXN netos mensuales por máquina**.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Ventaja: </a:t>
            </a:r>
            <a:r>
              <a:rPr sz="919">
                <a:solidFill>
                  <a:srgbClr val="1E293B"/>
                </a:solidFill>
                <a:latin typeface="Calibri"/>
              </a:rPr>
              <a:t>Máxima rentabilidad mensual y control total de la experiencia de marca.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143000"/>
            <a:ext cx="370332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143000"/>
            <a:ext cx="3703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9976" y="1252728"/>
            <a:ext cx="3447287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Calibri"/>
              </a:rPr>
              <a:t>VÍA 2: VENTA DE EQUIPOS A FRANQUICIATARIOS (Hardware + SaaS)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Esquema: </a:t>
            </a:r>
            <a:r>
              <a:rPr sz="919">
                <a:solidFill>
                  <a:srgbClr val="1E293B"/>
                </a:solidFill>
                <a:latin typeface="Calibri"/>
              </a:rPr>
              <a:t>Venta directa de máquinas construidas a emprendedores e inversionistas locales.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Precio de Venta por Máquina: </a:t>
            </a:r>
            <a:r>
              <a:rPr sz="919">
                <a:solidFill>
                  <a:srgbClr val="1E293B"/>
                </a:solidFill>
                <a:latin typeface="Calibri"/>
              </a:rPr>
              <a:t>**$85,000.00 MXN** (Margen de utilidad de **$38,536.88 MXN** por máquina vendida sobre costo BOM, 83% margen industrial).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Ingreso Recurrente SaaS: </a:t>
            </a:r>
            <a:r>
              <a:rPr sz="919">
                <a:solidFill>
                  <a:srgbClr val="1E293B"/>
                </a:solidFill>
                <a:latin typeface="Calibri"/>
              </a:rPr>
              <a:t>Cobro de **$1,200.00 MXN mensuales** por máquina por el software en la nube del quiosco, telemetría y panel admin.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Ventaja: </a:t>
            </a:r>
            <a:r>
              <a:rPr sz="919">
                <a:solidFill>
                  <a:srgbClr val="1E293B"/>
                </a:solidFill>
                <a:latin typeface="Calibri"/>
              </a:rPr>
              <a:t>Escalamiento acelerado sin requerir capital de trabajo propio para fabricar.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143000"/>
            <a:ext cx="370332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143000"/>
            <a:ext cx="37033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1252728"/>
            <a:ext cx="3447287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Calibri"/>
              </a:rPr>
              <a:t>VÍA 3: ARRENDAMIENTO OPERATIVO A NAVES INDUSTRIALES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Esquema: </a:t>
            </a:r>
            <a:r>
              <a:rPr sz="919">
                <a:solidFill>
                  <a:srgbClr val="1E293B"/>
                </a:solidFill>
                <a:latin typeface="Calibri"/>
              </a:rPr>
              <a:t>Renta mensual de la máquina a parques industriales y maquiladoras.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Renta Corporativa Mensual: </a:t>
            </a:r>
            <a:r>
              <a:rPr sz="919">
                <a:solidFill>
                  <a:srgbClr val="1E293B"/>
                </a:solidFill>
                <a:latin typeface="Calibri"/>
              </a:rPr>
              <a:t>**$4,500.00 MXN al mes** por máquina (la empresa resuelve el comedor de su 3er turno sin contratar cocineros).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Recuperación de Inversión: </a:t>
            </a:r>
            <a:r>
              <a:rPr sz="919">
                <a:solidFill>
                  <a:srgbClr val="1E293B"/>
                </a:solidFill>
                <a:latin typeface="Calibri"/>
              </a:rPr>
              <a:t>La máquina se amortiza en 10 meses y el contrato genera flujo de caja pasivo a 24 o 36 meses.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Ventaja: </a:t>
            </a:r>
            <a:r>
              <a:rPr sz="919">
                <a:solidFill>
                  <a:srgbClr val="1E293B"/>
                </a:solidFill>
                <a:latin typeface="Calibri"/>
              </a:rPr>
              <a:t>Contratos corporativos estables y flujo de efectivo predecible a largo plazo.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28016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BARRERAS DE ENTRADA Y VENTAJA COMPETITIVA (DEFENSIBILIDAD / MOAT)</a:t>
            </a:r>
          </a:p>
          <a:p>
            <a:r>
              <a:rPr sz="1050">
                <a:solidFill>
                  <a:srgbClr val="CBD5E1"/>
                </a:solidFill>
                <a:latin typeface="Calibri"/>
              </a:rPr>
              <a:t>Los factores tecnológicos, de costo y de red que protegen a ExpendeX frente a imitadores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146304"/>
            <a:ext cx="3337560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BARRERAS DE ENTRADA
Ventajas Competitivas Defendibles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64748B"/>
                </a:solidFill>
                <a:latin typeface="Calibri"/>
              </a:rPr>
              <a:t>UANL - FIME | Proyecto Final: Máquina Automatizada Híbrida ExpendeX (Contexto, Mercado, Competencia y Rendimiento) | Ing. Mario Alberto González Vázquez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18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557784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5577840" cy="731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252728"/>
            <a:ext cx="5321807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B365D"/>
                </a:solidFill>
                <a:latin typeface="Calibri"/>
              </a:rPr>
              <a:t>1. PROPIEDAD INTELECTUAL MECÁNICA (1+4+1)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Diseño de Bahías Asimétricas Patentable: </a:t>
            </a:r>
            <a:r>
              <a:rPr sz="900">
                <a:solidFill>
                  <a:srgbClr val="1E293B"/>
                </a:solidFill>
                <a:latin typeface="Calibri"/>
              </a:rPr>
              <a:t>El dimensionamiento de bandejas con bahías laterales de 190 mm y espiral gigante Ø 144 mm resuelve el atascamiento de recipientes pesados que ninguna máquina estándar puede dispensar.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Ergonomía Antiatasco: </a:t>
            </a:r>
            <a:r>
              <a:rPr sz="900">
                <a:solidFill>
                  <a:srgbClr val="1E293B"/>
                </a:solidFill>
                <a:latin typeface="Calibri"/>
              </a:rPr>
              <a:t>Canalización de caída con ángulo calibrado para evitar rotura de envases.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43000"/>
            <a:ext cx="566928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143000"/>
            <a:ext cx="5669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1252728"/>
            <a:ext cx="541324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Calibri"/>
              </a:rPr>
              <a:t>2. ELECTRÓNICA DE POTENCIA PROPIETARIA DE BAJO COSTO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Matriz MOSFET 6×6 en EasyEDA PCB: </a:t>
            </a:r>
            <a:r>
              <a:rPr sz="900">
                <a:solidFill>
                  <a:srgbClr val="1E293B"/>
                </a:solidFill>
                <a:latin typeface="Calibri"/>
              </a:rPr>
              <a:t>Control total de 36 motores con solo 12 GPIOs, optoaislamiento de 5 kV y supresores Schottky.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Costo Inalcanzable para Importadores: </a:t>
            </a:r>
            <a:r>
              <a:rPr sz="900">
                <a:solidFill>
                  <a:srgbClr val="1E293B"/>
                </a:solidFill>
                <a:latin typeface="Calibri"/>
              </a:rPr>
              <a:t>Nuestra tarjeta electrónica cuesta menos de $2,000 MXN en fabricación local; un PLC comercial importado cuesta más de $18,000 MXN.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5577840" cy="2514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577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" y="3904488"/>
            <a:ext cx="5321807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F59E0B"/>
                </a:solidFill>
                <a:latin typeface="Calibri"/>
              </a:rPr>
              <a:t>3. INTEGRACIÓN VERTICAL DE SOFTWARE Y ALGORITMOS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Suite Web y Firmware Propio: </a:t>
            </a:r>
            <a:r>
              <a:rPr sz="900">
                <a:solidFill>
                  <a:srgbClr val="1E293B"/>
                </a:solidFill>
                <a:latin typeface="Calibri"/>
              </a:rPr>
              <a:t>Cero dependencias de proveedores extranjeros ni pago de licencias mensuales de software vending.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Reloj Sanitario RTC con Bloqueo de 14 Horas: </a:t>
            </a:r>
            <a:r>
              <a:rPr sz="900">
                <a:solidFill>
                  <a:srgbClr val="1E293B"/>
                </a:solidFill>
                <a:latin typeface="Calibri"/>
              </a:rPr>
              <a:t>Garantía de frescura respaldada en código firmware inviolable.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Gestión de Inventario FIFO Automática: </a:t>
            </a:r>
            <a:r>
              <a:rPr sz="900">
                <a:solidFill>
                  <a:srgbClr val="1E293B"/>
                </a:solidFill>
                <a:latin typeface="Calibri"/>
              </a:rPr>
              <a:t>Algoritmo de balanceo que maximiza las ventas del día.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794760"/>
            <a:ext cx="5669280" cy="2514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3794760"/>
            <a:ext cx="56692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4496" y="3904488"/>
            <a:ext cx="5413248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Calibri"/>
              </a:rPr>
              <a:t>4. EFECTO DE RED Y ALIANZA TERRITORIAL EXCLUSIVA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Convenio Directo con Fondas de Barrio: </a:t>
            </a:r>
            <a:r>
              <a:rPr sz="900">
                <a:solidFill>
                  <a:srgbClr val="1E293B"/>
                </a:solidFill>
                <a:latin typeface="Calibri"/>
              </a:rPr>
              <a:t>Alianzas de confianza con las mejores loncherías locales que conocen los gustos gastronómicos norteños de la zona.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Permisos y Emplazamiento Institucional: </a:t>
            </a:r>
            <a:r>
              <a:rPr sz="900">
                <a:solidFill>
                  <a:srgbClr val="1E293B"/>
                </a:solidFill>
                <a:latin typeface="Calibri"/>
              </a:rPr>
              <a:t>Relación universitaria directa para ubicación en puntos de paso clave.</a:t>
            </a:r>
          </a:p>
          <a:p>
            <a:pPr>
              <a:spcAft>
                <a:spcPts val="250"/>
              </a:spcAft>
            </a:pPr>
            <a:r>
              <a:rPr sz="900" b="1">
                <a:solidFill>
                  <a:srgbClr val="1E293B"/>
                </a:solidFill>
                <a:latin typeface="Calibri"/>
              </a:rPr>
              <a:t>▪ Alta Barrera para Foráneos: </a:t>
            </a:r>
            <a:r>
              <a:rPr sz="900">
                <a:solidFill>
                  <a:srgbClr val="1E293B"/>
                </a:solidFill>
                <a:latin typeface="Calibri"/>
              </a:rPr>
              <a:t>Una empresa externa no puede replicar la red de fondas locales con facilidad.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28016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IMPACTO SOCIAL, ACADÉMICO Y ALIANZA COMUNITARIA</a:t>
            </a:r>
          </a:p>
          <a:p>
            <a:r>
              <a:rPr sz="1050">
                <a:solidFill>
                  <a:srgbClr val="CBD5E1"/>
                </a:solidFill>
                <a:latin typeface="Calibri"/>
              </a:rPr>
              <a:t>El valor compartido entre la universidad, los estudiantes, los microempresarios y la sociedad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146304"/>
            <a:ext cx="3337560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IMPACTO INTEGRAL
Universidad, Sociedad y Negocio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64748B"/>
                </a:solidFill>
                <a:latin typeface="Calibri"/>
              </a:rPr>
              <a:t>UANL - FIME | Proyecto Final: Máquina Automatizada Híbrida ExpendeX (Contexto, Mercado, Competencia y Rendimiento) | Ing. Mario Alberto González Vázquez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19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370332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3703320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252728"/>
            <a:ext cx="3447287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2B6CB0"/>
                </a:solidFill>
                <a:latin typeface="Calibri"/>
              </a:rPr>
              <a:t>1. IMPACTO EN SALUD Y RENDIMIENTO ACADÉMICO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Nutrición Real y Accesible: </a:t>
            </a:r>
            <a:r>
              <a:rPr sz="919">
                <a:solidFill>
                  <a:srgbClr val="1E293B"/>
                </a:solidFill>
                <a:latin typeface="Calibri"/>
              </a:rPr>
              <a:t>Sustitución de ultraprocesados por comida tradicional balanceada, reduciendo la fatiga y mejorando el aprovechamiento escolar.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Ahorro Económico para Familias: </a:t>
            </a:r>
            <a:r>
              <a:rPr sz="919">
                <a:solidFill>
                  <a:srgbClr val="1E293B"/>
                </a:solidFill>
                <a:latin typeface="Calibri"/>
              </a:rPr>
              <a:t>El alumno ahorra entre $60 y $90 MXN por comida frente a pedir delivery, sumando un ahorro de más de $1,500 MXN mensuales por estudiante.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Tiempo Valioso para Estudiar: </a:t>
            </a:r>
            <a:r>
              <a:rPr sz="919">
                <a:solidFill>
                  <a:srgbClr val="1E293B"/>
                </a:solidFill>
                <a:latin typeface="Calibri"/>
              </a:rPr>
              <a:t>Recuperar 30 minutos de fila al día equivale a 10 horas mensuales libres para repaso y descanso.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143000"/>
            <a:ext cx="370332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143000"/>
            <a:ext cx="3703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9976" y="1252728"/>
            <a:ext cx="3447287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Calibri"/>
              </a:rPr>
              <a:t>2. EMPODERAMIENTO DE LA ECONOMÍA LOCAL FAMILIAR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Rescate de las Fondas de Barrio: </a:t>
            </a:r>
            <a:r>
              <a:rPr sz="919">
                <a:solidFill>
                  <a:srgbClr val="1E293B"/>
                </a:solidFill>
                <a:latin typeface="Calibri"/>
              </a:rPr>
              <a:t>Canaliza ingresos directos a familias de San Nicolás y Monterrey que han sostenido la gastronomía tradicional por generaciones.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Creación de Empleo Indirecto: </a:t>
            </a:r>
            <a:r>
              <a:rPr sz="919">
                <a:solidFill>
                  <a:srgbClr val="1E293B"/>
                </a:solidFill>
                <a:latin typeface="Calibri"/>
              </a:rPr>
              <a:t>Cada 3 máquinas instaladas demandan un turno completo de preparación en cocinas aliadas, contratando ayudantes de cocina.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Inclusión en la Economía Digital: </a:t>
            </a:r>
            <a:r>
              <a:rPr sz="919">
                <a:solidFill>
                  <a:srgbClr val="1E293B"/>
                </a:solidFill>
                <a:latin typeface="Calibri"/>
              </a:rPr>
              <a:t>Digitalización de cobros sin complicaciones bancarias para los dueños de loncherías.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143000"/>
            <a:ext cx="370332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143000"/>
            <a:ext cx="37033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1252728"/>
            <a:ext cx="3447287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7C3AED"/>
                </a:solidFill>
                <a:latin typeface="Calibri"/>
              </a:rPr>
              <a:t>3. RIGOR ACADÉMICO Y ORGULLO FIME UANL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Apego al Programa Oficial de Evidencias: </a:t>
            </a:r>
            <a:r>
              <a:rPr sz="919">
                <a:solidFill>
                  <a:srgbClr val="1E293B"/>
                </a:solidFill>
                <a:latin typeface="Calibri"/>
              </a:rPr>
              <a:t>Cumple rigurosamente con los 26 apartados del **Programa de Evidencias de Aprendizaje de la U.A. Proyecto de Ingeniería Aplicada (IEAI)**.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Ingeniería Mexicana de Clase Mundial: </a:t>
            </a:r>
            <a:r>
              <a:rPr sz="919">
                <a:solidFill>
                  <a:srgbClr val="1E293B"/>
                </a:solidFill>
                <a:latin typeface="Calibri"/>
              </a:rPr>
              <a:t>Demuestra que en la FIME se diseña mecatrónica de vanguardia lista para industrializarse y competir globalmente.</a:t>
            </a:r>
          </a:p>
          <a:p>
            <a:pPr>
              <a:spcAft>
                <a:spcPts val="250"/>
              </a:spcAft>
            </a:pPr>
            <a:r>
              <a:rPr sz="919" b="1">
                <a:solidFill>
                  <a:srgbClr val="1E293B"/>
                </a:solidFill>
                <a:latin typeface="Calibri"/>
              </a:rPr>
              <a:t>▪ Código Abierto y Trazabilidad: </a:t>
            </a:r>
            <a:r>
              <a:rPr sz="919">
                <a:solidFill>
                  <a:srgbClr val="1E293B"/>
                </a:solidFill>
                <a:latin typeface="Calibri"/>
              </a:rPr>
              <a:t>Toda la documentación y planos respaldados en GitHub para la academia.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128016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73152"/>
            <a:ext cx="7315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CONCLUSIONES EJECUTIVAS, REPOSITORIO DIGITAL Y DEMOSTRACIÓN EN VIVO</a:t>
            </a:r>
          </a:p>
          <a:p>
            <a:r>
              <a:rPr sz="1050">
                <a:solidFill>
                  <a:srgbClr val="CBD5E1"/>
                </a:solidFill>
                <a:latin typeface="Calibri"/>
              </a:rPr>
              <a:t>Síntesis de valor para el Docente Titular, Comité Evaluador y la Comunidad FIME UANL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146304"/>
            <a:ext cx="3337560" cy="621792"/>
          </a:xfrm>
          <a:prstGeom prst="roundRect">
            <a:avLst/>
          </a:prstGeom>
          <a:solidFill>
            <a:srgbClr val="0D15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CIERRE EJECUTIVO
Viabilidad y Escalabilidad 100%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547104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19">
                <a:solidFill>
                  <a:srgbClr val="64748B"/>
                </a:solidFill>
                <a:latin typeface="Calibri"/>
              </a:rPr>
              <a:t>UANL - FIME | Proyecto Final: Máquina Automatizada Híbrida ExpendeX (Contexto, Mercado, Competencia y Rendimiento) | Ing. Mario Alberto González Vázquez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47104"/>
            <a:ext cx="162763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B365D"/>
                </a:solidFill>
                <a:latin typeface="Calibri"/>
              </a:rPr>
              <a:t>Diapositiva 20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5577840" cy="3977639"/>
          </a:xfrm>
          <a:prstGeom prst="roundRect">
            <a:avLst>
              <a:gd name="adj" fmla="val 3000"/>
            </a:avLst>
          </a:prstGeom>
          <a:solidFill>
            <a:srgbClr val="17233D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55778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252728"/>
            <a:ext cx="5321807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Calibri"/>
              </a:rPr>
              <a:t>CONCLUSIÓN DE INGENIERÍA Y DIRECCIÓN (Samuel Tovar Mújica)</a:t>
            </a:r>
          </a:p>
          <a:p>
            <a:pPr>
              <a:spcAft>
                <a:spcPts val="250"/>
              </a:spcAft>
            </a:pPr>
            <a:r>
              <a:rPr sz="960" b="1">
                <a:solidFill>
                  <a:srgbClr val="FFFFFF"/>
                </a:solidFill>
                <a:latin typeface="Calibri"/>
              </a:rPr>
              <a:t>▪ Viabilidad Técnica Comprobada: </a:t>
            </a:r>
            <a:r>
              <a:rPr sz="960">
                <a:solidFill>
                  <a:srgbClr val="E2E8F0"/>
                </a:solidFill>
                <a:latin typeface="Calibri"/>
              </a:rPr>
              <a:t>El diseño CAD 1:1 en Fusion 360, la simulación física-matemática y la validación en Wokwi demuestran que el sistema mecatrónico 1+4+1 es 100% fabricable y funcionalmente perfecto.</a:t>
            </a:r>
          </a:p>
          <a:p>
            <a:pPr>
              <a:spcAft>
                <a:spcPts val="250"/>
              </a:spcAft>
            </a:pPr>
            <a:r>
              <a:rPr sz="960" b="1">
                <a:solidFill>
                  <a:srgbClr val="FFFFFF"/>
                </a:solidFill>
                <a:latin typeface="Calibri"/>
              </a:rPr>
              <a:t>▪ Rentabilidad Extraordinaria: </a:t>
            </a:r>
            <a:r>
              <a:rPr sz="960">
                <a:solidFill>
                  <a:srgbClr val="E2E8F0"/>
                </a:solidFill>
                <a:latin typeface="Calibri"/>
              </a:rPr>
              <a:t>Con un costo de fabricación de apenas $46,463 MXN y un Payback de 24.5 días, el proyecto es una oportunidad de negocio de alto impacto social y comercial.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43000"/>
            <a:ext cx="5669280" cy="3977639"/>
          </a:xfrm>
          <a:prstGeom prst="roundRect">
            <a:avLst>
              <a:gd name="adj" fmla="val 3000"/>
            </a:avLst>
          </a:prstGeom>
          <a:solidFill>
            <a:srgbClr val="17233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143000"/>
            <a:ext cx="56692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1252728"/>
            <a:ext cx="5413248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0B981"/>
                </a:solidFill>
                <a:latin typeface="Calibri"/>
              </a:rPr>
              <a:t>CONCLUSIÓN DE SOFTWARE Y POTENCIA (Emiliano Sánchez Martínez)</a:t>
            </a:r>
          </a:p>
          <a:p>
            <a:pPr>
              <a:spcAft>
                <a:spcPts val="250"/>
              </a:spcAft>
            </a:pPr>
            <a:r>
              <a:rPr sz="960" b="1">
                <a:solidFill>
                  <a:srgbClr val="FFFFFF"/>
                </a:solidFill>
                <a:latin typeface="Calibri"/>
              </a:rPr>
              <a:t>▪ Operación Digital sin Fricción: </a:t>
            </a:r>
            <a:r>
              <a:rPr sz="960">
                <a:solidFill>
                  <a:srgbClr val="E2E8F0"/>
                </a:solidFill>
                <a:latin typeface="Calibri"/>
              </a:rPr>
              <a:t>El quiosco táctil de 10.1" acoplado a la pasarela QR de Mercado Pago y al panel de inventario FIFO garantiza una experiencia de usuario rápida, moderna y transparente.</a:t>
            </a:r>
          </a:p>
          <a:p>
            <a:pPr>
              <a:spcAft>
                <a:spcPts val="250"/>
              </a:spcAft>
            </a:pPr>
            <a:r>
              <a:rPr sz="960" b="1">
                <a:solidFill>
                  <a:srgbClr val="FFFFFF"/>
                </a:solidFill>
                <a:latin typeface="Calibri"/>
              </a:rPr>
              <a:t>▪ Electrónica Robusta y Segura: </a:t>
            </a:r>
            <a:r>
              <a:rPr sz="960">
                <a:solidFill>
                  <a:srgbClr val="E2E8F0"/>
                </a:solidFill>
                <a:latin typeface="Calibri"/>
              </a:rPr>
              <a:t>La matriz MOSFET 6×6 en EasyEDA con optoaislamiento de 5 kV y control de refrigeración R134a asegura una larga vida útil y cero atascos.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230368"/>
            <a:ext cx="11430000" cy="1005840"/>
          </a:xfrm>
          <a:prstGeom prst="roundRect">
            <a:avLst>
              <a:gd name="adj" fmla="val 8000"/>
            </a:avLst>
          </a:prstGeom>
          <a:solidFill>
            <a:srgbClr val="17233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59E0B"/>
                </a:solidFill>
                <a:latin typeface="Calibri"/>
              </a:rPr>
              <a:t>REPOSITORIO OFICIAL GITHUB (ACCESO ABIERTO VÍA ENLACE): https://github.com/Anubys6/ExpendeX-Smart-Vending-FIME
</a:t>
            </a:r>
          </a:p>
          <a:p>
            <a:pPr algn="ctr"/>
            <a:r>
              <a:rPr sz="880">
                <a:solidFill>
                  <a:srgbClr val="FFFFFF"/>
                </a:solidFill>
                <a:latin typeface="Calibri"/>
              </a:rPr>
              <a:t>Desarrollado en estricto apego al Programa de Evidencias de Aprendizaje de la U.A. Proyecto de Ingeniería Aplicada (IEAI - FIME)
Demostración en Vivo Disponible: Quiosco Web (localhost:3000), Panel Admin (/admin) y Simulación Wokwi (36 LEDs)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